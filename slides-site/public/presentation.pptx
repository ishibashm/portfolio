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64" r:id="rId10"/>
    <p:sldId id="257" r:id="rId3"/>
    <p:sldId id="270" r:id="rId16"/>
    <p:sldId id="265" r:id="rId11"/>
    <p:sldId id="258" r:id="rId4"/>
    <p:sldId id="280" r:id="rId31"/>
    <p:sldId id="277" r:id="rId28"/>
    <p:sldId id="262" r:id="rId8"/>
    <p:sldId id="276" r:id="rId27"/>
    <p:sldId id="267" r:id="rId13"/>
    <p:sldId id="278" r:id="rId29"/>
    <p:sldId id="275" r:id="rId21"/>
    <p:sldId id="279"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6" Type="http://schemas.openxmlformats.org/officeDocument/2006/relationships/slide" Target="slides/slide15.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石橋です。今日は堅い話ではなく、最近のあれこれをゆるっと話そうと思います。</a:t>
            </a:r>
          </a:p>
          <a:p>
            <a:r>
              <a:rPr lang="ja-JP"/>
              <a:t>テーマは2つで、出身地の敦賀の話と、最近使っているGrok Botの話です。</a:t>
            </a:r>
          </a:p>
          <a:p>
            <a:r>
              <a:rPr lang="ja-JP"/>
              <a:t>右の図は九星気学の方位盤です。ちょっと変わった趣味なんですが、個人開発のネタにもなっています。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まずはざっくりプロフィールです。仕事では、SQLサーバーを使ったデータ業務をやっています。</a:t>
            </a:r>
          </a:p>
          <a:p>
            <a:r>
              <a:rPr lang="ja-JP"/>
              <a:t>出身は福井県の敦賀市です。どんなところか、このあと少しだけ話します。</a:t>
            </a:r>
          </a:p>
          <a:p>
            <a:r>
              <a:rPr lang="ja-JP"/>
              <a:t>好きなことは、九星気学や方位、AIエージェント、あとはガジェットやインテリアです。</a:t>
            </a:r>
          </a:p>
          <a:p>
            <a:r>
              <a:rPr lang="ja-JP"/>
              <a:t>Web開発を独学して、AIに聞きながら学び、最近はMCPまで触っています。それがCloud Paletteというサイトにつながっています。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敦賀について、ちょっとした豆知識をいくつか。</a:t>
            </a:r>
          </a:p>
          <a:p>
            <a:r>
              <a:rPr lang="ja-JP"/>
              <a:t>まず人道の港です。1920年から21年にかけてポーランドの孤児が、1940年には杉原千畝の命のビザを持ったユダヤ難民が敦賀港に上陸しました。</a:t>
            </a:r>
          </a:p>
          <a:p>
            <a:r>
              <a:rPr lang="ja-JP"/>
              <a:t>鉄道では、1912年から欧亜国際連絡列車の日本側の玄関口でした。いまは北陸新幹線の終着駅です。</a:t>
            </a:r>
          </a:p>
          <a:p>
            <a:r>
              <a:rPr lang="ja-JP"/>
              <a:t>名産では、おぼろ昆布やとろろ昆布などの加工昆布が全国の8割以上を占めます。おぼろ昆布の製造技術は2025年に国の登録無形民俗文化財になりました。へしこや屋台の敦賀ラーメンも名物です。</a:t>
            </a:r>
          </a:p>
          <a:p>
            <a:r>
              <a:rPr lang="ja-JP"/>
              <a:t>出典：https://ja.wikipedia.org/wiki/敦賀市</a:t>
            </a:r>
          </a:p>
          <a:p>
            <a:r>
              <a:rPr lang="ja-JP"/>
              <a:t>写真：https://commons.wikimedia.org/wiki/File:Tsuruga_Red_Brick_Warehouce_ac_(1).jpg（Asturio Cantabrio, CC BY-SA 4.0）／https://commons.wikimedia.org/wiki/File:Tsuruga_Station_Hokuriku_Shinkansen_Platform_01.jpg（Suikotei, CC BY 4.0）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開発スタイルについてです。キーワードは「学ぶ」から「任せる」へ、です。</a:t>
            </a:r>
          </a:p>
          <a:p>
            <a:r>
              <a:rPr lang="ja-JP"/>
              <a:t>2026年8月ごろから、実装はAIエージェントに任せるようになりました。いまはGrok Bot、Claude Code、Codexが実装担当です。</a:t>
            </a:r>
          </a:p>
          <a:p>
            <a:r>
              <a:rPr lang="ja-JP"/>
              <a:t>自分の役割はレビューと方向決めです。何を作るか、結果がOKかを判断します。</a:t>
            </a:r>
          </a:p>
          <a:p>
            <a:r>
              <a:rPr lang="ja-JP"/>
              <a:t>指示はとても短くて、「進めて」や「はい」くらいです。AIが番号つきの選択肢を出してくれるので、そこから選ぶだけで進みます。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今日話すことは、大きく2つです。</a:t>
            </a:r>
          </a:p>
          <a:p>
            <a:r>
              <a:rPr lang="ja-JP"/>
              <a:t>1つ目は出身地の福井県敦賀市。気比の松原、原発、港や鉄道、名産の話を少しします。</a:t>
            </a:r>
          </a:p>
          <a:p>
            <a:r>
              <a:rPr lang="ja-JP"/>
              <a:t>2つ目はGrok Botと、AIに任せる開発の話です。Grok Botの使い方、開発スタイル、Cloud Palette、second brainを紹介します。</a:t>
            </a:r>
          </a:p>
          <a:p>
            <a:r>
              <a:rPr lang="ja-JP"/>
              <a:t>最初にざっくりプロフィール、最後にこれからやりたいことも話します。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敦賀と原発について、事実だけ簡単に紹介します。</a:t>
            </a:r>
          </a:p>
          <a:p>
            <a:r>
              <a:rPr lang="ja-JP"/>
              <a:t>1970年3月に、日本原子力発電の敦賀発電所1号機が運転を始めました。沸騰水型軽水炉で、大阪万博の会場に送電したそうです。</a:t>
            </a:r>
          </a:p>
          <a:p>
            <a:r>
              <a:rPr lang="ja-JP"/>
              <a:t>市内には高速増殖炉の「もんじゅ」があり、1994年に初臨界を迎えています。旧「ふげん」などの施設もあります。</a:t>
            </a:r>
          </a:p>
          <a:p>
            <a:r>
              <a:rPr lang="ja-JP"/>
              <a:t>出典：https://ja.wikipedia.org/wiki/敦賀市</a:t>
            </a:r>
          </a:p>
          <a:p>
            <a:r>
              <a:rPr lang="ja-JP"/>
              <a:t>写真：https://commons.wikimedia.org/wiki/File:Tateishi_cape_and_Tsuruga_Nuclear_Power_Plant.jpg（Alpsdake, CC BY-SA 4.0）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最近つくったのが、second brain、第二の脳です。</a:t>
            </a:r>
          </a:p>
          <a:p>
            <a:r>
              <a:rPr lang="ja-JP"/>
              <a:t>Grok Bot、Claude、Gemini、AI Studio、ChatGPTなど、AIとの会話が約800件たまっていたので、Obsidianに集約しました。</a:t>
            </a:r>
          </a:p>
          <a:p>
            <a:r>
              <a:rPr lang="ja-JP"/>
              <a:t>トピックを自動で分類して、AIが要約し、検索用のMCPでAIからも過去の会話を探せるようにしています。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ここから1つ目のテーマ、出身地の福井県敦賀市です。</a:t>
            </a:r>
          </a:p>
          <a:p>
            <a:r>
              <a:rPr lang="ja-JP"/>
              <a:t>敦賀市は日本海の敦賀湾に面していて、福井県の嶺南地方では人口が一番多い市です。人口は約6万人、2026年9月1日の推計で59,913人です。</a:t>
            </a:r>
          </a:p>
          <a:p>
            <a:r>
              <a:rPr lang="ja-JP"/>
              <a:t>写真は気比の松原です。日本三大松原の一つで、国の名勝にもなっています。</a:t>
            </a:r>
          </a:p>
          <a:p>
            <a:r>
              <a:rPr lang="ja-JP"/>
              <a:t>2024年3月16日には北陸新幹線が金沢から敦賀まで延伸開業し、敦賀駅が終着駅になりました。</a:t>
            </a:r>
          </a:p>
          <a:p>
            <a:r>
              <a:rPr lang="ja-JP"/>
              <a:t>出典：https://ja.wikipedia.org/wiki/敦賀市 ／ 写真：敦賀うまいもん http://tsuruga-umaimon.com/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というわけで、敦賀の話とGrok Botの話でした。</a:t>
            </a:r>
          </a:p>
          <a:p>
            <a:r>
              <a:rPr lang="ja-JP"/>
              <a:t>敦賀のことやAIのこと、少しでも面白いと思ってもらえたらうれしいです。</a:t>
            </a:r>
          </a:p>
          <a:p>
            <a:r>
              <a:rPr lang="ja-JP"/>
              <a:t>聞いてくださって、ありがとうございました。</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個人開発しているCloud Paletteです。URLは https://cloud-palette.com/ です。</a:t>
            </a:r>
          </a:p>
          <a:p>
            <a:r>
              <a:rPr lang="ja-JP"/>
              <a:t>キャッチコピーは「引越しの方位とタイミングを決める」。九星気学や方位、暦をWebで扱えるサイトです。</a:t>
            </a:r>
          </a:p>
          <a:p>
            <a:r>
              <a:rPr lang="ja-JP"/>
              <a:t>主な機能は、方位で街を探す、引越し先を試算する、本命星と吉方位、風水の八宅です。</a:t>
            </a:r>
          </a:p>
          <a:p>
            <a:r>
              <a:rPr lang="ja-JP"/>
              <a:t>最近、AIから使えるMCPサーバーとニュースのページを追加しました。</a:t>
            </a:r>
          </a:p>
          <a:p>
            <a:r>
              <a:rPr lang="ja-JP"/>
              <a:t>技術はNext.js、React、TypeScript、Supabase、Vercel、Google Cloudです。</a:t>
            </a:r>
          </a:p>
          <a:p>
            <a:r>
              <a:rPr lang="ja-JP"/>
              <a:t>画面：自作サイト https://cloud-palette.com/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Grok Botの使い方です。用途ごとにボットを分けて使っています。</a:t>
            </a:r>
          </a:p>
          <a:p>
            <a:r>
              <a:rPr lang="ja-JP"/>
              <a:t>SEO、X投稿、YouTube、検索、求人探し、物件情報、Second Brain、スライド作成などです。</a:t>
            </a:r>
          </a:p>
          <a:p>
            <a:r>
              <a:rPr lang="ja-JP"/>
              <a:t>実は今日のこのスライドも、Grok Botに作ってもらいました。構成、写真集め、イラスト、デザインまでお願いしています。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最後に、これからやりたいことです。4つあります。</a:t>
            </a:r>
          </a:p>
          <a:p>
            <a:r>
              <a:rPr lang="ja-JP"/>
              <a:t>1つ目は方位判定の完全自動化です。座標から方位を出して、吉凶まで、手作業なしで判定できるようにしたいです。</a:t>
            </a:r>
          </a:p>
          <a:p>
            <a:r>
              <a:rPr lang="ja-JP"/>
              <a:t>2つ目は低予算でのサイト運営です。月1,000円程度で続けられる形を目指します。</a:t>
            </a:r>
          </a:p>
          <a:p>
            <a:r>
              <a:rPr lang="ja-JP"/>
              <a:t>3つ目はCloud Paletteを育てることで、SEOとニュースを充実させていきます。</a:t>
            </a:r>
          </a:p>
          <a:p>
            <a:r>
              <a:rPr lang="ja-JP"/>
              <a:t>4つ目はXでの発信です。これからもコツコツ続けていきます。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最後に、資料で使わせてもらった写真と画面の出典です。</a:t>
            </a:r>
          </a:p>
          <a:p>
            <a:r>
              <a:rPr lang="ja-JP"/>
              <a:t>Wikimedia Commonsの写真は、それぞれのライセンス条件に従って使っています。気比の松原の写真は敦賀うまいもんさんのものです。</a:t>
            </a:r>
          </a:p>
          <a:p>
            <a:r>
              <a:rPr lang="ja-JP"/>
              <a:t>Cloud Paletteの画面は自分のサイトのもので、イラストはAIで生成しました。</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t>ここから2つ目のテーマ、Grok Botの話です。</a:t>
            </a:r>
          </a:p>
          <a:p>
            <a:r>
              <a:rPr lang="ja-JP"/>
              <a:t>Grok Botは、チャットで頼むと、調べ物や資料づくり、定期チェックなどを代わりにやってくれるAIアシスタントです。</a:t>
            </a:r>
          </a:p>
          <a:p>
            <a:r>
              <a:rPr lang="ja-JP"/>
              <a:t>自分専用のコンピューターとブラウザを持っていて、GmailやGitHubなどともつながります。</a:t>
            </a:r>
          </a:p>
          <a:p>
            <a:r>
              <a:rPr lang="ja-JP"/>
              <a:t>自分は2026年9月から使い始めました。</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G1Img" Type="http://schemas.openxmlformats.org/officeDocument/2006/relationships/image" Target="../media/g1_illust_database.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G2P2" Type="http://schemas.openxmlformats.org/officeDocument/2006/relationships/image" Target="../media/g2_tsuruga_red_brick_warehouse.jpeg"/><Relationship Id="rIdG2P3" Type="http://schemas.openxmlformats.org/officeDocument/2006/relationships/image" Target="../media/g2_tsuruga_station_shinkansen.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G4Img1" Type="http://schemas.openxmlformats.org/officeDocument/2006/relationships/image" Target="../media/g4_illust_ai_dev.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Ag0" Type="http://schemas.openxmlformats.org/officeDocument/2006/relationships/image" Target="../media/g1_kehi_matsubara_user.jpeg"/><Relationship Id="rIdAg1" Type="http://schemas.openxmlformats.org/officeDocument/2006/relationships/image" Target="../media/g1_illust_grokbot.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G2NP" Type="http://schemas.openxmlformats.org/officeDocument/2006/relationships/image" Target="../media/g2_tsuruga_nuclear_power_plant.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G4Img2" Type="http://schemas.openxmlformats.org/officeDocument/2006/relationships/image" Target="../media/g4_illust_second_brain.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G2Hero2" Type="http://schemas.openxmlformats.org/officeDocument/2006/relationships/image" Target="../media/g2_kehi_matsubara_user.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CPLink" Type="http://schemas.openxmlformats.org/officeDocument/2006/relationships/hyperlink" Target="https://cloud-palette.com/" TargetMode="External"/><Relationship Id="rIdCPTop" Type="http://schemas.openxmlformats.org/officeDocument/2006/relationships/image" Target="../media/g4_cp_top.png"/><Relationship Id="rIdCPF1" Type="http://schemas.openxmlformats.org/officeDocument/2006/relationships/image" Target="../media/g4_cp_feature1.png"/><Relationship Id="rIdCPF2" Type="http://schemas.openxmlformats.org/officeDocument/2006/relationships/image" Target="../media/g4_cp_featur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G3Slides" Type="http://schemas.openxmlformats.org/officeDocument/2006/relationships/image" Target="../media/g3_illust_bot_slides.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G4Img3" Type="http://schemas.openxmlformats.org/officeDocument/2006/relationships/image" Target="../media/g4_illust_roadmap.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G3Bot" Type="http://schemas.openxmlformats.org/officeDocument/2006/relationships/image" Target="../media/g3_illust_grokbot.jpeg"/></Relationships>
</file>

<file path=ppt/slides/slide1.xml><?xml version="1.0" encoding="utf-8"?>
<p:sld xmlns:a="http://schemas.openxmlformats.org/drawingml/2006/main" xmlns:r="http://schemas.openxmlformats.org/officeDocument/2006/relationships" xmlns:p="http://schemas.openxmlformats.org/presentationml/2006/main">
  <p:cSld name="Cover">
    <p:bg>
      <p:bgPr>
        <a:solidFill>
          <a:srgbClr val="FFFFFF"/>
        </a:solidFill>
        <a:effectLst/>
      </p:bgPr>
    </p:bg>
    <p:spTree>
      <p:nvGrpSpPr>
        <p:cNvPr id="1" name=""/>
        <p:cNvGrpSpPr/>
        <p:nvPr/>
      </p:nvGrpSpPr>
      <p:grpSpPr>
        <a:xfrm>
          <a:off x="0" y="0"/>
          <a:ext cx="0" cy="0"/>
          <a:chOff x="0" y="0"/>
          <a:chExt cx="0" cy="0"/>
        </a:xfrm>
      </p:grpSpPr>
      <p:sp>
        <p:nvSpPr>
          <p:cNvPr id="3" name="Navy panel"/>
          <p:cNvSpPr/>
          <p:nvPr/>
        </p:nvSpPr>
        <p:spPr>
          <a:xfrm>
            <a:off x="7863840" y="0"/>
            <a:ext cx="4327855" cy="6858000"/>
          </a:xfrm>
          <a:prstGeom prst="rect">
            <a:avLst/>
          </a:prstGeom>
          <a:solidFill>
            <a:srgbClr val="1F3A5F"/>
          </a:solidFill>
          <a:ln>
            <a:noFill/>
          </a:ln>
        </p:spPr>
      </p:sp>
      <p:sp>
        <p:nvSpPr>
          <p:cNvPr id="4" name="Orange edge"/>
          <p:cNvSpPr/>
          <p:nvPr/>
        </p:nvSpPr>
        <p:spPr>
          <a:xfrm>
            <a:off x="7790688" y="0"/>
            <a:ext cx="73152" cy="6858000"/>
          </a:xfrm>
          <a:prstGeom prst="rect">
            <a:avLst/>
          </a:prstGeom>
          <a:solidFill>
            <a:srgbClr val="F28C28"/>
          </a:solidFill>
          <a:ln>
            <a:noFill/>
          </a:ln>
        </p:spPr>
      </p:sp>
      <p:sp>
        <p:nvSpPr>
          <p:cNvPr id="5" name="Top line"/>
          <p:cNvSpPr/>
          <p:nvPr/>
        </p:nvSpPr>
        <p:spPr>
          <a:xfrm>
            <a:off x="0" y="0"/>
            <a:ext cx="7790688" cy="109728"/>
          </a:xfrm>
          <a:prstGeom prst="rect">
            <a:avLst/>
          </a:prstGeom>
          <a:solidFill>
            <a:srgbClr val="1F3A5F"/>
          </a:solidFill>
          <a:ln>
            <a:noFill/>
          </a:ln>
        </p:spPr>
      </p:sp>
      <p:sp>
        <p:nvSpPr>
          <p:cNvPr id="6" name="Kicker bar"/>
          <p:cNvSpPr/>
          <p:nvPr/>
        </p:nvSpPr>
        <p:spPr>
          <a:xfrm>
            <a:off x="731520" y="1600200"/>
            <a:ext cx="822960" cy="73152"/>
          </a:xfrm>
          <a:prstGeom prst="rect">
            <a:avLst/>
          </a:prstGeom>
          <a:solidFill>
            <a:srgbClr val="F28C28"/>
          </a:solidFill>
          <a:ln>
            <a:noFill/>
          </a:ln>
        </p:spPr>
      </p:sp>
      <p:sp>
        <p:nvSpPr>
          <p:cNvPr id="7" name="Kicker"/>
          <p:cNvSpPr/>
          <p:nvPr/>
        </p:nvSpPr>
        <p:spPr>
          <a:xfrm>
            <a:off x="731520" y="1097280"/>
            <a:ext cx="5486400" cy="411480"/>
          </a:xfrm>
          <a:prstGeom prst="rect">
            <a:avLst/>
          </a:prstGeom>
          <a:noFill/>
          <a:ln>
            <a:noFill/>
          </a:ln>
        </p:spPr>
        <p:txBody>
          <a:bodyPr wrap="square" lIns="0" tIns="0" rIns="0" bIns="0" anchor="b" rtlCol="0">
            <a:noAutofit/>
          </a:bodyPr>
          <a:lstStyle/>
          <a:p>
            <a:pPr algn="l"/>
            <a:r>
              <a:rPr lang="ja-JP" altLang="en-US" sz="1400" b="1" dirty="0">
                <a:solidFill>
                  <a:srgbClr val="F28C28"/>
                </a:solidFill>
                <a:latin typeface="BIZ UDPGothic"/>
                <a:ea typeface="BIZ UDPGothic"/>
                <a:cs typeface="BIZ UDPGothic"/>
              </a:rPr>
              <a:t>ちょっと雑談</a:t>
            </a:r>
            <a:endParaRPr lang="ja-JP" sz="1400"/>
          </a:p>
        </p:txBody>
      </p:sp>
      <p:sp>
        <p:nvSpPr>
          <p:cNvPr id="8" name="Cover title"/>
          <p:cNvSpPr/>
          <p:nvPr/>
        </p:nvSpPr>
        <p:spPr>
          <a:xfrm>
            <a:off x="731520" y="1920240"/>
            <a:ext cx="6766560" cy="1188720"/>
          </a:xfrm>
          <a:prstGeom prst="rect">
            <a:avLst/>
          </a:prstGeom>
          <a:noFill/>
          <a:ln>
            <a:noFill/>
          </a:ln>
        </p:spPr>
        <p:txBody>
          <a:bodyPr wrap="square" lIns="0" tIns="0" rIns="0" bIns="0" anchor="t" rtlCol="0">
            <a:noAutofit/>
          </a:bodyPr>
          <a:lstStyle/>
          <a:p>
            <a:pPr algn="l">
              <a:lnSpc>
                <a:spcPct val="110000"/>
              </a:lnSpc>
            </a:pPr>
            <a:r>
              <a:rPr lang="ja-JP" altLang="en-US" sz="5600" b="1" dirty="0">
                <a:solidFill>
                  <a:srgbClr val="1F3A5F"/>
                </a:solidFill>
                <a:latin typeface="BIZ UDPGothic"/>
                <a:ea typeface="BIZ UDPGothic"/>
                <a:cs typeface="BIZ UDPGothic"/>
              </a:rPr>
              <a:t>最近のあれこれ</a:t>
            </a:r>
            <a:endParaRPr lang="ja-JP" sz="5600"/>
          </a:p>
        </p:txBody>
      </p:sp>
      <p:sp>
        <p:nvSpPr>
          <p:cNvPr id="9" name="Subtitle"/>
          <p:cNvSpPr/>
          <p:nvPr/>
        </p:nvSpPr>
        <p:spPr>
          <a:xfrm>
            <a:off x="731520" y="3291840"/>
            <a:ext cx="6766560" cy="548640"/>
          </a:xfrm>
          <a:prstGeom prst="rect">
            <a:avLst/>
          </a:prstGeom>
          <a:noFill/>
          <a:ln>
            <a:noFill/>
          </a:ln>
        </p:spPr>
        <p:txBody>
          <a:bodyPr wrap="square" lIns="0" tIns="0" rIns="0" bIns="0" anchor="t" rtlCol="0">
            <a:noAutofit/>
          </a:bodyPr>
          <a:lstStyle/>
          <a:p>
            <a:pPr algn="l"/>
            <a:r>
              <a:rPr lang="ja-JP" altLang="en-US" sz="2400" b="1" dirty="0">
                <a:solidFill>
                  <a:srgbClr val="666666"/>
                </a:solidFill>
                <a:latin typeface="BIZ UDPGothic"/>
                <a:ea typeface="BIZ UDPGothic"/>
                <a:cs typeface="BIZ UDPGothic"/>
              </a:rPr>
              <a:t>敦賀の話と、Grok Botの話</a:t>
            </a:r>
            <a:endParaRPr lang="ja-JP" sz="2400"/>
          </a:p>
        </p:txBody>
      </p:sp>
      <p:sp>
        <p:nvSpPr>
          <p:cNvPr id="10" name="Subtitle note"/>
          <p:cNvSpPr/>
          <p:nvPr/>
        </p:nvSpPr>
        <p:spPr>
          <a:xfrm>
            <a:off x="731520" y="3931920"/>
            <a:ext cx="6766560" cy="411480"/>
          </a:xfrm>
          <a:prstGeom prst="rect">
            <a:avLst/>
          </a:prstGeom>
          <a:noFill/>
          <a:ln>
            <a:noFill/>
          </a:ln>
        </p:spPr>
        <p:txBody>
          <a:bodyPr wrap="square" lIns="0" tIns="0" rIns="0" bIns="0" anchor="t" rtlCol="0">
            <a:noAutofit/>
          </a:bodyPr>
          <a:lstStyle/>
          <a:p>
            <a:pPr algn="l"/>
            <a:r>
              <a:rPr lang="ja-JP" altLang="en-US" sz="1400" b="0" dirty="0">
                <a:solidFill>
                  <a:srgbClr val="666666"/>
                </a:solidFill>
                <a:latin typeface="BIZ UDPGothic"/>
                <a:ea typeface="BIZ UDPGothic"/>
                <a:cs typeface="BIZ UDPGothic"/>
              </a:rPr>
              <a:t>気楽に聞いてもらえればうれしいです</a:t>
            </a:r>
            <a:endParaRPr lang="ja-JP" sz="1400"/>
          </a:p>
        </p:txBody>
      </p:sp>
      <p:sp>
        <p:nvSpPr>
          <p:cNvPr id="11" name="Presenter rule"/>
          <p:cNvSpPr/>
          <p:nvPr/>
        </p:nvSpPr>
        <p:spPr>
          <a:xfrm>
            <a:off x="731520" y="5074920"/>
            <a:ext cx="6217920" cy="9144"/>
          </a:xfrm>
          <a:prstGeom prst="rect">
            <a:avLst/>
          </a:prstGeom>
          <a:solidFill>
            <a:srgbClr val="D0D7E2"/>
          </a:solidFill>
          <a:ln>
            <a:noFill/>
          </a:ln>
        </p:spPr>
      </p:sp>
      <p:sp>
        <p:nvSpPr>
          <p:cNvPr id="12" name="Presenter label"/>
          <p:cNvSpPr/>
          <p:nvPr/>
        </p:nvSpPr>
        <p:spPr>
          <a:xfrm>
            <a:off x="731520" y="5212080"/>
            <a:ext cx="1005840" cy="457200"/>
          </a:xfrm>
          <a:prstGeom prst="rect">
            <a:avLst/>
          </a:prstGeom>
          <a:noFill/>
          <a:ln>
            <a:noFill/>
          </a:ln>
        </p:spPr>
        <p:txBody>
          <a:bodyPr wrap="square" lIns="0" tIns="0" rIns="0" bIns="0" anchor="ctr" rtlCol="0">
            <a:noAutofit/>
          </a:bodyPr>
          <a:lstStyle/>
          <a:p>
            <a:pPr algn="l"/>
            <a:r>
              <a:rPr lang="ja-JP" altLang="en-US" sz="1400" b="1" dirty="0">
                <a:solidFill>
                  <a:srgbClr val="F28C28"/>
                </a:solidFill>
                <a:latin typeface="BIZ UDPGothic"/>
                <a:ea typeface="BIZ UDPGothic"/>
                <a:cs typeface="BIZ UDPGothic"/>
              </a:rPr>
              <a:t>発表者</a:t>
            </a:r>
            <a:endParaRPr lang="ja-JP" sz="1400"/>
          </a:p>
        </p:txBody>
      </p:sp>
      <p:sp>
        <p:nvSpPr>
          <p:cNvPr id="13" name="Presenter"/>
          <p:cNvSpPr/>
          <p:nvPr/>
        </p:nvSpPr>
        <p:spPr>
          <a:xfrm>
            <a:off x="1828800" y="5166360"/>
            <a:ext cx="5120640" cy="548640"/>
          </a:xfrm>
          <a:prstGeom prst="rect">
            <a:avLst/>
          </a:prstGeom>
          <a:noFill/>
          <a:ln>
            <a:noFill/>
          </a:ln>
        </p:spPr>
        <p:txBody>
          <a:bodyPr wrap="square" lIns="0" tIns="0" rIns="0" bIns="0" anchor="ctr" rtlCol="0">
            <a:noAutofit/>
          </a:bodyPr>
          <a:lstStyle/>
          <a:p>
            <a:pPr algn="l"/>
            <a:r>
              <a:rPr lang="ja-JP" altLang="en-US" sz="2800" b="1" dirty="0">
                <a:solidFill>
                  <a:srgbClr val="1F3A5F"/>
                </a:solidFill>
                <a:latin typeface="BIZ UDPGothic"/>
                <a:ea typeface="BIZ UDPGothic"/>
                <a:cs typeface="BIZ UDPGothic"/>
              </a:rPr>
              <a:t>石橋 真</a:t>
            </a:r>
            <a:r>
              <a:rPr lang="ja-JP" altLang="en-US" sz="1400" b="0" dirty="0">
                <a:solidFill>
                  <a:srgbClr val="666666"/>
                </a:solidFill>
                <a:latin typeface="BIZ UDPGothic"/>
                <a:ea typeface="BIZ UDPGothic"/>
                <a:cs typeface="BIZ UDPGothic"/>
              </a:rPr>
              <a:t>（いしばし まこと）</a:t>
            </a:r>
            <a:endParaRPr lang="ja-JP" sz="2800"/>
          </a:p>
        </p:txBody>
      </p:sp>
      <p:sp>
        <p:nvSpPr>
          <p:cNvPr id="14" name="Kyusei 4"/>
          <p:cNvSpPr/>
          <p:nvPr/>
        </p:nvSpPr>
        <p:spPr>
          <a:xfrm>
            <a:off x="8613648" y="1691640"/>
            <a:ext cx="868680" cy="868680"/>
          </a:xfrm>
          <a:prstGeom prst="rect">
            <a:avLst/>
          </a:prstGeom>
          <a:noFill/>
          <a:ln w="19050">
            <a:solidFill>
              <a:srgbClr val="FFFFFF"/>
            </a:solid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4</a:t>
            </a:r>
            <a:endParaRPr lang="ja-JP" sz="2600"/>
          </a:p>
        </p:txBody>
      </p:sp>
      <p:sp>
        <p:nvSpPr>
          <p:cNvPr id="15" name="Kyusei 9"/>
          <p:cNvSpPr/>
          <p:nvPr/>
        </p:nvSpPr>
        <p:spPr>
          <a:xfrm>
            <a:off x="9619488" y="1691640"/>
            <a:ext cx="868680" cy="868680"/>
          </a:xfrm>
          <a:prstGeom prst="rect">
            <a:avLst/>
          </a:prstGeom>
          <a:noFill/>
          <a:ln w="19050">
            <a:solidFill>
              <a:srgbClr val="FFFFFF"/>
            </a:solid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9</a:t>
            </a:r>
            <a:endParaRPr lang="ja-JP" sz="2600"/>
          </a:p>
        </p:txBody>
      </p:sp>
      <p:sp>
        <p:nvSpPr>
          <p:cNvPr id="16" name="Kyusei 2"/>
          <p:cNvSpPr/>
          <p:nvPr/>
        </p:nvSpPr>
        <p:spPr>
          <a:xfrm>
            <a:off x="10625328" y="1691640"/>
            <a:ext cx="868680" cy="868680"/>
          </a:xfrm>
          <a:prstGeom prst="rect">
            <a:avLst/>
          </a:prstGeom>
          <a:noFill/>
          <a:ln w="19050">
            <a:solidFill>
              <a:srgbClr val="FFFFFF"/>
            </a:solid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2</a:t>
            </a:r>
            <a:endParaRPr lang="ja-JP" sz="2600"/>
          </a:p>
        </p:txBody>
      </p:sp>
      <p:sp>
        <p:nvSpPr>
          <p:cNvPr id="17" name="Kyusei 3"/>
          <p:cNvSpPr/>
          <p:nvPr/>
        </p:nvSpPr>
        <p:spPr>
          <a:xfrm>
            <a:off x="8613648" y="2697480"/>
            <a:ext cx="868680" cy="868680"/>
          </a:xfrm>
          <a:prstGeom prst="rect">
            <a:avLst/>
          </a:prstGeom>
          <a:noFill/>
          <a:ln w="19050">
            <a:solidFill>
              <a:srgbClr val="FFFFFF"/>
            </a:solid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3</a:t>
            </a:r>
            <a:endParaRPr lang="ja-JP" sz="2600"/>
          </a:p>
        </p:txBody>
      </p:sp>
      <p:sp>
        <p:nvSpPr>
          <p:cNvPr id="18" name="Kyusei 5"/>
          <p:cNvSpPr/>
          <p:nvPr/>
        </p:nvSpPr>
        <p:spPr>
          <a:xfrm>
            <a:off x="9619488" y="2697480"/>
            <a:ext cx="868680" cy="868680"/>
          </a:xfrm>
          <a:prstGeom prst="rect">
            <a:avLst/>
          </a:prstGeom>
          <a:solidFill>
            <a:srgbClr val="F28C28"/>
          </a:solidFill>
          <a:ln>
            <a:no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5</a:t>
            </a:r>
            <a:endParaRPr lang="ja-JP" sz="2600"/>
          </a:p>
        </p:txBody>
      </p:sp>
      <p:sp>
        <p:nvSpPr>
          <p:cNvPr id="19" name="Kyusei 7"/>
          <p:cNvSpPr/>
          <p:nvPr/>
        </p:nvSpPr>
        <p:spPr>
          <a:xfrm>
            <a:off x="10625328" y="2697480"/>
            <a:ext cx="868680" cy="868680"/>
          </a:xfrm>
          <a:prstGeom prst="rect">
            <a:avLst/>
          </a:prstGeom>
          <a:noFill/>
          <a:ln w="19050">
            <a:solidFill>
              <a:srgbClr val="FFFFFF"/>
            </a:solid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7</a:t>
            </a:r>
            <a:endParaRPr lang="ja-JP" sz="2600"/>
          </a:p>
        </p:txBody>
      </p:sp>
      <p:sp>
        <p:nvSpPr>
          <p:cNvPr id="20" name="Kyusei 8"/>
          <p:cNvSpPr/>
          <p:nvPr/>
        </p:nvSpPr>
        <p:spPr>
          <a:xfrm>
            <a:off x="8613648" y="3703320"/>
            <a:ext cx="868680" cy="868680"/>
          </a:xfrm>
          <a:prstGeom prst="rect">
            <a:avLst/>
          </a:prstGeom>
          <a:noFill/>
          <a:ln w="19050">
            <a:solidFill>
              <a:srgbClr val="FFFFFF"/>
            </a:solid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8</a:t>
            </a:r>
            <a:endParaRPr lang="ja-JP" sz="2600"/>
          </a:p>
        </p:txBody>
      </p:sp>
      <p:sp>
        <p:nvSpPr>
          <p:cNvPr id="21" name="Kyusei 1"/>
          <p:cNvSpPr/>
          <p:nvPr/>
        </p:nvSpPr>
        <p:spPr>
          <a:xfrm>
            <a:off x="9619488" y="3703320"/>
            <a:ext cx="868680" cy="868680"/>
          </a:xfrm>
          <a:prstGeom prst="rect">
            <a:avLst/>
          </a:prstGeom>
          <a:noFill/>
          <a:ln w="19050">
            <a:solidFill>
              <a:srgbClr val="FFFFFF"/>
            </a:solid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1</a:t>
            </a:r>
            <a:endParaRPr lang="ja-JP" sz="2600"/>
          </a:p>
        </p:txBody>
      </p:sp>
      <p:sp>
        <p:nvSpPr>
          <p:cNvPr id="22" name="Kyusei 6"/>
          <p:cNvSpPr/>
          <p:nvPr/>
        </p:nvSpPr>
        <p:spPr>
          <a:xfrm>
            <a:off x="10625328" y="3703320"/>
            <a:ext cx="868680" cy="868680"/>
          </a:xfrm>
          <a:prstGeom prst="rect">
            <a:avLst/>
          </a:prstGeom>
          <a:noFill/>
          <a:ln w="19050">
            <a:solidFill>
              <a:srgbClr val="FFFFFF"/>
            </a:solidFill>
          </a:ln>
        </p:spPr>
        <p:txBody>
          <a:bodyPr wrap="square" lIns="0" tIns="0" rIns="0" bIns="0" anchor="ctr" rtlCol="0">
            <a:noAutofit/>
          </a:bodyPr>
          <a:lstStyle/>
          <a:p>
            <a:pPr algn="ctr"/>
            <a:r>
              <a:rPr lang="ja-JP" altLang="en-US" sz="2600" b="1" dirty="0">
                <a:solidFill>
                  <a:srgbClr val="FFFFFF"/>
                </a:solidFill>
                <a:latin typeface="BIZ UDPGothic"/>
                <a:ea typeface="BIZ UDPGothic"/>
                <a:cs typeface="BIZ UDPGothic"/>
              </a:rPr>
              <a:t>6</a:t>
            </a:r>
            <a:endParaRPr lang="ja-JP" sz="2600"/>
          </a:p>
        </p:txBody>
      </p:sp>
      <p:sp>
        <p:nvSpPr>
          <p:cNvPr id="23" name="Kyusei caption"/>
          <p:cNvSpPr/>
          <p:nvPr/>
        </p:nvSpPr>
        <p:spPr>
          <a:xfrm>
            <a:off x="8412480" y="4800600"/>
            <a:ext cx="3291840" cy="411480"/>
          </a:xfrm>
          <a:prstGeom prst="rect">
            <a:avLst/>
          </a:prstGeom>
          <a:noFill/>
          <a:ln>
            <a:noFill/>
          </a:ln>
        </p:spPr>
        <p:txBody>
          <a:bodyPr wrap="square" lIns="0" tIns="0" rIns="0" bIns="0" anchor="ctr" rtlCol="0">
            <a:noAutofit/>
          </a:bodyPr>
          <a:lstStyle/>
          <a:p>
            <a:pPr algn="ctr"/>
            <a:r>
              <a:rPr lang="ja-JP" altLang="en-US" sz="1400" b="1" dirty="0">
                <a:solidFill>
                  <a:srgbClr val="FFFFFF"/>
                </a:solidFill>
                <a:latin typeface="BIZ UDPGothic"/>
                <a:ea typeface="BIZ UDPGothic"/>
                <a:cs typeface="BIZ UDPGothic"/>
              </a:rPr>
              <a:t>九星の方位盤</a:t>
            </a:r>
            <a:endParaRPr lang="ja-JP"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rofile">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FFFFF"/>
                </a:solidFill>
                <a:latin typeface="BIZ UDPGothic"/>
                <a:ea typeface="BIZ UDPGothic"/>
                <a:cs typeface="BIZ UDPGothic"/>
              </a:rPr>
              <a:t>ざっくりプロフィール</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仕事はSQLサーバーのデータ業務。好きな九星気学とAIを、個人開発につなげています</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3 / 14</a:t>
            </a:r>
            <a:endParaRPr lang="ja-JP" sz="1000"/>
          </a:p>
        </p:txBody>
      </p:sp>
      <p:sp>
        <p:nvSpPr>
          <p:cNvPr id="11" name="Label 名前"/>
          <p:cNvSpPr/>
          <p:nvPr/>
        </p:nvSpPr>
        <p:spPr>
          <a:xfrm>
            <a:off x="548640" y="1874520"/>
            <a:ext cx="1463040" cy="548640"/>
          </a:xfrm>
          <a:prstGeom prst="rect">
            <a:avLst/>
          </a:prstGeom>
          <a:solidFill>
            <a:srgbClr val="1F3A5F"/>
          </a:solidFill>
          <a:ln>
            <a:noFill/>
          </a:ln>
        </p:spPr>
        <p:txBody>
          <a:bodyPr wrap="square" lIns="45720" tIns="0" rIns="45720" bIns="0" anchor="ctr" rtlCol="0">
            <a:noAutofit/>
          </a:bodyPr>
          <a:lstStyle/>
          <a:p>
            <a:pPr algn="ctr"/>
            <a:r>
              <a:rPr lang="ja-JP" altLang="en-US" sz="1400" b="1" dirty="0">
                <a:solidFill>
                  <a:srgbClr val="FFFFFF"/>
                </a:solidFill>
                <a:latin typeface="BIZ UDPGothic"/>
                <a:ea typeface="BIZ UDPGothic"/>
                <a:cs typeface="BIZ UDPGothic"/>
              </a:rPr>
              <a:t>名前</a:t>
            </a:r>
            <a:endParaRPr lang="ja-JP" sz="1400"/>
          </a:p>
        </p:txBody>
      </p:sp>
      <p:sp>
        <p:nvSpPr>
          <p:cNvPr id="12" name="Value 名前"/>
          <p:cNvSpPr/>
          <p:nvPr/>
        </p:nvSpPr>
        <p:spPr>
          <a:xfrm>
            <a:off x="2084832" y="1874520"/>
            <a:ext cx="4681728" cy="548640"/>
          </a:xfrm>
          <a:prstGeom prst="rect">
            <a:avLst/>
          </a:prstGeom>
          <a:solidFill>
            <a:srgbClr val="F3F5F8"/>
          </a:solidFill>
          <a:ln>
            <a:noFill/>
          </a:ln>
        </p:spPr>
        <p:txBody>
          <a:bodyPr wrap="square" lIns="182880" tIns="45720" rIns="182880" bIns="45720" anchor="ctr" rtlCol="0">
            <a:noAutofit/>
          </a:bodyPr>
          <a:lstStyle/>
          <a:p>
            <a:pPr algn="l">
              <a:lnSpc>
                <a:spcPct val="105000"/>
              </a:lnSpc>
            </a:pPr>
            <a:r>
              <a:rPr lang="ja-JP" altLang="en-US" sz="1800" b="1" dirty="0">
                <a:solidFill>
                  <a:srgbClr val="1F3A5F"/>
                </a:solidFill>
                <a:latin typeface="BIZ UDPGothic"/>
                <a:ea typeface="BIZ UDPGothic"/>
                <a:cs typeface="BIZ UDPGothic"/>
              </a:rPr>
              <a:t>石橋 真</a:t>
            </a:r>
            <a:r>
              <a:rPr lang="ja-JP" altLang="en-US" sz="1300" b="0" dirty="0">
                <a:solidFill>
                  <a:srgbClr val="666666"/>
                </a:solidFill>
                <a:latin typeface="BIZ UDPGothic"/>
                <a:ea typeface="BIZ UDPGothic"/>
                <a:cs typeface="BIZ UDPGothic"/>
              </a:rPr>
              <a:t>（いしばし まこと）</a:t>
            </a:r>
            <a:endParaRPr lang="ja-JP" sz="1800"/>
          </a:p>
        </p:txBody>
      </p:sp>
      <p:sp>
        <p:nvSpPr>
          <p:cNvPr id="13" name="Label 担当業務"/>
          <p:cNvSpPr/>
          <p:nvPr/>
        </p:nvSpPr>
        <p:spPr>
          <a:xfrm>
            <a:off x="548640" y="2496312"/>
            <a:ext cx="1463040" cy="594360"/>
          </a:xfrm>
          <a:prstGeom prst="rect">
            <a:avLst/>
          </a:prstGeom>
          <a:solidFill>
            <a:srgbClr val="1F3A5F"/>
          </a:solidFill>
          <a:ln>
            <a:noFill/>
          </a:ln>
        </p:spPr>
        <p:txBody>
          <a:bodyPr wrap="square" lIns="45720" tIns="0" rIns="45720" bIns="0" anchor="ctr" rtlCol="0">
            <a:noAutofit/>
          </a:bodyPr>
          <a:lstStyle/>
          <a:p>
            <a:pPr algn="ctr"/>
            <a:r>
              <a:rPr lang="ja-JP" altLang="en-US" sz="1400" b="1" dirty="0">
                <a:solidFill>
                  <a:srgbClr val="FFFFFF"/>
                </a:solidFill>
                <a:latin typeface="BIZ UDPGothic"/>
                <a:ea typeface="BIZ UDPGothic"/>
                <a:cs typeface="BIZ UDPGothic"/>
              </a:rPr>
              <a:t>担当業務</a:t>
            </a:r>
            <a:endParaRPr lang="ja-JP" sz="1400"/>
          </a:p>
        </p:txBody>
      </p:sp>
      <p:sp>
        <p:nvSpPr>
          <p:cNvPr id="14" name="Value 担当業務"/>
          <p:cNvSpPr/>
          <p:nvPr/>
        </p:nvSpPr>
        <p:spPr>
          <a:xfrm>
            <a:off x="2084832" y="2496312"/>
            <a:ext cx="4681728" cy="594360"/>
          </a:xfrm>
          <a:prstGeom prst="rect">
            <a:avLst/>
          </a:prstGeom>
          <a:solidFill>
            <a:srgbClr val="F3F5F8"/>
          </a:solidFill>
          <a:ln>
            <a:noFill/>
          </a:ln>
        </p:spPr>
        <p:txBody>
          <a:bodyPr wrap="square" lIns="182880" tIns="45720" rIns="182880" bIns="45720" anchor="ctr" rtlCol="0">
            <a:noAutofit/>
          </a:bodyPr>
          <a:lstStyle/>
          <a:p>
            <a:pPr algn="l">
              <a:lnSpc>
                <a:spcPct val="105000"/>
              </a:lnSpc>
            </a:pPr>
            <a:r>
              <a:rPr lang="ja-JP" altLang="en-US" sz="1600" b="1" dirty="0">
                <a:solidFill>
                  <a:srgbClr val="222222"/>
                </a:solidFill>
                <a:latin typeface="BIZ UDPGothic"/>
                <a:ea typeface="BIZ UDPGothic"/>
                <a:cs typeface="BIZ UDPGothic"/>
              </a:rPr>
              <a:t>SQLサーバーを使ったデータ業務</a:t>
            </a:r>
            <a:endParaRPr lang="ja-JP" sz="1600"/>
          </a:p>
        </p:txBody>
      </p:sp>
      <p:sp>
        <p:nvSpPr>
          <p:cNvPr id="15" name="Label 出身"/>
          <p:cNvSpPr/>
          <p:nvPr/>
        </p:nvSpPr>
        <p:spPr>
          <a:xfrm>
            <a:off x="548640" y="3163824"/>
            <a:ext cx="1463040" cy="548640"/>
          </a:xfrm>
          <a:prstGeom prst="rect">
            <a:avLst/>
          </a:prstGeom>
          <a:solidFill>
            <a:srgbClr val="1F3A5F"/>
          </a:solidFill>
          <a:ln>
            <a:noFill/>
          </a:ln>
        </p:spPr>
        <p:txBody>
          <a:bodyPr wrap="square" lIns="45720" tIns="0" rIns="45720" bIns="0" anchor="ctr" rtlCol="0">
            <a:noAutofit/>
          </a:bodyPr>
          <a:lstStyle/>
          <a:p>
            <a:pPr algn="ctr"/>
            <a:r>
              <a:rPr lang="ja-JP" altLang="en-US" sz="1400" b="1" dirty="0">
                <a:solidFill>
                  <a:srgbClr val="FFFFFF"/>
                </a:solidFill>
                <a:latin typeface="BIZ UDPGothic"/>
                <a:ea typeface="BIZ UDPGothic"/>
                <a:cs typeface="BIZ UDPGothic"/>
              </a:rPr>
              <a:t>出身</a:t>
            </a:r>
            <a:endParaRPr lang="ja-JP" sz="1400"/>
          </a:p>
        </p:txBody>
      </p:sp>
      <p:sp>
        <p:nvSpPr>
          <p:cNvPr id="16" name="Value 出身"/>
          <p:cNvSpPr/>
          <p:nvPr/>
        </p:nvSpPr>
        <p:spPr>
          <a:xfrm>
            <a:off x="2084832" y="3163824"/>
            <a:ext cx="4681728" cy="548640"/>
          </a:xfrm>
          <a:prstGeom prst="rect">
            <a:avLst/>
          </a:prstGeom>
          <a:solidFill>
            <a:srgbClr val="F3F5F8"/>
          </a:solidFill>
          <a:ln>
            <a:noFill/>
          </a:ln>
        </p:spPr>
        <p:txBody>
          <a:bodyPr wrap="square" lIns="182880" tIns="45720" rIns="182880" bIns="45720" anchor="ctr" rtlCol="0">
            <a:noAutofit/>
          </a:bodyPr>
          <a:lstStyle/>
          <a:p>
            <a:pPr algn="l">
              <a:lnSpc>
                <a:spcPct val="105000"/>
              </a:lnSpc>
            </a:pPr>
            <a:r>
              <a:rPr lang="ja-JP" altLang="en-US" sz="1600" b="1" dirty="0">
                <a:solidFill>
                  <a:srgbClr val="222222"/>
                </a:solidFill>
                <a:latin typeface="BIZ UDPGothic"/>
                <a:ea typeface="BIZ UDPGothic"/>
                <a:cs typeface="BIZ UDPGothic"/>
              </a:rPr>
              <a:t>福井県敦賀市</a:t>
            </a:r>
            <a:r>
              <a:rPr lang="ja-JP" altLang="en-US" sz="1200" b="0" dirty="0">
                <a:solidFill>
                  <a:srgbClr val="666666"/>
                </a:solidFill>
                <a:latin typeface="BIZ UDPGothic"/>
                <a:ea typeface="BIZ UDPGothic"/>
                <a:cs typeface="BIZ UDPGothic"/>
              </a:rPr>
              <a:t>（このあと少しだけ紹介）</a:t>
            </a:r>
            <a:endParaRPr lang="ja-JP" sz="1600"/>
          </a:p>
        </p:txBody>
      </p:sp>
      <p:sp>
        <p:nvSpPr>
          <p:cNvPr id="17" name="Label 好きなこと"/>
          <p:cNvSpPr/>
          <p:nvPr/>
        </p:nvSpPr>
        <p:spPr>
          <a:xfrm>
            <a:off x="548640" y="3785616"/>
            <a:ext cx="1463040" cy="1234440"/>
          </a:xfrm>
          <a:prstGeom prst="rect">
            <a:avLst/>
          </a:prstGeom>
          <a:solidFill>
            <a:srgbClr val="1F3A5F"/>
          </a:solidFill>
          <a:ln>
            <a:noFill/>
          </a:ln>
        </p:spPr>
        <p:txBody>
          <a:bodyPr wrap="square" lIns="45720" tIns="0" rIns="45720" bIns="0" anchor="ctr" rtlCol="0">
            <a:noAutofit/>
          </a:bodyPr>
          <a:lstStyle/>
          <a:p>
            <a:pPr algn="ctr"/>
            <a:r>
              <a:rPr lang="ja-JP" altLang="en-US" sz="1400" b="1" dirty="0">
                <a:solidFill>
                  <a:srgbClr val="FFFFFF"/>
                </a:solidFill>
                <a:latin typeface="BIZ UDPGothic"/>
                <a:ea typeface="BIZ UDPGothic"/>
                <a:cs typeface="BIZ UDPGothic"/>
              </a:rPr>
              <a:t>好きなこと</a:t>
            </a:r>
            <a:endParaRPr lang="ja-JP" sz="1400"/>
          </a:p>
        </p:txBody>
      </p:sp>
      <p:sp>
        <p:nvSpPr>
          <p:cNvPr id="18" name="Value 好きなこと"/>
          <p:cNvSpPr/>
          <p:nvPr/>
        </p:nvSpPr>
        <p:spPr>
          <a:xfrm>
            <a:off x="2084832" y="3785616"/>
            <a:ext cx="4681728" cy="1234440"/>
          </a:xfrm>
          <a:prstGeom prst="rect">
            <a:avLst/>
          </a:prstGeom>
          <a:solidFill>
            <a:srgbClr val="F3F5F8"/>
          </a:solidFill>
          <a:ln>
            <a:noFill/>
          </a:ln>
        </p:spPr>
        <p:txBody>
          <a:bodyPr wrap="square" lIns="182880" tIns="45720" rIns="182880" bIns="45720" anchor="ctr" rtlCol="0">
            <a:noAutofit/>
          </a:bodyPr>
          <a:lstStyle/>
          <a:p>
            <a:pPr algn="l">
              <a:lnSpc>
                <a:spcPct val="105000"/>
              </a:lnSpc>
            </a:pPr>
            <a:r>
              <a:rPr lang="ja-JP" altLang="en-US" sz="1500" b="0" dirty="0">
                <a:solidFill>
                  <a:srgbClr val="222222"/>
                </a:solidFill>
                <a:latin typeface="BIZ UDPGothic"/>
                <a:ea typeface="BIZ UDPGothic"/>
                <a:cs typeface="BIZ UDPGothic"/>
              </a:rPr>
              <a:t>・九星気学・方位</a:t>
            </a:r>
            <a:endParaRPr lang="ja-JP" sz="1500"/>
          </a:p>
          <a:p>
            <a:pPr algn="l">
              <a:lnSpc>
                <a:spcPct val="105000"/>
              </a:lnSpc>
            </a:pPr>
            <a:r>
              <a:rPr lang="ja-JP" altLang="en-US" sz="1500" b="0" dirty="0">
                <a:solidFill>
                  <a:srgbClr val="222222"/>
                </a:solidFill>
                <a:latin typeface="BIZ UDPGothic"/>
                <a:ea typeface="BIZ UDPGothic"/>
                <a:cs typeface="BIZ UDPGothic"/>
              </a:rPr>
              <a:t>・AIエージェント</a:t>
            </a:r>
            <a:endParaRPr lang="ja-JP" sz="1500"/>
          </a:p>
          <a:p>
            <a:pPr algn="l">
              <a:lnSpc>
                <a:spcPct val="105000"/>
              </a:lnSpc>
            </a:pPr>
            <a:r>
              <a:rPr lang="ja-JP" altLang="en-US" sz="1500" b="0" dirty="0">
                <a:solidFill>
                  <a:srgbClr val="222222"/>
                </a:solidFill>
                <a:latin typeface="BIZ UDPGothic"/>
                <a:ea typeface="BIZ UDPGothic"/>
                <a:cs typeface="BIZ UDPGothic"/>
              </a:rPr>
              <a:t>・ガジェットやインテリア</a:t>
            </a:r>
            <a:endParaRPr lang="ja-JP" sz="1500"/>
          </a:p>
        </p:txBody>
      </p:sp>
      <p:sp>
        <p:nvSpPr>
          <p:cNvPr id="19" name="Label 個人開発"/>
          <p:cNvSpPr/>
          <p:nvPr/>
        </p:nvSpPr>
        <p:spPr>
          <a:xfrm>
            <a:off x="548640" y="5093208"/>
            <a:ext cx="1463040" cy="1051560"/>
          </a:xfrm>
          <a:prstGeom prst="rect">
            <a:avLst/>
          </a:prstGeom>
          <a:solidFill>
            <a:srgbClr val="1F3A5F"/>
          </a:solidFill>
          <a:ln>
            <a:noFill/>
          </a:ln>
        </p:spPr>
        <p:txBody>
          <a:bodyPr wrap="square" lIns="45720" tIns="0" rIns="45720" bIns="0" anchor="ctr" rtlCol="0">
            <a:noAutofit/>
          </a:bodyPr>
          <a:lstStyle/>
          <a:p>
            <a:pPr algn="ctr"/>
            <a:r>
              <a:rPr lang="ja-JP" altLang="en-US" sz="1400" b="1" dirty="0">
                <a:solidFill>
                  <a:srgbClr val="FFFFFF"/>
                </a:solidFill>
                <a:latin typeface="BIZ UDPGothic"/>
                <a:ea typeface="BIZ UDPGothic"/>
                <a:cs typeface="BIZ UDPGothic"/>
              </a:rPr>
              <a:t>個人開発</a:t>
            </a:r>
            <a:endParaRPr lang="ja-JP" sz="1400"/>
          </a:p>
        </p:txBody>
      </p:sp>
      <p:sp>
        <p:nvSpPr>
          <p:cNvPr id="20" name="Value 個人開発"/>
          <p:cNvSpPr/>
          <p:nvPr/>
        </p:nvSpPr>
        <p:spPr>
          <a:xfrm>
            <a:off x="2084832" y="5093208"/>
            <a:ext cx="4681728" cy="1051560"/>
          </a:xfrm>
          <a:prstGeom prst="rect">
            <a:avLst/>
          </a:prstGeom>
          <a:solidFill>
            <a:srgbClr val="F3F5F8"/>
          </a:solidFill>
          <a:ln>
            <a:noFill/>
          </a:ln>
        </p:spPr>
        <p:txBody>
          <a:bodyPr wrap="square" lIns="182880" tIns="45720" rIns="182880" bIns="45720" anchor="ctr" rtlCol="0">
            <a:noAutofit/>
          </a:bodyPr>
          <a:lstStyle/>
          <a:p>
            <a:pPr algn="l">
              <a:lnSpc>
                <a:spcPct val="105000"/>
              </a:lnSpc>
            </a:pPr>
            <a:r>
              <a:rPr lang="ja-JP" altLang="en-US" sz="1600" b="1" dirty="0">
                <a:solidFill>
                  <a:srgbClr val="1F3A5F"/>
                </a:solidFill>
                <a:latin typeface="BIZ UDPGothic"/>
                <a:ea typeface="BIZ UDPGothic"/>
                <a:cs typeface="BIZ UDPGothic"/>
              </a:rPr>
              <a:t>Cloud Palette</a:t>
            </a:r>
            <a:r>
              <a:rPr lang="ja-JP" altLang="en-US" sz="1200" b="0" dirty="0">
                <a:solidFill>
                  <a:srgbClr val="666666"/>
                </a:solidFill>
                <a:latin typeface="BIZ UDPGothic"/>
                <a:ea typeface="BIZ UDPGothic"/>
                <a:cs typeface="BIZ UDPGothic"/>
              </a:rPr>
              <a:t>（cloud-palette.com）</a:t>
            </a:r>
            <a:endParaRPr lang="ja-JP" sz="1600"/>
          </a:p>
          <a:p>
            <a:pPr algn="l">
              <a:lnSpc>
                <a:spcPct val="105000"/>
              </a:lnSpc>
            </a:pPr>
            <a:r>
              <a:rPr lang="ja-JP" altLang="en-US" sz="1300" b="0" dirty="0">
                <a:solidFill>
                  <a:srgbClr val="222222"/>
                </a:solidFill>
                <a:latin typeface="BIZ UDPGothic"/>
                <a:ea typeface="BIZ UDPGothic"/>
                <a:cs typeface="BIZ UDPGothic"/>
              </a:rPr>
              <a:t>九星気学・方位・暦をテーマにしたサイト</a:t>
            </a:r>
            <a:endParaRPr lang="ja-JP" sz="1300"/>
          </a:p>
          <a:p>
            <a:pPr algn="l">
              <a:lnSpc>
                <a:spcPct val="105000"/>
              </a:lnSpc>
            </a:pPr>
            <a:r>
              <a:rPr lang="ja-JP" altLang="en-US" sz="1200" b="0" dirty="0">
                <a:solidFill>
                  <a:srgbClr val="666666"/>
                </a:solidFill>
                <a:latin typeface="BIZ UDPGothic"/>
                <a:ea typeface="BIZ UDPGothic"/>
                <a:cs typeface="BIZ UDPGothic"/>
              </a:rPr>
              <a:t>独学：Web開発 → AIに聞きながら学ぶ → MCP</a:t>
            </a:r>
            <a:endParaRPr lang="ja-JP" sz="1200"/>
          </a:p>
        </p:txBody>
      </p:sp>
      <p:pic>
        <p:nvPicPr>
          <p:cNvPr id="21" name="Illust database" descr="データベースのイラスト"/>
          <p:cNvPicPr>
            <a:picLocks noChangeAspect="1"/>
          </p:cNvPicPr>
          <p:nvPr/>
        </p:nvPicPr>
        <p:blipFill>
          <a:blip r:embed="rIdG1Img"/>
          <a:stretch>
            <a:fillRect/>
          </a:stretch>
        </p:blipFill>
        <p:spPr>
          <a:xfrm>
            <a:off x="7086600" y="1874520"/>
            <a:ext cx="4556455" cy="2563006"/>
          </a:xfrm>
          <a:prstGeom prst="rect">
            <a:avLst/>
          </a:prstGeom>
          <a:ln w="9525">
            <a:solidFill>
              <a:srgbClr val="D0D7E2"/>
            </a:solidFill>
          </a:ln>
        </p:spPr>
      </p:pic>
      <p:sp>
        <p:nvSpPr>
          <p:cNvPr id="22" name="Likes heading"/>
          <p:cNvSpPr/>
          <p:nvPr/>
        </p:nvSpPr>
        <p:spPr>
          <a:xfrm>
            <a:off x="7086600" y="4526280"/>
            <a:ext cx="4556455" cy="320040"/>
          </a:xfrm>
          <a:prstGeom prst="rect">
            <a:avLst/>
          </a:prstGeom>
          <a:noFill/>
          <a:ln>
            <a:noFill/>
          </a:ln>
        </p:spPr>
        <p:txBody>
          <a:bodyPr wrap="square" lIns="0" tIns="0" rIns="0" bIns="0" anchor="ctr" rtlCol="0">
            <a:noAutofit/>
          </a:bodyPr>
          <a:lstStyle/>
          <a:p>
            <a:pPr algn="l"/>
            <a:r>
              <a:rPr lang="ja-JP" altLang="en-US" sz="1300" b="1" dirty="0">
                <a:solidFill>
                  <a:srgbClr val="1F3A5F"/>
                </a:solidFill>
                <a:latin typeface="BIZ UDPGothic"/>
                <a:ea typeface="BIZ UDPGothic"/>
                <a:cs typeface="BIZ UDPGothic"/>
              </a:rPr>
              <a:t>好きなこと 3つ</a:t>
            </a:r>
            <a:endParaRPr lang="ja-JP" sz="1300"/>
          </a:p>
        </p:txBody>
      </p:sp>
      <p:sp>
        <p:nvSpPr>
          <p:cNvPr id="23" name="Like box 0"/>
          <p:cNvSpPr/>
          <p:nvPr/>
        </p:nvSpPr>
        <p:spPr>
          <a:xfrm>
            <a:off x="7086600" y="4892040"/>
            <a:ext cx="1427378" cy="1252728"/>
          </a:xfrm>
          <a:prstGeom prst="rect">
            <a:avLst/>
          </a:prstGeom>
          <a:noFill/>
          <a:ln w="12700">
            <a:solidFill>
              <a:srgbClr val="D0D7E2"/>
            </a:solidFill>
          </a:ln>
        </p:spPr>
      </p:sp>
      <p:sp>
        <p:nvSpPr>
          <p:cNvPr id="24" name="Like icon 0"/>
          <p:cNvSpPr/>
          <p:nvPr/>
        </p:nvSpPr>
        <p:spPr>
          <a:xfrm>
            <a:off x="7516825" y="4956048"/>
            <a:ext cx="566928" cy="566928"/>
          </a:xfrm>
          <a:prstGeom prst="ellipse">
            <a:avLst/>
          </a:prstGeom>
          <a:solidFill>
            <a:srgbClr val="F28C28"/>
          </a:solidFill>
          <a:ln>
            <a:noFill/>
          </a:ln>
        </p:spPr>
        <p:txBody>
          <a:bodyPr wrap="square" lIns="0" tIns="0" rIns="0" bIns="0" anchor="ctr" rtlCol="0">
            <a:noAutofit/>
          </a:bodyPr>
          <a:lstStyle/>
          <a:p>
            <a:pPr algn="ctr"/>
            <a:r>
              <a:rPr lang="ja-JP" altLang="en-US" sz="1300" b="1" dirty="0">
                <a:solidFill>
                  <a:srgbClr val="FFFFFF"/>
                </a:solidFill>
                <a:latin typeface="BIZ UDPGothic"/>
                <a:ea typeface="BIZ UDPGothic"/>
                <a:cs typeface="BIZ UDPGothic"/>
              </a:rPr>
              <a:t>方位</a:t>
            </a:r>
            <a:endParaRPr lang="ja-JP" sz="1300"/>
          </a:p>
        </p:txBody>
      </p:sp>
      <p:sp>
        <p:nvSpPr>
          <p:cNvPr id="25" name="Like cap 0"/>
          <p:cNvSpPr/>
          <p:nvPr/>
        </p:nvSpPr>
        <p:spPr>
          <a:xfrm>
            <a:off x="7132320" y="5577840"/>
            <a:ext cx="1335938" cy="502920"/>
          </a:xfrm>
          <a:prstGeom prst="rect">
            <a:avLst/>
          </a:prstGeom>
          <a:noFill/>
          <a:ln>
            <a:noFill/>
          </a:ln>
        </p:spPr>
        <p:txBody>
          <a:bodyPr wrap="square" lIns="0" tIns="0" rIns="0" bIns="0" anchor="ctr" rtlCol="0">
            <a:noAutofit/>
          </a:bodyPr>
          <a:lstStyle/>
          <a:p>
            <a:pPr algn="ctr">
              <a:lnSpc>
                <a:spcPct val="100000"/>
              </a:lnSpc>
            </a:pPr>
            <a:r>
              <a:rPr lang="ja-JP" altLang="en-US" sz="1200" b="1" dirty="0">
                <a:solidFill>
                  <a:srgbClr val="222222"/>
                </a:solidFill>
                <a:latin typeface="BIZ UDPGothic"/>
                <a:ea typeface="BIZ UDPGothic"/>
                <a:cs typeface="BIZ UDPGothic"/>
              </a:rPr>
              <a:t>九星気学</a:t>
            </a:r>
            <a:endParaRPr lang="ja-JP" sz="1200"/>
          </a:p>
          <a:p>
            <a:pPr algn="ctr">
              <a:lnSpc>
                <a:spcPct val="100000"/>
              </a:lnSpc>
            </a:pPr>
            <a:r>
              <a:rPr lang="ja-JP" altLang="en-US" sz="1200" b="1" dirty="0">
                <a:solidFill>
                  <a:srgbClr val="222222"/>
                </a:solidFill>
                <a:latin typeface="BIZ UDPGothic"/>
                <a:ea typeface="BIZ UDPGothic"/>
                <a:cs typeface="BIZ UDPGothic"/>
              </a:rPr>
              <a:t>方位</a:t>
            </a:r>
            <a:endParaRPr lang="ja-JP" sz="1200"/>
          </a:p>
        </p:txBody>
      </p:sp>
      <p:sp>
        <p:nvSpPr>
          <p:cNvPr id="26" name="Like box 1"/>
          <p:cNvSpPr/>
          <p:nvPr/>
        </p:nvSpPr>
        <p:spPr>
          <a:xfrm>
            <a:off x="8651138" y="4892040"/>
            <a:ext cx="1427378" cy="1252728"/>
          </a:xfrm>
          <a:prstGeom prst="rect">
            <a:avLst/>
          </a:prstGeom>
          <a:noFill/>
          <a:ln w="12700">
            <a:solidFill>
              <a:srgbClr val="D0D7E2"/>
            </a:solidFill>
          </a:ln>
        </p:spPr>
      </p:sp>
      <p:sp>
        <p:nvSpPr>
          <p:cNvPr id="27" name="Like icon 1"/>
          <p:cNvSpPr/>
          <p:nvPr/>
        </p:nvSpPr>
        <p:spPr>
          <a:xfrm>
            <a:off x="9081364" y="4956048"/>
            <a:ext cx="566928" cy="566928"/>
          </a:xfrm>
          <a:prstGeom prst="ellipse">
            <a:avLst/>
          </a:prstGeom>
          <a:solidFill>
            <a:srgbClr val="1F3A5F"/>
          </a:solidFill>
          <a:ln>
            <a:noFill/>
          </a:ln>
        </p:spPr>
        <p:txBody>
          <a:bodyPr wrap="square" lIns="0" tIns="0" rIns="0" bIns="0" anchor="ctr" rtlCol="0">
            <a:noAutofit/>
          </a:bodyPr>
          <a:lstStyle/>
          <a:p>
            <a:pPr algn="ctr"/>
            <a:r>
              <a:rPr lang="ja-JP" altLang="en-US" sz="1300" b="1" dirty="0">
                <a:solidFill>
                  <a:srgbClr val="FFFFFF"/>
                </a:solidFill>
                <a:latin typeface="BIZ UDPGothic"/>
                <a:ea typeface="BIZ UDPGothic"/>
                <a:cs typeface="BIZ UDPGothic"/>
              </a:rPr>
              <a:t>AI</a:t>
            </a:r>
            <a:endParaRPr lang="ja-JP" sz="1300"/>
          </a:p>
        </p:txBody>
      </p:sp>
      <p:sp>
        <p:nvSpPr>
          <p:cNvPr id="28" name="Like cap 1"/>
          <p:cNvSpPr/>
          <p:nvPr/>
        </p:nvSpPr>
        <p:spPr>
          <a:xfrm>
            <a:off x="8696858" y="5577840"/>
            <a:ext cx="1335938" cy="502920"/>
          </a:xfrm>
          <a:prstGeom prst="rect">
            <a:avLst/>
          </a:prstGeom>
          <a:noFill/>
          <a:ln>
            <a:noFill/>
          </a:ln>
        </p:spPr>
        <p:txBody>
          <a:bodyPr wrap="square" lIns="0" tIns="0" rIns="0" bIns="0" anchor="ctr" rtlCol="0">
            <a:noAutofit/>
          </a:bodyPr>
          <a:lstStyle/>
          <a:p>
            <a:pPr algn="ctr">
              <a:lnSpc>
                <a:spcPct val="100000"/>
              </a:lnSpc>
            </a:pPr>
            <a:r>
              <a:rPr lang="ja-JP" altLang="en-US" sz="1200" b="1" dirty="0">
                <a:solidFill>
                  <a:srgbClr val="222222"/>
                </a:solidFill>
                <a:latin typeface="BIZ UDPGothic"/>
                <a:ea typeface="BIZ UDPGothic"/>
                <a:cs typeface="BIZ UDPGothic"/>
              </a:rPr>
              <a:t>AI</a:t>
            </a:r>
            <a:endParaRPr lang="ja-JP" sz="1200"/>
          </a:p>
          <a:p>
            <a:pPr algn="ctr">
              <a:lnSpc>
                <a:spcPct val="100000"/>
              </a:lnSpc>
            </a:pPr>
            <a:r>
              <a:rPr lang="ja-JP" altLang="en-US" sz="1200" b="1" dirty="0">
                <a:solidFill>
                  <a:srgbClr val="222222"/>
                </a:solidFill>
                <a:latin typeface="BIZ UDPGothic"/>
                <a:ea typeface="BIZ UDPGothic"/>
                <a:cs typeface="BIZ UDPGothic"/>
              </a:rPr>
              <a:t>エージェント</a:t>
            </a:r>
            <a:endParaRPr lang="ja-JP" sz="1200"/>
          </a:p>
        </p:txBody>
      </p:sp>
      <p:sp>
        <p:nvSpPr>
          <p:cNvPr id="29" name="Like box 2"/>
          <p:cNvSpPr/>
          <p:nvPr/>
        </p:nvSpPr>
        <p:spPr>
          <a:xfrm>
            <a:off x="10215677" y="4892040"/>
            <a:ext cx="1427378" cy="1252728"/>
          </a:xfrm>
          <a:prstGeom prst="rect">
            <a:avLst/>
          </a:prstGeom>
          <a:noFill/>
          <a:ln w="12700">
            <a:solidFill>
              <a:srgbClr val="D0D7E2"/>
            </a:solidFill>
          </a:ln>
        </p:spPr>
      </p:sp>
      <p:sp>
        <p:nvSpPr>
          <p:cNvPr id="30" name="Like icon 2"/>
          <p:cNvSpPr/>
          <p:nvPr/>
        </p:nvSpPr>
        <p:spPr>
          <a:xfrm>
            <a:off x="10645902" y="4956048"/>
            <a:ext cx="566928" cy="566928"/>
          </a:xfrm>
          <a:prstGeom prst="ellipse">
            <a:avLst/>
          </a:prstGeom>
          <a:solidFill>
            <a:srgbClr val="1F3A5F"/>
          </a:solidFill>
          <a:ln>
            <a:noFill/>
          </a:ln>
        </p:spPr>
        <p:txBody>
          <a:bodyPr wrap="square" lIns="0" tIns="0" rIns="0" bIns="0" anchor="ctr" rtlCol="0">
            <a:noAutofit/>
          </a:bodyPr>
          <a:lstStyle/>
          <a:p>
            <a:pPr algn="ctr"/>
            <a:r>
              <a:rPr lang="ja-JP" altLang="en-US" sz="1300" b="1" dirty="0">
                <a:solidFill>
                  <a:srgbClr val="FFFFFF"/>
                </a:solidFill>
                <a:latin typeface="BIZ UDPGothic"/>
                <a:ea typeface="BIZ UDPGothic"/>
                <a:cs typeface="BIZ UDPGothic"/>
              </a:rPr>
              <a:t>モノ</a:t>
            </a:r>
            <a:endParaRPr lang="ja-JP" sz="1300"/>
          </a:p>
        </p:txBody>
      </p:sp>
      <p:sp>
        <p:nvSpPr>
          <p:cNvPr id="31" name="Like cap 2"/>
          <p:cNvSpPr/>
          <p:nvPr/>
        </p:nvSpPr>
        <p:spPr>
          <a:xfrm>
            <a:off x="10261397" y="5577840"/>
            <a:ext cx="1335938" cy="502920"/>
          </a:xfrm>
          <a:prstGeom prst="rect">
            <a:avLst/>
          </a:prstGeom>
          <a:noFill/>
          <a:ln>
            <a:noFill/>
          </a:ln>
        </p:spPr>
        <p:txBody>
          <a:bodyPr wrap="square" lIns="0" tIns="0" rIns="0" bIns="0" anchor="ctr" rtlCol="0">
            <a:noAutofit/>
          </a:bodyPr>
          <a:lstStyle/>
          <a:p>
            <a:pPr algn="ctr">
              <a:lnSpc>
                <a:spcPct val="100000"/>
              </a:lnSpc>
            </a:pPr>
            <a:r>
              <a:rPr lang="ja-JP" altLang="en-US" sz="1200" b="1" dirty="0">
                <a:solidFill>
                  <a:srgbClr val="222222"/>
                </a:solidFill>
                <a:latin typeface="BIZ UDPGothic"/>
                <a:ea typeface="BIZ UDPGothic"/>
                <a:cs typeface="BIZ UDPGothic"/>
              </a:rPr>
              <a:t>ガジェット</a:t>
            </a:r>
            <a:endParaRPr lang="ja-JP" sz="1200"/>
          </a:p>
          <a:p>
            <a:pPr algn="ctr">
              <a:lnSpc>
                <a:spcPct val="100000"/>
              </a:lnSpc>
            </a:pPr>
            <a:r>
              <a:rPr lang="ja-JP" altLang="en-US" sz="1200" b="1" dirty="0">
                <a:solidFill>
                  <a:srgbClr val="222222"/>
                </a:solidFill>
                <a:latin typeface="BIZ UDPGothic"/>
                <a:ea typeface="BIZ UDPGothic"/>
                <a:cs typeface="BIZ UDPGothic"/>
              </a:rPr>
              <a:t>インテリア</a:t>
            </a:r>
            <a:endParaRPr lang="ja-JP"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suruga more">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28C28"/>
                </a:solidFill>
                <a:latin typeface="BIZ UDPGothic"/>
                <a:ea typeface="BIZ UDPGothic"/>
                <a:cs typeface="BIZ UDPGothic"/>
              </a:rPr>
              <a:t>①  </a:t>
            </a:r>
            <a:r>
              <a:rPr lang="ja-JP" altLang="en-US" sz="2800" b="1" dirty="0">
                <a:solidFill>
                  <a:srgbClr val="FFFFFF"/>
                </a:solidFill>
                <a:latin typeface="BIZ UDPGothic"/>
                <a:ea typeface="BIZ UDPGothic"/>
                <a:cs typeface="BIZ UDPGothic"/>
              </a:rPr>
              <a:t>敦賀のあれこれ</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港の歴史、鉄道、そして名産。敦賀にはいくつもの顔があります</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6 / 14</a:t>
            </a:r>
            <a:endParaRPr lang="ja-JP" sz="1000"/>
          </a:p>
        </p:txBody>
      </p:sp>
      <p:pic>
        <p:nvPicPr>
          <p:cNvPr id="11" name="Photo tsuruga_red_brick_warehouse.jpg" descr="敦賀赤レンガ倉庫"/>
          <p:cNvPicPr>
            <a:picLocks noChangeAspect="1"/>
          </p:cNvPicPr>
          <p:nvPr/>
        </p:nvPicPr>
        <p:blipFill>
          <a:blip r:embed="rIdG2P2"/>
          <a:srcRect l="0" t="7315" r="0" b="7315"/>
          <a:stretch>
            <a:fillRect/>
          </a:stretch>
        </p:blipFill>
        <p:spPr>
          <a:xfrm>
            <a:off x="548640" y="1828800"/>
            <a:ext cx="3545738" cy="2011680"/>
          </a:xfrm>
          <a:prstGeom prst="rect">
            <a:avLst/>
          </a:prstGeom>
        </p:spPr>
      </p:pic>
      <p:sp>
        <p:nvSpPr>
          <p:cNvPr id="12" name="Credit"/>
          <p:cNvSpPr/>
          <p:nvPr/>
        </p:nvSpPr>
        <p:spPr>
          <a:xfrm>
            <a:off x="548640" y="3867912"/>
            <a:ext cx="3545738" cy="329184"/>
          </a:xfrm>
          <a:prstGeom prst="rect">
            <a:avLst/>
          </a:prstGeom>
          <a:noFill/>
          <a:ln>
            <a:noFill/>
          </a:ln>
        </p:spPr>
        <p:txBody>
          <a:bodyPr wrap="square" lIns="0" tIns="18288" rIns="0" bIns="18288" anchor="t" rtlCol="0">
            <a:noAutofit/>
          </a:bodyPr>
          <a:lstStyle/>
          <a:p>
            <a:pPr algn="l">
              <a:lnSpc>
                <a:spcPct val="100000"/>
              </a:lnSpc>
            </a:pPr>
            <a:r>
              <a:rPr lang="ja-JP" altLang="en-US" sz="900" b="0" dirty="0">
                <a:solidFill>
                  <a:srgbClr val="666666"/>
                </a:solidFill>
                <a:latin typeface="BIZ UDPGothic"/>
                <a:ea typeface="BIZ UDPGothic"/>
                <a:cs typeface="BIZ UDPGothic"/>
              </a:rPr>
              <a:t>写真：敦賀赤レンガ倉庫｜Asturio Cantabrio / CC BY-SA 4.0 / Wikimedia Commons</a:t>
            </a:r>
            <a:endParaRPr lang="ja-JP" sz="900"/>
          </a:p>
        </p:txBody>
      </p:sp>
      <p:sp>
        <p:nvSpPr>
          <p:cNvPr id="13" name="Col bar 0"/>
          <p:cNvSpPr/>
          <p:nvPr/>
        </p:nvSpPr>
        <p:spPr>
          <a:xfrm>
            <a:off x="548640" y="4251960"/>
            <a:ext cx="73152" cy="384048"/>
          </a:xfrm>
          <a:prstGeom prst="rect">
            <a:avLst/>
          </a:prstGeom>
          <a:solidFill>
            <a:srgbClr val="F28C28"/>
          </a:solidFill>
          <a:ln>
            <a:noFill/>
          </a:ln>
        </p:spPr>
      </p:sp>
      <p:sp>
        <p:nvSpPr>
          <p:cNvPr id="14" name="Col head 0"/>
          <p:cNvSpPr/>
          <p:nvPr/>
        </p:nvSpPr>
        <p:spPr>
          <a:xfrm>
            <a:off x="731520" y="4251960"/>
            <a:ext cx="3362858" cy="384048"/>
          </a:xfrm>
          <a:prstGeom prst="rect">
            <a:avLst/>
          </a:prstGeom>
          <a:noFill/>
          <a:ln>
            <a:noFill/>
          </a:ln>
        </p:spPr>
        <p:txBody>
          <a:bodyPr wrap="square" lIns="0" tIns="0" rIns="0" bIns="0" anchor="ctr" rtlCol="0">
            <a:noAutofit/>
          </a:bodyPr>
          <a:lstStyle/>
          <a:p>
            <a:pPr algn="l"/>
            <a:r>
              <a:rPr lang="ja-JP" altLang="en-US" sz="1700" b="1" dirty="0">
                <a:solidFill>
                  <a:srgbClr val="1F3A5F"/>
                </a:solidFill>
                <a:latin typeface="BIZ UDPGothic"/>
                <a:ea typeface="BIZ UDPGothic"/>
                <a:cs typeface="BIZ UDPGothic"/>
              </a:rPr>
              <a:t>人道の港</a:t>
            </a:r>
            <a:endParaRPr lang="ja-JP" sz="1700"/>
          </a:p>
        </p:txBody>
      </p:sp>
      <p:sp>
        <p:nvSpPr>
          <p:cNvPr id="15" name="Col rule 0"/>
          <p:cNvSpPr/>
          <p:nvPr/>
        </p:nvSpPr>
        <p:spPr>
          <a:xfrm>
            <a:off x="548640" y="4709160"/>
            <a:ext cx="3545738" cy="9144"/>
          </a:xfrm>
          <a:prstGeom prst="rect">
            <a:avLst/>
          </a:prstGeom>
          <a:solidFill>
            <a:srgbClr val="D0D7E2"/>
          </a:solidFill>
          <a:ln>
            <a:noFill/>
          </a:ln>
        </p:spPr>
      </p:sp>
      <p:sp>
        <p:nvSpPr>
          <p:cNvPr id="16" name="Col body 0"/>
          <p:cNvSpPr/>
          <p:nvPr/>
        </p:nvSpPr>
        <p:spPr>
          <a:xfrm>
            <a:off x="548640" y="4800600"/>
            <a:ext cx="3545738" cy="1463040"/>
          </a:xfrm>
          <a:prstGeom prst="rect">
            <a:avLst/>
          </a:prstGeom>
          <a:noFill/>
          <a:ln>
            <a:noFill/>
          </a:ln>
        </p:spPr>
        <p:txBody>
          <a:bodyPr wrap="square" lIns="0" tIns="0" rIns="0" bIns="0" anchor="t" rtlCol="0">
            <a:noAutofit/>
          </a:bodyPr>
          <a:lstStyle/>
          <a:p>
            <a:pPr algn="l">
              <a:lnSpc>
                <a:spcPct val="105000"/>
              </a:lnSpc>
              <a:spcAft>
                <a:spcPts val="300"/>
              </a:spcAft>
            </a:pPr>
            <a:r>
              <a:rPr lang="ja-JP" altLang="en-US" sz="1300" b="0" dirty="0">
                <a:solidFill>
                  <a:srgbClr val="222222"/>
                </a:solidFill>
                <a:latin typeface="BIZ UDPGothic"/>
                <a:ea typeface="BIZ UDPGothic"/>
                <a:cs typeface="BIZ UDPGothic"/>
              </a:rPr>
              <a:t>・1920–21年、ポーランド孤児が敦賀に上陸</a:t>
            </a:r>
            <a:endParaRPr lang="ja-JP" sz="1300"/>
          </a:p>
          <a:p>
            <a:pPr algn="l">
              <a:lnSpc>
                <a:spcPct val="105000"/>
              </a:lnSpc>
              <a:spcAft>
                <a:spcPts val="300"/>
              </a:spcAft>
            </a:pPr>
            <a:r>
              <a:rPr lang="ja-JP" altLang="en-US" sz="1300" b="0" dirty="0">
                <a:solidFill>
                  <a:srgbClr val="222222"/>
                </a:solidFill>
                <a:latin typeface="BIZ UDPGothic"/>
                <a:ea typeface="BIZ UDPGothic"/>
                <a:cs typeface="BIZ UDPGothic"/>
              </a:rPr>
              <a:t>・1940年、杉原千畝「命のビザ」のユダヤ難民が敦賀港へ上陸</a:t>
            </a:r>
            <a:endParaRPr lang="ja-JP" sz="1300"/>
          </a:p>
        </p:txBody>
      </p:sp>
      <p:pic>
        <p:nvPicPr>
          <p:cNvPr id="17" name="Photo tsuruga_station_shinkansen.jpg" descr="敦賀駅 北陸新幹線ホーム"/>
          <p:cNvPicPr>
            <a:picLocks noChangeAspect="1"/>
          </p:cNvPicPr>
          <p:nvPr/>
        </p:nvPicPr>
        <p:blipFill>
          <a:blip r:embed="rIdG2P3"/>
          <a:srcRect l="0" t="12229" r="0" b="12229"/>
          <a:stretch>
            <a:fillRect/>
          </a:stretch>
        </p:blipFill>
        <p:spPr>
          <a:xfrm>
            <a:off x="4322978" y="1828800"/>
            <a:ext cx="3545738" cy="2011680"/>
          </a:xfrm>
          <a:prstGeom prst="rect">
            <a:avLst/>
          </a:prstGeom>
        </p:spPr>
      </p:pic>
      <p:sp>
        <p:nvSpPr>
          <p:cNvPr id="18" name="Credit"/>
          <p:cNvSpPr/>
          <p:nvPr/>
        </p:nvSpPr>
        <p:spPr>
          <a:xfrm>
            <a:off x="4322978" y="3867912"/>
            <a:ext cx="3545738" cy="329184"/>
          </a:xfrm>
          <a:prstGeom prst="rect">
            <a:avLst/>
          </a:prstGeom>
          <a:noFill/>
          <a:ln>
            <a:noFill/>
          </a:ln>
        </p:spPr>
        <p:txBody>
          <a:bodyPr wrap="square" lIns="0" tIns="18288" rIns="0" bIns="18288" anchor="t" rtlCol="0">
            <a:noAutofit/>
          </a:bodyPr>
          <a:lstStyle/>
          <a:p>
            <a:pPr algn="l">
              <a:lnSpc>
                <a:spcPct val="100000"/>
              </a:lnSpc>
            </a:pPr>
            <a:r>
              <a:rPr lang="ja-JP" altLang="en-US" sz="900" b="0" dirty="0">
                <a:solidFill>
                  <a:srgbClr val="666666"/>
                </a:solidFill>
                <a:latin typeface="BIZ UDPGothic"/>
                <a:ea typeface="BIZ UDPGothic"/>
                <a:cs typeface="BIZ UDPGothic"/>
              </a:rPr>
              <a:t>写真：敦賀駅 北陸新幹線ホーム｜Suikotei / CC BY 4.0 / Wikimedia Commons</a:t>
            </a:r>
            <a:endParaRPr lang="ja-JP" sz="900"/>
          </a:p>
        </p:txBody>
      </p:sp>
      <p:sp>
        <p:nvSpPr>
          <p:cNvPr id="19" name="Col bar 1"/>
          <p:cNvSpPr/>
          <p:nvPr/>
        </p:nvSpPr>
        <p:spPr>
          <a:xfrm>
            <a:off x="4322978" y="4251960"/>
            <a:ext cx="73152" cy="384048"/>
          </a:xfrm>
          <a:prstGeom prst="rect">
            <a:avLst/>
          </a:prstGeom>
          <a:solidFill>
            <a:srgbClr val="F28C28"/>
          </a:solidFill>
          <a:ln>
            <a:noFill/>
          </a:ln>
        </p:spPr>
      </p:sp>
      <p:sp>
        <p:nvSpPr>
          <p:cNvPr id="20" name="Col head 1"/>
          <p:cNvSpPr/>
          <p:nvPr/>
        </p:nvSpPr>
        <p:spPr>
          <a:xfrm>
            <a:off x="4505858" y="4251960"/>
            <a:ext cx="3362858" cy="384048"/>
          </a:xfrm>
          <a:prstGeom prst="rect">
            <a:avLst/>
          </a:prstGeom>
          <a:noFill/>
          <a:ln>
            <a:noFill/>
          </a:ln>
        </p:spPr>
        <p:txBody>
          <a:bodyPr wrap="square" lIns="0" tIns="0" rIns="0" bIns="0" anchor="ctr" rtlCol="0">
            <a:noAutofit/>
          </a:bodyPr>
          <a:lstStyle/>
          <a:p>
            <a:pPr algn="l"/>
            <a:r>
              <a:rPr lang="ja-JP" altLang="en-US" sz="1700" b="1" dirty="0">
                <a:solidFill>
                  <a:srgbClr val="1F3A5F"/>
                </a:solidFill>
                <a:latin typeface="BIZ UDPGothic"/>
                <a:ea typeface="BIZ UDPGothic"/>
                <a:cs typeface="BIZ UDPGothic"/>
              </a:rPr>
              <a:t>鉄道と新幹線</a:t>
            </a:r>
            <a:endParaRPr lang="ja-JP" sz="1700"/>
          </a:p>
        </p:txBody>
      </p:sp>
      <p:sp>
        <p:nvSpPr>
          <p:cNvPr id="21" name="Col rule 1"/>
          <p:cNvSpPr/>
          <p:nvPr/>
        </p:nvSpPr>
        <p:spPr>
          <a:xfrm>
            <a:off x="4322978" y="4709160"/>
            <a:ext cx="3545738" cy="9144"/>
          </a:xfrm>
          <a:prstGeom prst="rect">
            <a:avLst/>
          </a:prstGeom>
          <a:solidFill>
            <a:srgbClr val="D0D7E2"/>
          </a:solidFill>
          <a:ln>
            <a:noFill/>
          </a:ln>
        </p:spPr>
      </p:sp>
      <p:sp>
        <p:nvSpPr>
          <p:cNvPr id="22" name="Col body 1"/>
          <p:cNvSpPr/>
          <p:nvPr/>
        </p:nvSpPr>
        <p:spPr>
          <a:xfrm>
            <a:off x="4322978" y="4800600"/>
            <a:ext cx="3545738" cy="1463040"/>
          </a:xfrm>
          <a:prstGeom prst="rect">
            <a:avLst/>
          </a:prstGeom>
          <a:noFill/>
          <a:ln>
            <a:noFill/>
          </a:ln>
        </p:spPr>
        <p:txBody>
          <a:bodyPr wrap="square" lIns="0" tIns="0" rIns="0" bIns="0" anchor="t" rtlCol="0">
            <a:noAutofit/>
          </a:bodyPr>
          <a:lstStyle/>
          <a:p>
            <a:pPr algn="l">
              <a:lnSpc>
                <a:spcPct val="105000"/>
              </a:lnSpc>
              <a:spcAft>
                <a:spcPts val="300"/>
              </a:spcAft>
            </a:pPr>
            <a:r>
              <a:rPr lang="ja-JP" altLang="en-US" sz="1300" b="0" dirty="0">
                <a:solidFill>
                  <a:srgbClr val="222222"/>
                </a:solidFill>
                <a:latin typeface="BIZ UDPGothic"/>
                <a:ea typeface="BIZ UDPGothic"/>
                <a:cs typeface="BIZ UDPGothic"/>
              </a:rPr>
              <a:t>・1912年から欧亜国際連絡列車の日本側の玄関口</a:t>
            </a:r>
            <a:endParaRPr lang="ja-JP" sz="1300"/>
          </a:p>
          <a:p>
            <a:pPr algn="l">
              <a:lnSpc>
                <a:spcPct val="105000"/>
              </a:lnSpc>
              <a:spcAft>
                <a:spcPts val="300"/>
              </a:spcAft>
            </a:pPr>
            <a:r>
              <a:rPr lang="ja-JP" altLang="en-US" sz="1300" b="0" dirty="0">
                <a:solidFill>
                  <a:srgbClr val="222222"/>
                </a:solidFill>
                <a:latin typeface="BIZ UDPGothic"/>
                <a:ea typeface="BIZ UDPGothic"/>
                <a:cs typeface="BIZ UDPGothic"/>
              </a:rPr>
              <a:t>・2024年3月16日、北陸新幹線 金沢–敦賀間が延伸開業。敦賀駅が終着駅に</a:t>
            </a:r>
            <a:endParaRPr lang="ja-JP" sz="1300"/>
          </a:p>
        </p:txBody>
      </p:sp>
      <p:sp>
        <p:nvSpPr>
          <p:cNvPr id="23" name="Kombu tile"/>
          <p:cNvSpPr/>
          <p:nvPr/>
        </p:nvSpPr>
        <p:spPr>
          <a:xfrm>
            <a:off x="8097317" y="1828800"/>
            <a:ext cx="3545738" cy="2011680"/>
          </a:xfrm>
          <a:prstGeom prst="rect">
            <a:avLst/>
          </a:prstGeom>
          <a:solidFill>
            <a:srgbClr val="1F3A5F"/>
          </a:solidFill>
          <a:ln>
            <a:noFill/>
          </a:ln>
        </p:spPr>
      </p:sp>
      <p:sp>
        <p:nvSpPr>
          <p:cNvPr id="24" name="Kombu big"/>
          <p:cNvSpPr/>
          <p:nvPr/>
        </p:nvSpPr>
        <p:spPr>
          <a:xfrm>
            <a:off x="8371637" y="2011680"/>
            <a:ext cx="2997098" cy="1005840"/>
          </a:xfrm>
          <a:prstGeom prst="rect">
            <a:avLst/>
          </a:prstGeom>
          <a:noFill/>
          <a:ln>
            <a:noFill/>
          </a:ln>
        </p:spPr>
        <p:txBody>
          <a:bodyPr wrap="square" lIns="0" tIns="0" rIns="0" bIns="0" anchor="ctr" rtlCol="0">
            <a:noAutofit/>
          </a:bodyPr>
          <a:lstStyle/>
          <a:p>
            <a:pPr algn="l"/>
            <a:r>
              <a:rPr lang="ja-JP" altLang="en-US" sz="6000" b="1" dirty="0">
                <a:solidFill>
                  <a:srgbClr val="F28C28"/>
                </a:solidFill>
                <a:latin typeface="BIZ UDPGothic"/>
                <a:ea typeface="BIZ UDPGothic"/>
                <a:cs typeface="BIZ UDPGothic"/>
              </a:rPr>
              <a:t>80</a:t>
            </a:r>
            <a:r>
              <a:rPr lang="ja-JP" altLang="en-US" sz="2800" b="1" dirty="0">
                <a:solidFill>
                  <a:srgbClr val="F28C28"/>
                </a:solidFill>
                <a:latin typeface="BIZ UDPGothic"/>
                <a:ea typeface="BIZ UDPGothic"/>
                <a:cs typeface="BIZ UDPGothic"/>
              </a:rPr>
              <a:t>%以上</a:t>
            </a:r>
            <a:endParaRPr lang="ja-JP" sz="6000"/>
          </a:p>
        </p:txBody>
      </p:sp>
      <p:sp>
        <p:nvSpPr>
          <p:cNvPr id="25" name="Kombu rule"/>
          <p:cNvSpPr/>
          <p:nvPr/>
        </p:nvSpPr>
        <p:spPr>
          <a:xfrm>
            <a:off x="8371637" y="3063240"/>
            <a:ext cx="2997098" cy="18288"/>
          </a:xfrm>
          <a:prstGeom prst="rect">
            <a:avLst/>
          </a:prstGeom>
          <a:solidFill>
            <a:srgbClr val="F28C28"/>
          </a:solidFill>
          <a:ln>
            <a:noFill/>
          </a:ln>
        </p:spPr>
      </p:sp>
      <p:sp>
        <p:nvSpPr>
          <p:cNvPr id="26" name="Kombu label"/>
          <p:cNvSpPr/>
          <p:nvPr/>
        </p:nvSpPr>
        <p:spPr>
          <a:xfrm>
            <a:off x="8371637" y="3154680"/>
            <a:ext cx="2997098" cy="548640"/>
          </a:xfrm>
          <a:prstGeom prst="rect">
            <a:avLst/>
          </a:prstGeom>
          <a:noFill/>
          <a:ln>
            <a:noFill/>
          </a:ln>
        </p:spPr>
        <p:txBody>
          <a:bodyPr wrap="square" lIns="0" tIns="0" rIns="0" bIns="0" anchor="ctr" rtlCol="0">
            <a:noAutofit/>
          </a:bodyPr>
          <a:lstStyle/>
          <a:p>
            <a:pPr algn="l"/>
            <a:r>
              <a:rPr lang="ja-JP" altLang="en-US" sz="1500" b="1" dirty="0">
                <a:solidFill>
                  <a:srgbClr val="FFFFFF"/>
                </a:solidFill>
                <a:latin typeface="BIZ UDPGothic"/>
                <a:ea typeface="BIZ UDPGothic"/>
                <a:cs typeface="BIZ UDPGothic"/>
              </a:rPr>
              <a:t>昆布加工の全国生産シェア</a:t>
            </a:r>
            <a:endParaRPr lang="ja-JP" sz="1500"/>
          </a:p>
        </p:txBody>
      </p:sp>
      <p:sp>
        <p:nvSpPr>
          <p:cNvPr id="27" name="Kombu src"/>
          <p:cNvSpPr/>
          <p:nvPr/>
        </p:nvSpPr>
        <p:spPr>
          <a:xfrm>
            <a:off x="8097317" y="3867912"/>
            <a:ext cx="3545738" cy="329184"/>
          </a:xfrm>
          <a:prstGeom prst="rect">
            <a:avLst/>
          </a:prstGeom>
          <a:noFill/>
          <a:ln>
            <a:noFill/>
          </a:ln>
        </p:spPr>
        <p:txBody>
          <a:bodyPr wrap="square" lIns="0" tIns="18288" rIns="0" bIns="18288" anchor="t" rtlCol="0">
            <a:noAutofit/>
          </a:bodyPr>
          <a:lstStyle/>
          <a:p>
            <a:pPr algn="l">
              <a:lnSpc>
                <a:spcPct val="100000"/>
              </a:lnSpc>
            </a:pPr>
            <a:r>
              <a:rPr lang="ja-JP" altLang="en-US" sz="900" b="0" dirty="0">
                <a:solidFill>
                  <a:srgbClr val="666666"/>
                </a:solidFill>
                <a:latin typeface="BIZ UDPGothic"/>
                <a:ea typeface="BIZ UDPGothic"/>
                <a:cs typeface="BIZ UDPGothic"/>
              </a:rPr>
              <a:t>出典：Wikipedia「敦賀市」（2026年10月13日参照）</a:t>
            </a:r>
            <a:endParaRPr lang="ja-JP" sz="900"/>
          </a:p>
        </p:txBody>
      </p:sp>
      <p:sp>
        <p:nvSpPr>
          <p:cNvPr id="28" name="Col bar 2"/>
          <p:cNvSpPr/>
          <p:nvPr/>
        </p:nvSpPr>
        <p:spPr>
          <a:xfrm>
            <a:off x="8097317" y="4251960"/>
            <a:ext cx="73152" cy="384048"/>
          </a:xfrm>
          <a:prstGeom prst="rect">
            <a:avLst/>
          </a:prstGeom>
          <a:solidFill>
            <a:srgbClr val="F28C28"/>
          </a:solidFill>
          <a:ln>
            <a:noFill/>
          </a:ln>
        </p:spPr>
      </p:sp>
      <p:sp>
        <p:nvSpPr>
          <p:cNvPr id="29" name="Col head 2"/>
          <p:cNvSpPr/>
          <p:nvPr/>
        </p:nvSpPr>
        <p:spPr>
          <a:xfrm>
            <a:off x="8280197" y="4251960"/>
            <a:ext cx="3362858" cy="384048"/>
          </a:xfrm>
          <a:prstGeom prst="rect">
            <a:avLst/>
          </a:prstGeom>
          <a:noFill/>
          <a:ln>
            <a:noFill/>
          </a:ln>
        </p:spPr>
        <p:txBody>
          <a:bodyPr wrap="square" lIns="0" tIns="0" rIns="0" bIns="0" anchor="ctr" rtlCol="0">
            <a:noAutofit/>
          </a:bodyPr>
          <a:lstStyle/>
          <a:p>
            <a:pPr algn="l"/>
            <a:r>
              <a:rPr lang="ja-JP" altLang="en-US" sz="1700" b="1" dirty="0">
                <a:solidFill>
                  <a:srgbClr val="1F3A5F"/>
                </a:solidFill>
                <a:latin typeface="BIZ UDPGothic"/>
                <a:ea typeface="BIZ UDPGothic"/>
                <a:cs typeface="BIZ UDPGothic"/>
              </a:rPr>
              <a:t>名産</a:t>
            </a:r>
            <a:endParaRPr lang="ja-JP" sz="1700"/>
          </a:p>
        </p:txBody>
      </p:sp>
      <p:sp>
        <p:nvSpPr>
          <p:cNvPr id="30" name="Col rule 2"/>
          <p:cNvSpPr/>
          <p:nvPr/>
        </p:nvSpPr>
        <p:spPr>
          <a:xfrm>
            <a:off x="8097317" y="4709160"/>
            <a:ext cx="3545738" cy="9144"/>
          </a:xfrm>
          <a:prstGeom prst="rect">
            <a:avLst/>
          </a:prstGeom>
          <a:solidFill>
            <a:srgbClr val="D0D7E2"/>
          </a:solidFill>
          <a:ln>
            <a:noFill/>
          </a:ln>
        </p:spPr>
      </p:sp>
      <p:sp>
        <p:nvSpPr>
          <p:cNvPr id="31" name="Col body 2"/>
          <p:cNvSpPr/>
          <p:nvPr/>
        </p:nvSpPr>
        <p:spPr>
          <a:xfrm>
            <a:off x="8097317" y="4800600"/>
            <a:ext cx="3545738" cy="1463040"/>
          </a:xfrm>
          <a:prstGeom prst="rect">
            <a:avLst/>
          </a:prstGeom>
          <a:noFill/>
          <a:ln>
            <a:noFill/>
          </a:ln>
        </p:spPr>
        <p:txBody>
          <a:bodyPr wrap="square" lIns="0" tIns="0" rIns="0" bIns="0" anchor="t" rtlCol="0">
            <a:noAutofit/>
          </a:bodyPr>
          <a:lstStyle/>
          <a:p>
            <a:pPr algn="l">
              <a:lnSpc>
                <a:spcPct val="105000"/>
              </a:lnSpc>
              <a:spcAft>
                <a:spcPts val="300"/>
              </a:spcAft>
            </a:pPr>
            <a:r>
              <a:rPr lang="ja-JP" altLang="en-US" sz="1300" b="0" dirty="0">
                <a:solidFill>
                  <a:srgbClr val="222222"/>
                </a:solidFill>
                <a:latin typeface="BIZ UDPGothic"/>
                <a:ea typeface="BIZ UDPGothic"/>
                <a:cs typeface="BIZ UDPGothic"/>
              </a:rPr>
              <a:t>・おぼろ昆布・とろろ昆布など、昆布加工で全国の80%以上を生産</a:t>
            </a:r>
            <a:endParaRPr lang="ja-JP" sz="1300"/>
          </a:p>
          <a:p>
            <a:pPr algn="l">
              <a:lnSpc>
                <a:spcPct val="105000"/>
              </a:lnSpc>
              <a:spcAft>
                <a:spcPts val="300"/>
              </a:spcAft>
            </a:pPr>
            <a:r>
              <a:rPr lang="ja-JP" altLang="en-US" sz="1300" b="0" dirty="0">
                <a:solidFill>
                  <a:srgbClr val="222222"/>
                </a:solidFill>
                <a:latin typeface="BIZ UDPGothic"/>
                <a:ea typeface="BIZ UDPGothic"/>
                <a:cs typeface="BIZ UDPGothic"/>
              </a:rPr>
              <a:t>・おぼろ昆布製造技術は2025年3月28日、国の登録無形民俗文化財に</a:t>
            </a:r>
            <a:endParaRPr lang="ja-JP" sz="1300"/>
          </a:p>
          <a:p>
            <a:pPr algn="l">
              <a:lnSpc>
                <a:spcPct val="105000"/>
              </a:lnSpc>
              <a:spcAft>
                <a:spcPts val="300"/>
              </a:spcAft>
            </a:pPr>
            <a:r>
              <a:rPr lang="ja-JP" altLang="en-US" sz="1300" b="0" dirty="0">
                <a:solidFill>
                  <a:srgbClr val="222222"/>
                </a:solidFill>
                <a:latin typeface="BIZ UDPGothic"/>
                <a:ea typeface="BIZ UDPGothic"/>
                <a:cs typeface="BIZ UDPGothic"/>
              </a:rPr>
              <a:t>・へしこ、屋台の「敦賀ラーメン」も</a:t>
            </a:r>
            <a:endParaRPr lang="ja-JP" sz="13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ev style">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28C28"/>
                </a:solidFill>
                <a:latin typeface="BIZ UDPGothic"/>
                <a:ea typeface="BIZ UDPGothic"/>
                <a:cs typeface="BIZ UDPGothic"/>
              </a:rPr>
              <a:t>②  </a:t>
            </a:r>
            <a:r>
              <a:rPr lang="ja-JP" altLang="en-US" sz="2800" b="1" dirty="0">
                <a:solidFill>
                  <a:srgbClr val="FFFFFF"/>
                </a:solidFill>
                <a:latin typeface="BIZ UDPGothic"/>
                <a:ea typeface="BIZ UDPGothic"/>
                <a:cs typeface="BIZ UDPGothic"/>
              </a:rPr>
              <a:t>開発スタイル</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「学ぶ」から「任せる」へ ― 2026年8月ごろから、実装はAIエージェントに任せています</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9 / 14</a:t>
            </a:r>
            <a:endParaRPr lang="ja-JP" sz="1000"/>
          </a:p>
        </p:txBody>
      </p:sp>
      <p:sp>
        <p:nvSpPr>
          <p:cNvPr id="11" name="Role AI"/>
          <p:cNvSpPr/>
          <p:nvPr/>
        </p:nvSpPr>
        <p:spPr>
          <a:xfrm>
            <a:off x="548640" y="1874520"/>
            <a:ext cx="2651760" cy="2148840"/>
          </a:xfrm>
          <a:prstGeom prst="rect">
            <a:avLst/>
          </a:prstGeom>
          <a:solidFill>
            <a:srgbClr val="1F3A5F"/>
          </a:solidFill>
          <a:ln>
            <a:noFill/>
          </a:ln>
        </p:spPr>
      </p:sp>
      <p:sp>
        <p:nvSpPr>
          <p:cNvPr id="12" name="Role AI tag"/>
          <p:cNvSpPr/>
          <p:nvPr/>
        </p:nvSpPr>
        <p:spPr>
          <a:xfrm>
            <a:off x="731520" y="2011680"/>
            <a:ext cx="1280160" cy="292608"/>
          </a:xfrm>
          <a:prstGeom prst="roundRect">
            <a:avLst/>
          </a:prstGeom>
          <a:solidFill>
            <a:srgbClr val="F28C28"/>
          </a:solidFill>
          <a:ln>
            <a:noFill/>
          </a:ln>
        </p:spPr>
        <p:txBody>
          <a:bodyPr wrap="square" lIns="0" tIns="0" rIns="0" bIns="0" anchor="ctr" rtlCol="0">
            <a:noAutofit/>
          </a:bodyPr>
          <a:lstStyle/>
          <a:p>
            <a:pPr algn="ctr"/>
            <a:r>
              <a:rPr lang="ja-JP" altLang="en-US" sz="1100" b="1" dirty="0">
                <a:solidFill>
                  <a:srgbClr val="FFFFFF"/>
                </a:solidFill>
                <a:latin typeface="BIZ UDPGothic"/>
                <a:ea typeface="BIZ UDPGothic"/>
                <a:cs typeface="BIZ UDPGothic"/>
              </a:rPr>
              <a:t>AIエージェント</a:t>
            </a:r>
            <a:endParaRPr lang="ja-JP" sz="1100"/>
          </a:p>
        </p:txBody>
      </p:sp>
      <p:sp>
        <p:nvSpPr>
          <p:cNvPr id="13" name="Role AI name"/>
          <p:cNvSpPr/>
          <p:nvPr/>
        </p:nvSpPr>
        <p:spPr>
          <a:xfrm>
            <a:off x="731520" y="2377440"/>
            <a:ext cx="2286000" cy="822960"/>
          </a:xfrm>
          <a:prstGeom prst="rect">
            <a:avLst/>
          </a:prstGeom>
          <a:noFill/>
          <a:ln>
            <a:noFill/>
          </a:ln>
        </p:spPr>
        <p:txBody>
          <a:bodyPr wrap="square" lIns="0" tIns="0" rIns="0" bIns="0" anchor="t" rtlCol="0">
            <a:noAutofit/>
          </a:bodyPr>
          <a:lstStyle/>
          <a:p>
            <a:pPr algn="l">
              <a:lnSpc>
                <a:spcPct val="100000"/>
              </a:lnSpc>
            </a:pPr>
            <a:r>
              <a:rPr lang="ja-JP" altLang="en-US" sz="1500" b="1" dirty="0">
                <a:solidFill>
                  <a:srgbClr val="FFFFFF"/>
                </a:solidFill>
                <a:latin typeface="BIZ UDPGothic"/>
                <a:ea typeface="BIZ UDPGothic"/>
                <a:cs typeface="BIZ UDPGothic"/>
              </a:rPr>
              <a:t>Grok Bot</a:t>
            </a:r>
            <a:endParaRPr lang="ja-JP" sz="1500"/>
          </a:p>
          <a:p>
            <a:pPr algn="l">
              <a:lnSpc>
                <a:spcPct val="100000"/>
              </a:lnSpc>
            </a:pPr>
            <a:r>
              <a:rPr lang="ja-JP" altLang="en-US" sz="1500" b="1" dirty="0">
                <a:solidFill>
                  <a:srgbClr val="FFFFFF"/>
                </a:solidFill>
                <a:latin typeface="BIZ UDPGothic"/>
                <a:ea typeface="BIZ UDPGothic"/>
                <a:cs typeface="BIZ UDPGothic"/>
              </a:rPr>
              <a:t>Claude Code</a:t>
            </a:r>
            <a:endParaRPr lang="ja-JP" sz="1500"/>
          </a:p>
          <a:p>
            <a:pPr algn="l">
              <a:lnSpc>
                <a:spcPct val="100000"/>
              </a:lnSpc>
            </a:pPr>
            <a:r>
              <a:rPr lang="ja-JP" altLang="en-US" sz="1500" b="1" dirty="0">
                <a:solidFill>
                  <a:srgbClr val="FFFFFF"/>
                </a:solidFill>
                <a:latin typeface="BIZ UDPGothic"/>
                <a:ea typeface="BIZ UDPGothic"/>
                <a:cs typeface="BIZ UDPGothic"/>
              </a:rPr>
              <a:t>Codex</a:t>
            </a:r>
            <a:endParaRPr lang="ja-JP" sz="1500"/>
          </a:p>
        </p:txBody>
      </p:sp>
      <p:sp>
        <p:nvSpPr>
          <p:cNvPr id="14" name="Role AI rule"/>
          <p:cNvSpPr/>
          <p:nvPr/>
        </p:nvSpPr>
        <p:spPr>
          <a:xfrm>
            <a:off x="731520" y="3246120"/>
            <a:ext cx="2286000" cy="9144"/>
          </a:xfrm>
          <a:prstGeom prst="rect">
            <a:avLst/>
          </a:prstGeom>
          <a:solidFill>
            <a:srgbClr val="F28C28"/>
          </a:solidFill>
          <a:ln>
            <a:noFill/>
          </a:ln>
        </p:spPr>
      </p:sp>
      <p:sp>
        <p:nvSpPr>
          <p:cNvPr id="15" name="Role AI job"/>
          <p:cNvSpPr/>
          <p:nvPr/>
        </p:nvSpPr>
        <p:spPr>
          <a:xfrm>
            <a:off x="731520" y="3319272"/>
            <a:ext cx="2286000" cy="640080"/>
          </a:xfrm>
          <a:prstGeom prst="rect">
            <a:avLst/>
          </a:prstGeom>
          <a:noFill/>
          <a:ln>
            <a:noFill/>
          </a:ln>
        </p:spPr>
        <p:txBody>
          <a:bodyPr wrap="square" lIns="0" tIns="0" rIns="0" bIns="0" anchor="t" rtlCol="0">
            <a:noAutofit/>
          </a:bodyPr>
          <a:lstStyle/>
          <a:p>
            <a:pPr algn="l"/>
            <a:r>
              <a:rPr lang="ja-JP" altLang="en-US" sz="1500" b="1" dirty="0">
                <a:solidFill>
                  <a:srgbClr val="FFFFFF"/>
                </a:solidFill>
                <a:latin typeface="BIZ UDPGothic"/>
                <a:ea typeface="BIZ UDPGothic"/>
                <a:cs typeface="BIZ UDPGothic"/>
              </a:rPr>
              <a:t>担当：実装</a:t>
            </a:r>
            <a:endParaRPr lang="ja-JP" sz="1500"/>
          </a:p>
          <a:p>
            <a:pPr algn="l"/>
            <a:r>
              <a:rPr lang="ja-JP" altLang="en-US" sz="1200" b="0" dirty="0">
                <a:solidFill>
                  <a:srgbClr val="FFFFFF"/>
                </a:solidFill>
                <a:latin typeface="BIZ UDPGothic"/>
                <a:ea typeface="BIZ UDPGothic"/>
                <a:cs typeface="BIZ UDPGothic"/>
              </a:rPr>
              <a:t>コードを書く・動かす</a:t>
            </a:r>
            <a:endParaRPr lang="ja-JP" sz="1200"/>
          </a:p>
        </p:txBody>
      </p:sp>
      <p:sp>
        <p:nvSpPr>
          <p:cNvPr id="16" name="Arrow to AI"/>
          <p:cNvSpPr/>
          <p:nvPr/>
        </p:nvSpPr>
        <p:spPr>
          <a:xfrm>
            <a:off x="3291840" y="2331720"/>
            <a:ext cx="914400" cy="365760"/>
          </a:xfrm>
          <a:prstGeom prst="leftArrow">
            <a:avLst/>
          </a:prstGeom>
          <a:solidFill>
            <a:srgbClr val="F28C28"/>
          </a:solidFill>
          <a:ln>
            <a:noFill/>
          </a:ln>
        </p:spPr>
      </p:sp>
      <p:sp>
        <p:nvSpPr>
          <p:cNvPr id="17" name="Arrow to AI label"/>
          <p:cNvSpPr/>
          <p:nvPr/>
        </p:nvSpPr>
        <p:spPr>
          <a:xfrm>
            <a:off x="3200400" y="1965960"/>
            <a:ext cx="1097280" cy="320040"/>
          </a:xfrm>
          <a:prstGeom prst="rect">
            <a:avLst/>
          </a:prstGeom>
          <a:noFill/>
          <a:ln>
            <a:noFill/>
          </a:ln>
        </p:spPr>
        <p:txBody>
          <a:bodyPr wrap="square" lIns="0" tIns="0" rIns="0" bIns="0" anchor="ctr" rtlCol="0">
            <a:noAutofit/>
          </a:bodyPr>
          <a:lstStyle/>
          <a:p>
            <a:pPr algn="ctr"/>
            <a:r>
              <a:rPr lang="ja-JP" altLang="en-US" sz="1100" b="1" dirty="0">
                <a:solidFill>
                  <a:srgbClr val="1F3A5F"/>
                </a:solidFill>
                <a:latin typeface="BIZ UDPGothic"/>
                <a:ea typeface="BIZ UDPGothic"/>
                <a:cs typeface="BIZ UDPGothic"/>
              </a:rPr>
              <a:t>短い指示</a:t>
            </a:r>
            <a:endParaRPr lang="ja-JP" sz="1100"/>
          </a:p>
        </p:txBody>
      </p:sp>
      <p:sp>
        <p:nvSpPr>
          <p:cNvPr id="18" name="Arrow to me"/>
          <p:cNvSpPr/>
          <p:nvPr/>
        </p:nvSpPr>
        <p:spPr>
          <a:xfrm>
            <a:off x="3291840" y="3154680"/>
            <a:ext cx="914400" cy="365760"/>
          </a:xfrm>
          <a:prstGeom prst="rightArrow">
            <a:avLst/>
          </a:prstGeom>
          <a:solidFill>
            <a:srgbClr val="1F3A5F"/>
          </a:solidFill>
          <a:ln>
            <a:noFill/>
          </a:ln>
        </p:spPr>
      </p:sp>
      <p:sp>
        <p:nvSpPr>
          <p:cNvPr id="19" name="Arrow to me label"/>
          <p:cNvSpPr/>
          <p:nvPr/>
        </p:nvSpPr>
        <p:spPr>
          <a:xfrm>
            <a:off x="3200400" y="3566160"/>
            <a:ext cx="1097280" cy="320040"/>
          </a:xfrm>
          <a:prstGeom prst="rect">
            <a:avLst/>
          </a:prstGeom>
          <a:noFill/>
          <a:ln>
            <a:noFill/>
          </a:ln>
        </p:spPr>
        <p:txBody>
          <a:bodyPr wrap="square" lIns="0" tIns="0" rIns="0" bIns="0" anchor="ctr" rtlCol="0">
            <a:noAutofit/>
          </a:bodyPr>
          <a:lstStyle/>
          <a:p>
            <a:pPr algn="ctr"/>
            <a:r>
              <a:rPr lang="ja-JP" altLang="en-US" sz="1100" b="1" dirty="0">
                <a:solidFill>
                  <a:srgbClr val="1F3A5F"/>
                </a:solidFill>
                <a:latin typeface="BIZ UDPGothic"/>
                <a:ea typeface="BIZ UDPGothic"/>
                <a:cs typeface="BIZ UDPGothic"/>
              </a:rPr>
              <a:t>結果・選択肢</a:t>
            </a:r>
            <a:endParaRPr lang="ja-JP" sz="1100"/>
          </a:p>
        </p:txBody>
      </p:sp>
      <p:sp>
        <p:nvSpPr>
          <p:cNvPr id="20" name="Role me"/>
          <p:cNvSpPr/>
          <p:nvPr/>
        </p:nvSpPr>
        <p:spPr>
          <a:xfrm>
            <a:off x="4297680" y="1874520"/>
            <a:ext cx="2377440" cy="2148840"/>
          </a:xfrm>
          <a:prstGeom prst="rect">
            <a:avLst/>
          </a:prstGeom>
          <a:solidFill>
            <a:srgbClr val="F3F5F8"/>
          </a:solidFill>
          <a:ln w="19050">
            <a:solidFill>
              <a:srgbClr val="1F3A5F"/>
            </a:solidFill>
          </a:ln>
        </p:spPr>
      </p:sp>
      <p:sp>
        <p:nvSpPr>
          <p:cNvPr id="21" name="Role me tag"/>
          <p:cNvSpPr/>
          <p:nvPr/>
        </p:nvSpPr>
        <p:spPr>
          <a:xfrm>
            <a:off x="4480560" y="2011680"/>
            <a:ext cx="822960" cy="292608"/>
          </a:xfrm>
          <a:prstGeom prst="roundRect">
            <a:avLst/>
          </a:prstGeom>
          <a:solidFill>
            <a:srgbClr val="1F3A5F"/>
          </a:solidFill>
          <a:ln>
            <a:noFill/>
          </a:ln>
        </p:spPr>
        <p:txBody>
          <a:bodyPr wrap="square" lIns="0" tIns="0" rIns="0" bIns="0" anchor="ctr" rtlCol="0">
            <a:noAutofit/>
          </a:bodyPr>
          <a:lstStyle/>
          <a:p>
            <a:pPr algn="ctr"/>
            <a:r>
              <a:rPr lang="ja-JP" altLang="en-US" sz="1100" b="1" dirty="0">
                <a:solidFill>
                  <a:srgbClr val="FFFFFF"/>
                </a:solidFill>
                <a:latin typeface="BIZ UDPGothic"/>
                <a:ea typeface="BIZ UDPGothic"/>
                <a:cs typeface="BIZ UDPGothic"/>
              </a:rPr>
              <a:t>自分</a:t>
            </a:r>
            <a:endParaRPr lang="ja-JP" sz="1100"/>
          </a:p>
        </p:txBody>
      </p:sp>
      <p:sp>
        <p:nvSpPr>
          <p:cNvPr id="22" name="Role me name"/>
          <p:cNvSpPr/>
          <p:nvPr/>
        </p:nvSpPr>
        <p:spPr>
          <a:xfrm>
            <a:off x="4480560" y="2395728"/>
            <a:ext cx="2103120" cy="685800"/>
          </a:xfrm>
          <a:prstGeom prst="rect">
            <a:avLst/>
          </a:prstGeom>
          <a:noFill/>
          <a:ln>
            <a:noFill/>
          </a:ln>
        </p:spPr>
        <p:txBody>
          <a:bodyPr wrap="square" lIns="0" tIns="0" rIns="0" bIns="0" anchor="t" rtlCol="0">
            <a:noAutofit/>
          </a:bodyPr>
          <a:lstStyle/>
          <a:p>
            <a:pPr algn="l">
              <a:lnSpc>
                <a:spcPct val="100000"/>
              </a:lnSpc>
            </a:pPr>
            <a:r>
              <a:rPr lang="ja-JP" altLang="en-US" sz="1700" b="1" dirty="0">
                <a:solidFill>
                  <a:srgbClr val="1F3A5F"/>
                </a:solidFill>
                <a:latin typeface="BIZ UDPGothic"/>
                <a:ea typeface="BIZ UDPGothic"/>
                <a:cs typeface="BIZ UDPGothic"/>
              </a:rPr>
              <a:t>レビュー</a:t>
            </a:r>
            <a:endParaRPr lang="ja-JP" sz="1700"/>
          </a:p>
          <a:p>
            <a:pPr algn="l">
              <a:lnSpc>
                <a:spcPct val="100000"/>
              </a:lnSpc>
            </a:pPr>
            <a:r>
              <a:rPr lang="ja-JP" altLang="en-US" sz="1700" b="1" dirty="0">
                <a:solidFill>
                  <a:srgbClr val="1F3A5F"/>
                </a:solidFill>
                <a:latin typeface="BIZ UDPGothic"/>
                <a:ea typeface="BIZ UDPGothic"/>
                <a:cs typeface="BIZ UDPGothic"/>
              </a:rPr>
              <a:t>方向決め</a:t>
            </a:r>
            <a:endParaRPr lang="ja-JP" sz="1700"/>
          </a:p>
        </p:txBody>
      </p:sp>
      <p:sp>
        <p:nvSpPr>
          <p:cNvPr id="23" name="Role me rule"/>
          <p:cNvSpPr/>
          <p:nvPr/>
        </p:nvSpPr>
        <p:spPr>
          <a:xfrm>
            <a:off x="4480560" y="3246120"/>
            <a:ext cx="2011680" cy="9144"/>
          </a:xfrm>
          <a:prstGeom prst="rect">
            <a:avLst/>
          </a:prstGeom>
          <a:solidFill>
            <a:srgbClr val="F28C28"/>
          </a:solidFill>
          <a:ln>
            <a:noFill/>
          </a:ln>
        </p:spPr>
      </p:sp>
      <p:sp>
        <p:nvSpPr>
          <p:cNvPr id="24" name="Role me job"/>
          <p:cNvSpPr/>
          <p:nvPr/>
        </p:nvSpPr>
        <p:spPr>
          <a:xfrm>
            <a:off x="4480560" y="3319272"/>
            <a:ext cx="2103120" cy="640080"/>
          </a:xfrm>
          <a:prstGeom prst="rect">
            <a:avLst/>
          </a:prstGeom>
          <a:noFill/>
          <a:ln>
            <a:noFill/>
          </a:ln>
        </p:spPr>
        <p:txBody>
          <a:bodyPr wrap="square" lIns="0" tIns="0" rIns="0" bIns="0" anchor="t" rtlCol="0">
            <a:noAutofit/>
          </a:bodyPr>
          <a:lstStyle/>
          <a:p>
            <a:pPr algn="l"/>
            <a:r>
              <a:rPr lang="ja-JP" altLang="en-US" sz="1500" b="1" dirty="0">
                <a:solidFill>
                  <a:srgbClr val="1F3A5F"/>
                </a:solidFill>
                <a:latin typeface="BIZ UDPGothic"/>
                <a:ea typeface="BIZ UDPGothic"/>
                <a:cs typeface="BIZ UDPGothic"/>
              </a:rPr>
              <a:t>担当：判断</a:t>
            </a:r>
            <a:endParaRPr lang="ja-JP" sz="1500"/>
          </a:p>
          <a:p>
            <a:pPr algn="l"/>
            <a:r>
              <a:rPr lang="ja-JP" altLang="en-US" sz="1200" b="0" dirty="0">
                <a:solidFill>
                  <a:srgbClr val="222222"/>
                </a:solidFill>
                <a:latin typeface="BIZ UDPGothic"/>
                <a:ea typeface="BIZ UDPGothic"/>
                <a:cs typeface="BIZ UDPGothic"/>
              </a:rPr>
              <a:t>何を作るか・OKかを決める</a:t>
            </a:r>
            <a:endParaRPr lang="ja-JP" sz="1200"/>
          </a:p>
        </p:txBody>
      </p:sp>
      <p:sp>
        <p:nvSpPr>
          <p:cNvPr id="25" name="Howto head"/>
          <p:cNvSpPr/>
          <p:nvPr/>
        </p:nvSpPr>
        <p:spPr>
          <a:xfrm>
            <a:off x="548640" y="4206240"/>
            <a:ext cx="6126480" cy="384048"/>
          </a:xfrm>
          <a:prstGeom prst="rect">
            <a:avLst/>
          </a:prstGeom>
          <a:solidFill>
            <a:srgbClr val="1F3A5F"/>
          </a:solidFill>
          <a:ln>
            <a:noFill/>
          </a:ln>
        </p:spPr>
        <p:txBody>
          <a:bodyPr wrap="square" lIns="182880" tIns="0" rIns="182880" bIns="0" anchor="ctr" rtlCol="0">
            <a:noAutofit/>
          </a:bodyPr>
          <a:lstStyle/>
          <a:p>
            <a:pPr algn="l"/>
            <a:r>
              <a:rPr lang="ja-JP" altLang="en-US" sz="1400" b="1" dirty="0">
                <a:solidFill>
                  <a:srgbClr val="FFFFFF"/>
                </a:solidFill>
                <a:latin typeface="BIZ UDPGothic"/>
                <a:ea typeface="BIZ UDPGothic"/>
                <a:cs typeface="BIZ UDPGothic"/>
              </a:rPr>
              <a:t>指示の出し方</a:t>
            </a:r>
            <a:endParaRPr lang="ja-JP" sz="1400"/>
          </a:p>
        </p:txBody>
      </p:sp>
      <p:sp>
        <p:nvSpPr>
          <p:cNvPr id="26" name="Howto box"/>
          <p:cNvSpPr/>
          <p:nvPr/>
        </p:nvSpPr>
        <p:spPr>
          <a:xfrm>
            <a:off x="548640" y="4590288"/>
            <a:ext cx="6126480" cy="1645920"/>
          </a:xfrm>
          <a:prstGeom prst="rect">
            <a:avLst/>
          </a:prstGeom>
          <a:noFill/>
          <a:ln w="12700">
            <a:solidFill>
              <a:srgbClr val="D0D7E2"/>
            </a:solidFill>
          </a:ln>
        </p:spPr>
      </p:sp>
      <p:sp>
        <p:nvSpPr>
          <p:cNvPr id="27" name="Chip 0"/>
          <p:cNvSpPr/>
          <p:nvPr/>
        </p:nvSpPr>
        <p:spPr>
          <a:xfrm>
            <a:off x="777240" y="4754880"/>
            <a:ext cx="1280160" cy="411480"/>
          </a:xfrm>
          <a:prstGeom prst="roundRect">
            <a:avLst/>
          </a:prstGeom>
          <a:solidFill>
            <a:srgbClr val="FFFFFF"/>
          </a:solidFill>
          <a:ln w="19050">
            <a:solidFill>
              <a:srgbClr val="F28C28"/>
            </a:solidFill>
          </a:ln>
        </p:spPr>
        <p:txBody>
          <a:bodyPr wrap="square" lIns="0" tIns="0" rIns="0" bIns="0" anchor="ctr" rtlCol="0">
            <a:noAutofit/>
          </a:bodyPr>
          <a:lstStyle/>
          <a:p>
            <a:pPr algn="ctr"/>
            <a:r>
              <a:rPr lang="ja-JP" altLang="en-US" sz="1500" b="1" dirty="0">
                <a:solidFill>
                  <a:srgbClr val="F28C28"/>
                </a:solidFill>
                <a:latin typeface="BIZ UDPGothic"/>
                <a:ea typeface="BIZ UDPGothic"/>
                <a:cs typeface="BIZ UDPGothic"/>
              </a:rPr>
              <a:t>「進めて」</a:t>
            </a:r>
            <a:endParaRPr lang="ja-JP" sz="1500"/>
          </a:p>
        </p:txBody>
      </p:sp>
      <p:sp>
        <p:nvSpPr>
          <p:cNvPr id="28" name="Chip 1"/>
          <p:cNvSpPr/>
          <p:nvPr/>
        </p:nvSpPr>
        <p:spPr>
          <a:xfrm>
            <a:off x="2194560" y="4754880"/>
            <a:ext cx="1280160" cy="411480"/>
          </a:xfrm>
          <a:prstGeom prst="roundRect">
            <a:avLst/>
          </a:prstGeom>
          <a:solidFill>
            <a:srgbClr val="FFFFFF"/>
          </a:solidFill>
          <a:ln w="19050">
            <a:solidFill>
              <a:srgbClr val="F28C28"/>
            </a:solidFill>
          </a:ln>
        </p:spPr>
        <p:txBody>
          <a:bodyPr wrap="square" lIns="0" tIns="0" rIns="0" bIns="0" anchor="ctr" rtlCol="0">
            <a:noAutofit/>
          </a:bodyPr>
          <a:lstStyle/>
          <a:p>
            <a:pPr algn="ctr"/>
            <a:r>
              <a:rPr lang="ja-JP" altLang="en-US" sz="1500" b="1" dirty="0">
                <a:solidFill>
                  <a:srgbClr val="F28C28"/>
                </a:solidFill>
                <a:latin typeface="BIZ UDPGothic"/>
                <a:ea typeface="BIZ UDPGothic"/>
                <a:cs typeface="BIZ UDPGothic"/>
              </a:rPr>
              <a:t>「はい」</a:t>
            </a:r>
            <a:endParaRPr lang="ja-JP" sz="1500"/>
          </a:p>
        </p:txBody>
      </p:sp>
      <p:sp>
        <p:nvSpPr>
          <p:cNvPr id="29" name="Chip note"/>
          <p:cNvSpPr/>
          <p:nvPr/>
        </p:nvSpPr>
        <p:spPr>
          <a:xfrm>
            <a:off x="3657600" y="4754880"/>
            <a:ext cx="2926080" cy="411480"/>
          </a:xfrm>
          <a:prstGeom prst="rect">
            <a:avLst/>
          </a:prstGeom>
          <a:noFill/>
          <a:ln>
            <a:noFill/>
          </a:ln>
        </p:spPr>
        <p:txBody>
          <a:bodyPr wrap="square" lIns="0" tIns="0" rIns="0" bIns="0" anchor="ctr" rtlCol="0">
            <a:noAutofit/>
          </a:bodyPr>
          <a:lstStyle/>
          <a:p>
            <a:pPr algn="l"/>
            <a:r>
              <a:rPr lang="ja-JP" altLang="en-US" sz="1300" b="1" dirty="0">
                <a:solidFill>
                  <a:srgbClr val="1F3A5F"/>
                </a:solidFill>
                <a:latin typeface="BIZ UDPGothic"/>
                <a:ea typeface="BIZ UDPGothic"/>
                <a:cs typeface="BIZ UDPGothic"/>
              </a:rPr>
              <a:t>指示は短く、ひとことで</a:t>
            </a:r>
            <a:endParaRPr lang="ja-JP" sz="1300"/>
          </a:p>
        </p:txBody>
      </p:sp>
      <p:sp>
        <p:nvSpPr>
          <p:cNvPr id="30" name="Howto body"/>
          <p:cNvSpPr/>
          <p:nvPr/>
        </p:nvSpPr>
        <p:spPr>
          <a:xfrm>
            <a:off x="777240" y="5303520"/>
            <a:ext cx="5760720" cy="868680"/>
          </a:xfrm>
          <a:prstGeom prst="rect">
            <a:avLst/>
          </a:prstGeom>
          <a:noFill/>
          <a:ln>
            <a:noFill/>
          </a:ln>
        </p:spPr>
        <p:txBody>
          <a:bodyPr wrap="square" lIns="0" tIns="0" rIns="0" bIns="0" anchor="t" rtlCol="0">
            <a:noAutofit/>
          </a:bodyPr>
          <a:lstStyle/>
          <a:p>
            <a:pPr algn="l">
              <a:lnSpc>
                <a:spcPct val="105000"/>
              </a:lnSpc>
              <a:spcAft>
                <a:spcPts val="300"/>
              </a:spcAft>
            </a:pPr>
            <a:r>
              <a:rPr lang="ja-JP" altLang="en-US" sz="1250" b="0" dirty="0">
                <a:solidFill>
                  <a:srgbClr val="222222"/>
                </a:solidFill>
                <a:latin typeface="BIZ UDPGothic"/>
                <a:ea typeface="BIZ UDPGothic"/>
                <a:cs typeface="BIZ UDPGothic"/>
              </a:rPr>
              <a:t>・AIが出す番号つきの選択肢から選ぶだけで進む</a:t>
            </a:r>
            <a:endParaRPr lang="ja-JP" sz="1250"/>
          </a:p>
          <a:p>
            <a:pPr algn="l">
              <a:lnSpc>
                <a:spcPct val="105000"/>
              </a:lnSpc>
              <a:spcAft>
                <a:spcPts val="300"/>
              </a:spcAft>
            </a:pPr>
            <a:r>
              <a:rPr lang="ja-JP" altLang="en-US" sz="1250" b="0" dirty="0">
                <a:solidFill>
                  <a:srgbClr val="222222"/>
                </a:solidFill>
                <a:latin typeface="BIZ UDPGothic"/>
                <a:ea typeface="BIZ UDPGothic"/>
                <a:cs typeface="BIZ UDPGothic"/>
              </a:rPr>
              <a:t>・細かい実装はAIに任せ、自分は結果を見て判断する</a:t>
            </a:r>
            <a:endParaRPr lang="ja-JP" sz="1250"/>
          </a:p>
        </p:txBody>
      </p:sp>
      <p:pic>
        <p:nvPicPr>
          <p:cNvPr id="31" name="Illust ai dev" descr="AIと開発するイラスト"/>
          <p:cNvPicPr>
            <a:picLocks noChangeAspect="1"/>
          </p:cNvPicPr>
          <p:nvPr/>
        </p:nvPicPr>
        <p:blipFill>
          <a:blip r:embed="rIdG4Img1"/>
          <a:stretch>
            <a:fillRect/>
          </a:stretch>
        </p:blipFill>
        <p:spPr>
          <a:xfrm>
            <a:off x="6949440" y="1874520"/>
            <a:ext cx="4693615" cy="2640159"/>
          </a:xfrm>
          <a:prstGeom prst="rect">
            <a:avLst/>
          </a:prstGeom>
          <a:ln w="9525">
            <a:solidFill>
              <a:srgbClr val="D0D7E2"/>
            </a:solidFill>
          </a:ln>
        </p:spPr>
      </p:pic>
      <p:sp>
        <p:nvSpPr>
          <p:cNvPr id="32" name="TL before"/>
          <p:cNvSpPr/>
          <p:nvPr/>
        </p:nvSpPr>
        <p:spPr>
          <a:xfrm>
            <a:off x="6949440" y="4697559"/>
            <a:ext cx="2103120" cy="1508760"/>
          </a:xfrm>
          <a:prstGeom prst="rect">
            <a:avLst/>
          </a:prstGeom>
          <a:solidFill>
            <a:srgbClr val="F3F5F8"/>
          </a:solidFill>
          <a:ln>
            <a:noFill/>
          </a:ln>
        </p:spPr>
      </p:sp>
      <p:sp>
        <p:nvSpPr>
          <p:cNvPr id="33" name="TL before t"/>
          <p:cNvSpPr/>
          <p:nvPr/>
        </p:nvSpPr>
        <p:spPr>
          <a:xfrm>
            <a:off x="7086600" y="4807287"/>
            <a:ext cx="1828800" cy="1325880"/>
          </a:xfrm>
          <a:prstGeom prst="rect">
            <a:avLst/>
          </a:prstGeom>
          <a:noFill/>
          <a:ln>
            <a:noFill/>
          </a:ln>
        </p:spPr>
        <p:txBody>
          <a:bodyPr wrap="square" lIns="0" tIns="0" rIns="0" bIns="0" anchor="t" rtlCol="0">
            <a:noAutofit/>
          </a:bodyPr>
          <a:lstStyle/>
          <a:p>
            <a:pPr algn="l"/>
            <a:r>
              <a:rPr lang="ja-JP" altLang="en-US" sz="1100" b="1" dirty="0">
                <a:solidFill>
                  <a:srgbClr val="666666"/>
                </a:solidFill>
                <a:latin typeface="BIZ UDPGothic"/>
                <a:ea typeface="BIZ UDPGothic"/>
                <a:cs typeface="BIZ UDPGothic"/>
              </a:rPr>
              <a:t>これまで</a:t>
            </a:r>
            <a:endParaRPr lang="ja-JP" sz="1100"/>
          </a:p>
          <a:p>
            <a:pPr algn="l"/>
            <a:r>
              <a:rPr lang="ja-JP" altLang="en-US" sz="2000" b="1" dirty="0">
                <a:solidFill>
                  <a:srgbClr val="1F3A5F"/>
                </a:solidFill>
                <a:latin typeface="BIZ UDPGothic"/>
                <a:ea typeface="BIZ UDPGothic"/>
                <a:cs typeface="BIZ UDPGothic"/>
              </a:rPr>
              <a:t>学ぶ</a:t>
            </a:r>
            <a:endParaRPr lang="ja-JP" sz="2000"/>
          </a:p>
          <a:p>
            <a:pPr algn="l">
              <a:lnSpc>
                <a:spcPct val="100000"/>
              </a:lnSpc>
            </a:pPr>
            <a:r>
              <a:rPr lang="ja-JP" altLang="en-US" sz="1150" b="0" dirty="0">
                <a:solidFill>
                  <a:srgbClr val="222222"/>
                </a:solidFill>
                <a:latin typeface="BIZ UDPGothic"/>
                <a:ea typeface="BIZ UDPGothic"/>
                <a:cs typeface="BIZ UDPGothic"/>
              </a:rPr>
              <a:t>自分で書き、AIに聞く</a:t>
            </a:r>
            <a:endParaRPr lang="ja-JP" sz="1150"/>
          </a:p>
        </p:txBody>
      </p:sp>
      <p:sp>
        <p:nvSpPr>
          <p:cNvPr id="34" name="TL arrow"/>
          <p:cNvSpPr/>
          <p:nvPr/>
        </p:nvSpPr>
        <p:spPr>
          <a:xfrm>
            <a:off x="9125712" y="5246199"/>
            <a:ext cx="347472" cy="411480"/>
          </a:xfrm>
          <a:prstGeom prst="rightArrow">
            <a:avLst/>
          </a:prstGeom>
          <a:solidFill>
            <a:srgbClr val="F28C28"/>
          </a:solidFill>
          <a:ln>
            <a:noFill/>
          </a:ln>
        </p:spPr>
      </p:sp>
      <p:sp>
        <p:nvSpPr>
          <p:cNvPr id="35" name="TL after"/>
          <p:cNvSpPr/>
          <p:nvPr/>
        </p:nvSpPr>
        <p:spPr>
          <a:xfrm>
            <a:off x="9539935" y="4697559"/>
            <a:ext cx="2103120" cy="1508760"/>
          </a:xfrm>
          <a:prstGeom prst="rect">
            <a:avLst/>
          </a:prstGeom>
          <a:solidFill>
            <a:srgbClr val="1F3A5F"/>
          </a:solidFill>
          <a:ln>
            <a:noFill/>
          </a:ln>
        </p:spPr>
      </p:sp>
      <p:sp>
        <p:nvSpPr>
          <p:cNvPr id="36" name="TL after t"/>
          <p:cNvSpPr/>
          <p:nvPr/>
        </p:nvSpPr>
        <p:spPr>
          <a:xfrm>
            <a:off x="9677095" y="4807287"/>
            <a:ext cx="1828800" cy="1325880"/>
          </a:xfrm>
          <a:prstGeom prst="rect">
            <a:avLst/>
          </a:prstGeom>
          <a:noFill/>
          <a:ln>
            <a:noFill/>
          </a:ln>
        </p:spPr>
        <p:txBody>
          <a:bodyPr wrap="square" lIns="0" tIns="0" rIns="0" bIns="0" anchor="t" rtlCol="0">
            <a:noAutofit/>
          </a:bodyPr>
          <a:lstStyle/>
          <a:p>
            <a:pPr algn="l"/>
            <a:r>
              <a:rPr lang="ja-JP" altLang="en-US" sz="1100" b="1" dirty="0">
                <a:solidFill>
                  <a:srgbClr val="F28C28"/>
                </a:solidFill>
                <a:latin typeface="BIZ UDPGothic"/>
                <a:ea typeface="BIZ UDPGothic"/>
                <a:cs typeface="BIZ UDPGothic"/>
              </a:rPr>
              <a:t>2026年8月ごろから</a:t>
            </a:r>
            <a:endParaRPr lang="ja-JP" sz="1100"/>
          </a:p>
          <a:p>
            <a:pPr algn="l"/>
            <a:r>
              <a:rPr lang="ja-JP" altLang="en-US" sz="2000" b="1" dirty="0">
                <a:solidFill>
                  <a:srgbClr val="FFFFFF"/>
                </a:solidFill>
                <a:latin typeface="BIZ UDPGothic"/>
                <a:ea typeface="BIZ UDPGothic"/>
                <a:cs typeface="BIZ UDPGothic"/>
              </a:rPr>
              <a:t>任せる</a:t>
            </a:r>
            <a:endParaRPr lang="ja-JP" sz="2000"/>
          </a:p>
          <a:p>
            <a:pPr algn="l">
              <a:lnSpc>
                <a:spcPct val="100000"/>
              </a:lnSpc>
            </a:pPr>
            <a:r>
              <a:rPr lang="ja-JP" altLang="en-US" sz="1150" b="0" dirty="0">
                <a:solidFill>
                  <a:srgbClr val="FFFFFF"/>
                </a:solidFill>
                <a:latin typeface="BIZ UDPGothic"/>
                <a:ea typeface="BIZ UDPGothic"/>
                <a:cs typeface="BIZ UDPGothic"/>
              </a:rPr>
              <a:t>AIが実装、自分はレビュー</a:t>
            </a:r>
            <a:endParaRPr lang="ja-JP" sz="11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genda">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FFFFF"/>
                </a:solidFill>
                <a:latin typeface="BIZ UDPGothic"/>
                <a:ea typeface="BIZ UDPGothic"/>
                <a:cs typeface="BIZ UDPGothic"/>
              </a:rPr>
              <a:t>今日話すこと</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今日のテーマは2つ。出身地の敦賀と、Grok BotとAIに任せる開発の話です</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2 / 14</a:t>
            </a:r>
            <a:endParaRPr lang="ja-JP" sz="1000"/>
          </a:p>
        </p:txBody>
      </p:sp>
      <p:sp>
        <p:nvSpPr>
          <p:cNvPr id="11" name="Theme card 0"/>
          <p:cNvSpPr/>
          <p:nvPr/>
        </p:nvSpPr>
        <p:spPr>
          <a:xfrm>
            <a:off x="548640" y="1874520"/>
            <a:ext cx="5440680" cy="3657600"/>
          </a:xfrm>
          <a:prstGeom prst="rect">
            <a:avLst/>
          </a:prstGeom>
          <a:solidFill>
            <a:srgbClr val="F3F5F8"/>
          </a:solidFill>
          <a:ln>
            <a:noFill/>
          </a:ln>
        </p:spPr>
      </p:sp>
      <p:sp>
        <p:nvSpPr>
          <p:cNvPr id="12" name="Theme top 0"/>
          <p:cNvSpPr/>
          <p:nvPr/>
        </p:nvSpPr>
        <p:spPr>
          <a:xfrm>
            <a:off x="548640" y="1874520"/>
            <a:ext cx="5440680" cy="73152"/>
          </a:xfrm>
          <a:prstGeom prst="rect">
            <a:avLst/>
          </a:prstGeom>
          <a:solidFill>
            <a:srgbClr val="1F3A5F"/>
          </a:solidFill>
          <a:ln>
            <a:noFill/>
          </a:ln>
        </p:spPr>
      </p:sp>
      <p:pic>
        <p:nvPicPr>
          <p:cNvPr id="13" name="Photo kehi_matsubara_user.jpg" descr="気比の松原"/>
          <p:cNvPicPr>
            <a:picLocks noChangeAspect="1"/>
          </p:cNvPicPr>
          <p:nvPr/>
        </p:nvPicPr>
        <p:blipFill>
          <a:blip r:embed="rIdAg0"/>
          <a:srcRect l="0" t="39" r="0" b="39"/>
          <a:stretch>
            <a:fillRect/>
          </a:stretch>
        </p:blipFill>
        <p:spPr>
          <a:xfrm>
            <a:off x="822960" y="2194560"/>
            <a:ext cx="2194560" cy="1463040"/>
          </a:xfrm>
          <a:prstGeom prst="rect">
            <a:avLst/>
          </a:prstGeom>
        </p:spPr>
      </p:pic>
      <p:sp>
        <p:nvSpPr>
          <p:cNvPr id="14" name="Theme num 0"/>
          <p:cNvSpPr/>
          <p:nvPr/>
        </p:nvSpPr>
        <p:spPr>
          <a:xfrm>
            <a:off x="3246120" y="2148840"/>
            <a:ext cx="914400" cy="566928"/>
          </a:xfrm>
          <a:prstGeom prst="rect">
            <a:avLst/>
          </a:prstGeom>
          <a:noFill/>
          <a:ln>
            <a:noFill/>
          </a:ln>
        </p:spPr>
        <p:txBody>
          <a:bodyPr wrap="square" lIns="0" tIns="0" rIns="0" bIns="0" anchor="t" rtlCol="0">
            <a:noAutofit/>
          </a:bodyPr>
          <a:lstStyle/>
          <a:p>
            <a:pPr algn="l"/>
            <a:r>
              <a:rPr lang="ja-JP" altLang="en-US" sz="3600" b="1" dirty="0">
                <a:solidFill>
                  <a:srgbClr val="F28C28"/>
                </a:solidFill>
                <a:latin typeface="BIZ UDPGothic"/>
                <a:ea typeface="BIZ UDPGothic"/>
                <a:cs typeface="BIZ UDPGothic"/>
              </a:rPr>
              <a:t>①</a:t>
            </a:r>
            <a:endParaRPr lang="ja-JP" sz="3600"/>
          </a:p>
        </p:txBody>
      </p:sp>
      <p:sp>
        <p:nvSpPr>
          <p:cNvPr id="15" name="Theme title 0"/>
          <p:cNvSpPr/>
          <p:nvPr/>
        </p:nvSpPr>
        <p:spPr>
          <a:xfrm>
            <a:off x="3246120" y="2743200"/>
            <a:ext cx="2560320" cy="731520"/>
          </a:xfrm>
          <a:prstGeom prst="rect">
            <a:avLst/>
          </a:prstGeom>
          <a:noFill/>
          <a:ln>
            <a:noFill/>
          </a:ln>
        </p:spPr>
        <p:txBody>
          <a:bodyPr wrap="square" lIns="0" tIns="0" rIns="0" bIns="0" anchor="ctr" rtlCol="0">
            <a:noAutofit/>
          </a:bodyPr>
          <a:lstStyle/>
          <a:p>
            <a:pPr algn="l">
              <a:lnSpc>
                <a:spcPct val="100000"/>
              </a:lnSpc>
            </a:pPr>
            <a:r>
              <a:rPr lang="ja-JP" altLang="en-US" sz="1900" b="1" dirty="0">
                <a:solidFill>
                  <a:srgbClr val="1F3A5F"/>
                </a:solidFill>
                <a:latin typeface="BIZ UDPGothic"/>
                <a:ea typeface="BIZ UDPGothic"/>
                <a:cs typeface="BIZ UDPGothic"/>
              </a:rPr>
              <a:t>出身地・敦賀</a:t>
            </a:r>
            <a:endParaRPr lang="ja-JP" sz="1900"/>
          </a:p>
        </p:txBody>
      </p:sp>
      <p:sp>
        <p:nvSpPr>
          <p:cNvPr id="16" name="Theme sub 0"/>
          <p:cNvSpPr/>
          <p:nvPr/>
        </p:nvSpPr>
        <p:spPr>
          <a:xfrm>
            <a:off x="3246120" y="3502152"/>
            <a:ext cx="2560320" cy="365760"/>
          </a:xfrm>
          <a:prstGeom prst="rect">
            <a:avLst/>
          </a:prstGeom>
          <a:noFill/>
          <a:ln>
            <a:noFill/>
          </a:ln>
        </p:spPr>
        <p:txBody>
          <a:bodyPr wrap="square" lIns="0" tIns="0" rIns="0" bIns="0" anchor="t" rtlCol="0">
            <a:noAutofit/>
          </a:bodyPr>
          <a:lstStyle/>
          <a:p>
            <a:pPr algn="l"/>
            <a:r>
              <a:rPr lang="ja-JP" altLang="en-US" sz="1250" b="0" dirty="0">
                <a:solidFill>
                  <a:srgbClr val="222222"/>
                </a:solidFill>
                <a:latin typeface="BIZ UDPGothic"/>
                <a:ea typeface="BIZ UDPGothic"/>
                <a:cs typeface="BIZ UDPGothic"/>
              </a:rPr>
              <a:t>福井県・日本海に面した港町</a:t>
            </a:r>
            <a:endParaRPr lang="ja-JP" sz="1250"/>
          </a:p>
        </p:txBody>
      </p:sp>
      <p:sp>
        <p:nvSpPr>
          <p:cNvPr id="17" name="Theme rule 0"/>
          <p:cNvSpPr/>
          <p:nvPr/>
        </p:nvSpPr>
        <p:spPr>
          <a:xfrm>
            <a:off x="822960" y="3886200"/>
            <a:ext cx="4892040" cy="18288"/>
          </a:xfrm>
          <a:prstGeom prst="rect">
            <a:avLst/>
          </a:prstGeom>
          <a:solidFill>
            <a:srgbClr val="F28C28"/>
          </a:solidFill>
          <a:ln>
            <a:noFill/>
          </a:ln>
        </p:spPr>
      </p:sp>
      <p:sp>
        <p:nvSpPr>
          <p:cNvPr id="18" name="Chip 0-0"/>
          <p:cNvSpPr/>
          <p:nvPr/>
        </p:nvSpPr>
        <p:spPr>
          <a:xfrm>
            <a:off x="822960" y="4069080"/>
            <a:ext cx="2354580" cy="384048"/>
          </a:xfrm>
          <a:prstGeom prst="roundRect">
            <a:avLst/>
          </a:prstGeom>
          <a:solidFill>
            <a:srgbClr val="FFFFFF"/>
          </a:solidFill>
          <a:ln w="12700">
            <a:solidFill>
              <a:srgbClr val="1F3A5F"/>
            </a:solidFill>
          </a:ln>
        </p:spPr>
        <p:txBody>
          <a:bodyPr wrap="square" lIns="45720" tIns="0" rIns="45720" bIns="0" anchor="ctr" rtlCol="0">
            <a:noAutofit/>
          </a:bodyPr>
          <a:lstStyle/>
          <a:p>
            <a:pPr algn="ctr"/>
            <a:r>
              <a:rPr lang="ja-JP" altLang="en-US" sz="1400" b="1" dirty="0">
                <a:solidFill>
                  <a:srgbClr val="1F3A5F"/>
                </a:solidFill>
                <a:latin typeface="BIZ UDPGothic"/>
                <a:ea typeface="BIZ UDPGothic"/>
                <a:cs typeface="BIZ UDPGothic"/>
              </a:rPr>
              <a:t>気比の松原</a:t>
            </a:r>
            <a:endParaRPr lang="ja-JP" sz="1400"/>
          </a:p>
        </p:txBody>
      </p:sp>
      <p:sp>
        <p:nvSpPr>
          <p:cNvPr id="19" name="Chip 0-1"/>
          <p:cNvSpPr/>
          <p:nvPr/>
        </p:nvSpPr>
        <p:spPr>
          <a:xfrm>
            <a:off x="3360420" y="4069080"/>
            <a:ext cx="2354580" cy="384048"/>
          </a:xfrm>
          <a:prstGeom prst="roundRect">
            <a:avLst/>
          </a:prstGeom>
          <a:solidFill>
            <a:srgbClr val="FFFFFF"/>
          </a:solidFill>
          <a:ln w="12700">
            <a:solidFill>
              <a:srgbClr val="1F3A5F"/>
            </a:solidFill>
          </a:ln>
        </p:spPr>
        <p:txBody>
          <a:bodyPr wrap="square" lIns="45720" tIns="0" rIns="45720" bIns="0" anchor="ctr" rtlCol="0">
            <a:noAutofit/>
          </a:bodyPr>
          <a:lstStyle/>
          <a:p>
            <a:pPr algn="ctr"/>
            <a:r>
              <a:rPr lang="ja-JP" altLang="en-US" sz="1400" b="1" dirty="0">
                <a:solidFill>
                  <a:srgbClr val="1F3A5F"/>
                </a:solidFill>
                <a:latin typeface="BIZ UDPGothic"/>
                <a:ea typeface="BIZ UDPGothic"/>
                <a:cs typeface="BIZ UDPGothic"/>
              </a:rPr>
              <a:t>原発</a:t>
            </a:r>
            <a:endParaRPr lang="ja-JP" sz="1400"/>
          </a:p>
        </p:txBody>
      </p:sp>
      <p:sp>
        <p:nvSpPr>
          <p:cNvPr id="20" name="Chip 0-2"/>
          <p:cNvSpPr/>
          <p:nvPr/>
        </p:nvSpPr>
        <p:spPr>
          <a:xfrm>
            <a:off x="822960" y="4544568"/>
            <a:ext cx="2354580" cy="384048"/>
          </a:xfrm>
          <a:prstGeom prst="roundRect">
            <a:avLst/>
          </a:prstGeom>
          <a:solidFill>
            <a:srgbClr val="FFFFFF"/>
          </a:solidFill>
          <a:ln w="12700">
            <a:solidFill>
              <a:srgbClr val="1F3A5F"/>
            </a:solidFill>
          </a:ln>
        </p:spPr>
        <p:txBody>
          <a:bodyPr wrap="square" lIns="45720" tIns="0" rIns="45720" bIns="0" anchor="ctr" rtlCol="0">
            <a:noAutofit/>
          </a:bodyPr>
          <a:lstStyle/>
          <a:p>
            <a:pPr algn="ctr"/>
            <a:r>
              <a:rPr lang="ja-JP" altLang="en-US" sz="1400" b="1" dirty="0">
                <a:solidFill>
                  <a:srgbClr val="1F3A5F"/>
                </a:solidFill>
                <a:latin typeface="BIZ UDPGothic"/>
                <a:ea typeface="BIZ UDPGothic"/>
                <a:cs typeface="BIZ UDPGothic"/>
              </a:rPr>
              <a:t>港・鉄道・名産</a:t>
            </a:r>
            <a:endParaRPr lang="ja-JP" sz="1400"/>
          </a:p>
        </p:txBody>
      </p:sp>
      <p:sp>
        <p:nvSpPr>
          <p:cNvPr id="21" name="Theme card 1"/>
          <p:cNvSpPr/>
          <p:nvPr/>
        </p:nvSpPr>
        <p:spPr>
          <a:xfrm>
            <a:off x="6202375" y="1874520"/>
            <a:ext cx="5440680" cy="3657600"/>
          </a:xfrm>
          <a:prstGeom prst="rect">
            <a:avLst/>
          </a:prstGeom>
          <a:solidFill>
            <a:srgbClr val="F3F5F8"/>
          </a:solidFill>
          <a:ln>
            <a:noFill/>
          </a:ln>
        </p:spPr>
      </p:sp>
      <p:sp>
        <p:nvSpPr>
          <p:cNvPr id="22" name="Theme top 1"/>
          <p:cNvSpPr/>
          <p:nvPr/>
        </p:nvSpPr>
        <p:spPr>
          <a:xfrm>
            <a:off x="6202375" y="1874520"/>
            <a:ext cx="5440680" cy="73152"/>
          </a:xfrm>
          <a:prstGeom prst="rect">
            <a:avLst/>
          </a:prstGeom>
          <a:solidFill>
            <a:srgbClr val="1F3A5F"/>
          </a:solidFill>
          <a:ln>
            <a:noFill/>
          </a:ln>
        </p:spPr>
      </p:sp>
      <p:pic>
        <p:nvPicPr>
          <p:cNvPr id="23" name="Photo illust_grokbot.jpg" descr="Grok Botのイラスト"/>
          <p:cNvPicPr>
            <a:picLocks noChangeAspect="1"/>
          </p:cNvPicPr>
          <p:nvPr/>
        </p:nvPicPr>
        <p:blipFill>
          <a:blip r:embed="rIdAg1"/>
          <a:srcRect l="7812" t="0" r="7812" b="0"/>
          <a:stretch>
            <a:fillRect/>
          </a:stretch>
        </p:blipFill>
        <p:spPr>
          <a:xfrm>
            <a:off x="6476695" y="2194560"/>
            <a:ext cx="2194560" cy="1463040"/>
          </a:xfrm>
          <a:prstGeom prst="rect">
            <a:avLst/>
          </a:prstGeom>
        </p:spPr>
      </p:pic>
      <p:sp>
        <p:nvSpPr>
          <p:cNvPr id="24" name="Theme num 1"/>
          <p:cNvSpPr/>
          <p:nvPr/>
        </p:nvSpPr>
        <p:spPr>
          <a:xfrm>
            <a:off x="8899855" y="2148840"/>
            <a:ext cx="914400" cy="566928"/>
          </a:xfrm>
          <a:prstGeom prst="rect">
            <a:avLst/>
          </a:prstGeom>
          <a:noFill/>
          <a:ln>
            <a:noFill/>
          </a:ln>
        </p:spPr>
        <p:txBody>
          <a:bodyPr wrap="square" lIns="0" tIns="0" rIns="0" bIns="0" anchor="t" rtlCol="0">
            <a:noAutofit/>
          </a:bodyPr>
          <a:lstStyle/>
          <a:p>
            <a:pPr algn="l"/>
            <a:r>
              <a:rPr lang="ja-JP" altLang="en-US" sz="3600" b="1" dirty="0">
                <a:solidFill>
                  <a:srgbClr val="F28C28"/>
                </a:solidFill>
                <a:latin typeface="BIZ UDPGothic"/>
                <a:ea typeface="BIZ UDPGothic"/>
                <a:cs typeface="BIZ UDPGothic"/>
              </a:rPr>
              <a:t>②</a:t>
            </a:r>
            <a:endParaRPr lang="ja-JP" sz="3600"/>
          </a:p>
        </p:txBody>
      </p:sp>
      <p:sp>
        <p:nvSpPr>
          <p:cNvPr id="25" name="Theme title 1"/>
          <p:cNvSpPr/>
          <p:nvPr/>
        </p:nvSpPr>
        <p:spPr>
          <a:xfrm>
            <a:off x="8899855" y="2743200"/>
            <a:ext cx="2560320" cy="731520"/>
          </a:xfrm>
          <a:prstGeom prst="rect">
            <a:avLst/>
          </a:prstGeom>
          <a:noFill/>
          <a:ln>
            <a:noFill/>
          </a:ln>
        </p:spPr>
        <p:txBody>
          <a:bodyPr wrap="square" lIns="0" tIns="0" rIns="0" bIns="0" anchor="ctr" rtlCol="0">
            <a:noAutofit/>
          </a:bodyPr>
          <a:lstStyle/>
          <a:p>
            <a:pPr algn="l">
              <a:lnSpc>
                <a:spcPct val="100000"/>
              </a:lnSpc>
            </a:pPr>
            <a:r>
              <a:rPr lang="ja-JP" altLang="en-US" sz="1900" b="1" dirty="0">
                <a:solidFill>
                  <a:srgbClr val="1F3A5F"/>
                </a:solidFill>
                <a:latin typeface="BIZ UDPGothic"/>
                <a:ea typeface="BIZ UDPGothic"/>
                <a:cs typeface="BIZ UDPGothic"/>
              </a:rPr>
              <a:t>Grok Botと、AIに任せる開発</a:t>
            </a:r>
            <a:endParaRPr lang="ja-JP" sz="1900"/>
          </a:p>
        </p:txBody>
      </p:sp>
      <p:sp>
        <p:nvSpPr>
          <p:cNvPr id="26" name="Theme sub 1"/>
          <p:cNvSpPr/>
          <p:nvPr/>
        </p:nvSpPr>
        <p:spPr>
          <a:xfrm>
            <a:off x="8899855" y="3502152"/>
            <a:ext cx="2560320" cy="365760"/>
          </a:xfrm>
          <a:prstGeom prst="rect">
            <a:avLst/>
          </a:prstGeom>
          <a:noFill/>
          <a:ln>
            <a:noFill/>
          </a:ln>
        </p:spPr>
        <p:txBody>
          <a:bodyPr wrap="square" lIns="0" tIns="0" rIns="0" bIns="0" anchor="t" rtlCol="0">
            <a:noAutofit/>
          </a:bodyPr>
          <a:lstStyle/>
          <a:p>
            <a:pPr algn="l"/>
            <a:r>
              <a:rPr lang="ja-JP" altLang="en-US" sz="1250" b="0" dirty="0">
                <a:solidFill>
                  <a:srgbClr val="222222"/>
                </a:solidFill>
                <a:latin typeface="BIZ UDPGothic"/>
                <a:ea typeface="BIZ UDPGothic"/>
                <a:cs typeface="BIZ UDPGothic"/>
              </a:rPr>
              <a:t>チャットで頼めるAIアシスタント</a:t>
            </a:r>
            <a:endParaRPr lang="ja-JP" sz="1250"/>
          </a:p>
        </p:txBody>
      </p:sp>
      <p:sp>
        <p:nvSpPr>
          <p:cNvPr id="27" name="Theme rule 1"/>
          <p:cNvSpPr/>
          <p:nvPr/>
        </p:nvSpPr>
        <p:spPr>
          <a:xfrm>
            <a:off x="6476695" y="3886200"/>
            <a:ext cx="4892040" cy="18288"/>
          </a:xfrm>
          <a:prstGeom prst="rect">
            <a:avLst/>
          </a:prstGeom>
          <a:solidFill>
            <a:srgbClr val="F28C28"/>
          </a:solidFill>
          <a:ln>
            <a:noFill/>
          </a:ln>
        </p:spPr>
      </p:sp>
      <p:sp>
        <p:nvSpPr>
          <p:cNvPr id="28" name="Chip 1-0"/>
          <p:cNvSpPr/>
          <p:nvPr/>
        </p:nvSpPr>
        <p:spPr>
          <a:xfrm>
            <a:off x="6476695" y="4069080"/>
            <a:ext cx="2354580" cy="384048"/>
          </a:xfrm>
          <a:prstGeom prst="roundRect">
            <a:avLst/>
          </a:prstGeom>
          <a:solidFill>
            <a:srgbClr val="FFFFFF"/>
          </a:solidFill>
          <a:ln w="12700">
            <a:solidFill>
              <a:srgbClr val="1F3A5F"/>
            </a:solidFill>
          </a:ln>
        </p:spPr>
        <p:txBody>
          <a:bodyPr wrap="square" lIns="45720" tIns="0" rIns="45720" bIns="0" anchor="ctr" rtlCol="0">
            <a:noAutofit/>
          </a:bodyPr>
          <a:lstStyle/>
          <a:p>
            <a:pPr algn="ctr"/>
            <a:r>
              <a:rPr lang="ja-JP" altLang="en-US" sz="1400" b="1" dirty="0">
                <a:solidFill>
                  <a:srgbClr val="1F3A5F"/>
                </a:solidFill>
                <a:latin typeface="BIZ UDPGothic"/>
                <a:ea typeface="BIZ UDPGothic"/>
                <a:cs typeface="BIZ UDPGothic"/>
              </a:rPr>
              <a:t>Grok Bot</a:t>
            </a:r>
            <a:endParaRPr lang="ja-JP" sz="1400"/>
          </a:p>
        </p:txBody>
      </p:sp>
      <p:sp>
        <p:nvSpPr>
          <p:cNvPr id="29" name="Chip 1-1"/>
          <p:cNvSpPr/>
          <p:nvPr/>
        </p:nvSpPr>
        <p:spPr>
          <a:xfrm>
            <a:off x="9014155" y="4069080"/>
            <a:ext cx="2354580" cy="384048"/>
          </a:xfrm>
          <a:prstGeom prst="roundRect">
            <a:avLst/>
          </a:prstGeom>
          <a:solidFill>
            <a:srgbClr val="FFFFFF"/>
          </a:solidFill>
          <a:ln w="12700">
            <a:solidFill>
              <a:srgbClr val="1F3A5F"/>
            </a:solidFill>
          </a:ln>
        </p:spPr>
        <p:txBody>
          <a:bodyPr wrap="square" lIns="45720" tIns="0" rIns="45720" bIns="0" anchor="ctr" rtlCol="0">
            <a:noAutofit/>
          </a:bodyPr>
          <a:lstStyle/>
          <a:p>
            <a:pPr algn="ctr"/>
            <a:r>
              <a:rPr lang="ja-JP" altLang="en-US" sz="1400" b="1" dirty="0">
                <a:solidFill>
                  <a:srgbClr val="1F3A5F"/>
                </a:solidFill>
                <a:latin typeface="BIZ UDPGothic"/>
                <a:ea typeface="BIZ UDPGothic"/>
                <a:cs typeface="BIZ UDPGothic"/>
              </a:rPr>
              <a:t>使い方</a:t>
            </a:r>
            <a:endParaRPr lang="ja-JP" sz="1400"/>
          </a:p>
        </p:txBody>
      </p:sp>
      <p:sp>
        <p:nvSpPr>
          <p:cNvPr id="30" name="Chip 1-2"/>
          <p:cNvSpPr/>
          <p:nvPr/>
        </p:nvSpPr>
        <p:spPr>
          <a:xfrm>
            <a:off x="6476695" y="4544568"/>
            <a:ext cx="2354580" cy="384048"/>
          </a:xfrm>
          <a:prstGeom prst="roundRect">
            <a:avLst/>
          </a:prstGeom>
          <a:solidFill>
            <a:srgbClr val="FFFFFF"/>
          </a:solidFill>
          <a:ln w="12700">
            <a:solidFill>
              <a:srgbClr val="1F3A5F"/>
            </a:solidFill>
          </a:ln>
        </p:spPr>
        <p:txBody>
          <a:bodyPr wrap="square" lIns="45720" tIns="0" rIns="45720" bIns="0" anchor="ctr" rtlCol="0">
            <a:noAutofit/>
          </a:bodyPr>
          <a:lstStyle/>
          <a:p>
            <a:pPr algn="ctr"/>
            <a:r>
              <a:rPr lang="ja-JP" altLang="en-US" sz="1400" b="1" dirty="0">
                <a:solidFill>
                  <a:srgbClr val="1F3A5F"/>
                </a:solidFill>
                <a:latin typeface="BIZ UDPGothic"/>
                <a:ea typeface="BIZ UDPGothic"/>
                <a:cs typeface="BIZ UDPGothic"/>
              </a:rPr>
              <a:t>開発スタイル</a:t>
            </a:r>
            <a:endParaRPr lang="ja-JP" sz="1400"/>
          </a:p>
        </p:txBody>
      </p:sp>
      <p:sp>
        <p:nvSpPr>
          <p:cNvPr id="31" name="Chip 1-3"/>
          <p:cNvSpPr/>
          <p:nvPr/>
        </p:nvSpPr>
        <p:spPr>
          <a:xfrm>
            <a:off x="9014155" y="4544568"/>
            <a:ext cx="2354580" cy="384048"/>
          </a:xfrm>
          <a:prstGeom prst="roundRect">
            <a:avLst/>
          </a:prstGeom>
          <a:solidFill>
            <a:srgbClr val="FFFFFF"/>
          </a:solidFill>
          <a:ln w="12700">
            <a:solidFill>
              <a:srgbClr val="1F3A5F"/>
            </a:solidFill>
          </a:ln>
        </p:spPr>
        <p:txBody>
          <a:bodyPr wrap="square" lIns="45720" tIns="0" rIns="45720" bIns="0" anchor="ctr" rtlCol="0">
            <a:noAutofit/>
          </a:bodyPr>
          <a:lstStyle/>
          <a:p>
            <a:pPr algn="ctr"/>
            <a:r>
              <a:rPr lang="ja-JP" altLang="en-US" sz="1400" b="1" dirty="0">
                <a:solidFill>
                  <a:srgbClr val="1F3A5F"/>
                </a:solidFill>
                <a:latin typeface="BIZ UDPGothic"/>
                <a:ea typeface="BIZ UDPGothic"/>
                <a:cs typeface="BIZ UDPGothic"/>
              </a:rPr>
              <a:t>Cloud Palette</a:t>
            </a:r>
            <a:endParaRPr lang="ja-JP" sz="1400"/>
          </a:p>
        </p:txBody>
      </p:sp>
      <p:sp>
        <p:nvSpPr>
          <p:cNvPr id="32" name="Chip 1-4"/>
          <p:cNvSpPr/>
          <p:nvPr/>
        </p:nvSpPr>
        <p:spPr>
          <a:xfrm>
            <a:off x="6476695" y="5020056"/>
            <a:ext cx="2354580" cy="384048"/>
          </a:xfrm>
          <a:prstGeom prst="roundRect">
            <a:avLst/>
          </a:prstGeom>
          <a:solidFill>
            <a:srgbClr val="FFFFFF"/>
          </a:solidFill>
          <a:ln w="12700">
            <a:solidFill>
              <a:srgbClr val="1F3A5F"/>
            </a:solidFill>
          </a:ln>
        </p:spPr>
        <p:txBody>
          <a:bodyPr wrap="square" lIns="45720" tIns="0" rIns="45720" bIns="0" anchor="ctr" rtlCol="0">
            <a:noAutofit/>
          </a:bodyPr>
          <a:lstStyle/>
          <a:p>
            <a:pPr algn="ctr"/>
            <a:r>
              <a:rPr lang="ja-JP" altLang="en-US" sz="1400" b="1" dirty="0">
                <a:solidFill>
                  <a:srgbClr val="1F3A5F"/>
                </a:solidFill>
                <a:latin typeface="BIZ UDPGothic"/>
                <a:ea typeface="BIZ UDPGothic"/>
                <a:cs typeface="BIZ UDPGothic"/>
              </a:rPr>
              <a:t>second brain</a:t>
            </a:r>
            <a:endParaRPr lang="ja-JP" sz="1400"/>
          </a:p>
        </p:txBody>
      </p:sp>
      <p:sp>
        <p:nvSpPr>
          <p:cNvPr id="33" name="Bookends"/>
          <p:cNvSpPr/>
          <p:nvPr/>
        </p:nvSpPr>
        <p:spPr>
          <a:xfrm>
            <a:off x="548640" y="5715000"/>
            <a:ext cx="11094415" cy="457200"/>
          </a:xfrm>
          <a:prstGeom prst="rect">
            <a:avLst/>
          </a:prstGeom>
          <a:noFill/>
          <a:ln w="12700">
            <a:solidFill>
              <a:srgbClr val="D0D7E2"/>
            </a:solidFill>
          </a:ln>
        </p:spPr>
        <p:txBody>
          <a:bodyPr wrap="square" lIns="91440" tIns="0" rIns="91440" bIns="0" anchor="ctr" rtlCol="0">
            <a:noAutofit/>
          </a:bodyPr>
          <a:lstStyle/>
          <a:p>
            <a:pPr algn="ctr"/>
            <a:r>
              <a:rPr lang="ja-JP" altLang="en-US" sz="1200" b="1" dirty="0">
                <a:solidFill>
                  <a:srgbClr val="F28C28"/>
                </a:solidFill>
                <a:latin typeface="BIZ UDPGothic"/>
                <a:ea typeface="BIZ UDPGothic"/>
                <a:cs typeface="BIZ UDPGothic"/>
              </a:rPr>
              <a:t>最初に</a:t>
            </a:r>
            <a:r>
              <a:rPr lang="ja-JP" altLang="en-US" sz="1300" b="1" dirty="0">
                <a:solidFill>
                  <a:srgbClr val="1F3A5F"/>
                </a:solidFill>
                <a:latin typeface="BIZ UDPGothic"/>
                <a:ea typeface="BIZ UDPGothic"/>
                <a:cs typeface="BIZ UDPGothic"/>
              </a:rPr>
              <a:t>  ざっくりプロフィール</a:t>
            </a:r>
            <a:r>
              <a:rPr lang="ja-JP" altLang="en-US" sz="1200" b="0" dirty="0">
                <a:solidFill>
                  <a:srgbClr val="666666"/>
                </a:solidFill>
                <a:latin typeface="BIZ UDPGothic"/>
                <a:ea typeface="BIZ UDPGothic"/>
                <a:cs typeface="BIZ UDPGothic"/>
              </a:rPr>
              <a:t>　　／　　</a:t>
            </a:r>
            <a:r>
              <a:rPr lang="ja-JP" altLang="en-US" sz="1200" b="1" dirty="0">
                <a:solidFill>
                  <a:srgbClr val="F28C28"/>
                </a:solidFill>
                <a:latin typeface="BIZ UDPGothic"/>
                <a:ea typeface="BIZ UDPGothic"/>
                <a:cs typeface="BIZ UDPGothic"/>
              </a:rPr>
              <a:t>最後に</a:t>
            </a:r>
            <a:r>
              <a:rPr lang="ja-JP" altLang="en-US" sz="1300" b="1" dirty="0">
                <a:solidFill>
                  <a:srgbClr val="1F3A5F"/>
                </a:solidFill>
                <a:latin typeface="BIZ UDPGothic"/>
                <a:ea typeface="BIZ UDPGothic"/>
                <a:cs typeface="BIZ UDPGothic"/>
              </a:rPr>
              <a:t>  これからやりたいこと</a:t>
            </a:r>
            <a:endParaRPr lang="ja-JP"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suruga nuclear">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28C28"/>
                </a:solidFill>
                <a:latin typeface="BIZ UDPGothic"/>
                <a:ea typeface="BIZ UDPGothic"/>
                <a:cs typeface="BIZ UDPGothic"/>
              </a:rPr>
              <a:t>①  </a:t>
            </a:r>
            <a:r>
              <a:rPr lang="ja-JP" altLang="en-US" sz="2800" b="1" dirty="0">
                <a:solidFill>
                  <a:srgbClr val="FFFFFF"/>
                </a:solidFill>
                <a:latin typeface="BIZ UDPGothic"/>
                <a:ea typeface="BIZ UDPGothic"/>
                <a:cs typeface="BIZ UDPGothic"/>
              </a:rPr>
              <a:t>敦賀と原発</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1970年に敦賀発電所1号機が運転開始。市内には「もんじゅ」や旧「ふげん」などの施設もあります</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5 / 14</a:t>
            </a:r>
            <a:endParaRPr lang="ja-JP" sz="1000"/>
          </a:p>
        </p:txBody>
      </p:sp>
      <p:pic>
        <p:nvPicPr>
          <p:cNvPr id="11" name="Photo tsuruga_nuclear_power_plant.jpg" descr="立石岬と日本原電 敦賀発電所"/>
          <p:cNvPicPr>
            <a:picLocks noChangeAspect="1"/>
          </p:cNvPicPr>
          <p:nvPr/>
        </p:nvPicPr>
        <p:blipFill>
          <a:blip r:embed="rIdG2NP"/>
          <a:srcRect l="0" t="4280" r="0" b="4280"/>
          <a:stretch>
            <a:fillRect/>
          </a:stretch>
        </p:blipFill>
        <p:spPr>
          <a:xfrm>
            <a:off x="548640" y="1874520"/>
            <a:ext cx="6675120" cy="4069080"/>
          </a:xfrm>
          <a:prstGeom prst="rect">
            <a:avLst/>
          </a:prstGeom>
        </p:spPr>
      </p:pic>
      <p:sp>
        <p:nvSpPr>
          <p:cNvPr id="12" name="Photo label"/>
          <p:cNvSpPr/>
          <p:nvPr/>
        </p:nvSpPr>
        <p:spPr>
          <a:xfrm>
            <a:off x="548640" y="5532120"/>
            <a:ext cx="3291840" cy="411480"/>
          </a:xfrm>
          <a:prstGeom prst="rect">
            <a:avLst/>
          </a:prstGeom>
          <a:solidFill>
            <a:srgbClr val="1F3A5F"/>
          </a:solidFill>
          <a:ln>
            <a:noFill/>
          </a:ln>
        </p:spPr>
        <p:txBody>
          <a:bodyPr wrap="square" lIns="137160" tIns="0" rIns="137160" bIns="0" anchor="ctr" rtlCol="0">
            <a:noAutofit/>
          </a:bodyPr>
          <a:lstStyle/>
          <a:p>
            <a:pPr algn="l"/>
            <a:r>
              <a:rPr lang="ja-JP" altLang="en-US" sz="1300" b="1" dirty="0">
                <a:solidFill>
                  <a:srgbClr val="FFFFFF"/>
                </a:solidFill>
                <a:latin typeface="BIZ UDPGothic"/>
                <a:ea typeface="BIZ UDPGothic"/>
                <a:cs typeface="BIZ UDPGothic"/>
              </a:rPr>
              <a:t>立石岬と日本原電 敦賀発電所</a:t>
            </a:r>
            <a:endParaRPr lang="ja-JP" sz="1300"/>
          </a:p>
        </p:txBody>
      </p:sp>
      <p:sp>
        <p:nvSpPr>
          <p:cNvPr id="13" name="Credit"/>
          <p:cNvSpPr/>
          <p:nvPr/>
        </p:nvSpPr>
        <p:spPr>
          <a:xfrm>
            <a:off x="548640" y="5989320"/>
            <a:ext cx="6675120" cy="274320"/>
          </a:xfrm>
          <a:prstGeom prst="rect">
            <a:avLst/>
          </a:prstGeom>
          <a:noFill/>
          <a:ln>
            <a:noFill/>
          </a:ln>
        </p:spPr>
        <p:txBody>
          <a:bodyPr wrap="square" lIns="0" tIns="18288" rIns="0" bIns="18288" anchor="t" rtlCol="0">
            <a:noAutofit/>
          </a:bodyPr>
          <a:lstStyle/>
          <a:p>
            <a:pPr algn="l">
              <a:lnSpc>
                <a:spcPct val="100000"/>
              </a:lnSpc>
            </a:pPr>
            <a:r>
              <a:rPr lang="ja-JP" altLang="en-US" sz="900" b="0" dirty="0">
                <a:solidFill>
                  <a:srgbClr val="666666"/>
                </a:solidFill>
                <a:latin typeface="BIZ UDPGothic"/>
                <a:ea typeface="BIZ UDPGothic"/>
                <a:cs typeface="BIZ UDPGothic"/>
              </a:rPr>
              <a:t>写真：立石岬と日本原電 敦賀発電所｜Alpsdake / CC BY-SA 4.0 / Wikimedia Commons</a:t>
            </a:r>
            <a:endParaRPr lang="ja-JP" sz="900"/>
          </a:p>
        </p:txBody>
      </p:sp>
      <p:sp>
        <p:nvSpPr>
          <p:cNvPr id="14" name="TL head"/>
          <p:cNvSpPr/>
          <p:nvPr/>
        </p:nvSpPr>
        <p:spPr>
          <a:xfrm>
            <a:off x="7589520" y="1874520"/>
            <a:ext cx="4053535" cy="384048"/>
          </a:xfrm>
          <a:prstGeom prst="rect">
            <a:avLst/>
          </a:prstGeom>
          <a:solidFill>
            <a:srgbClr val="1F3A5F"/>
          </a:solidFill>
          <a:ln>
            <a:noFill/>
          </a:ln>
        </p:spPr>
        <p:txBody>
          <a:bodyPr wrap="square" lIns="182880" tIns="0" rIns="182880" bIns="0" anchor="ctr" rtlCol="0">
            <a:noAutofit/>
          </a:bodyPr>
          <a:lstStyle/>
          <a:p>
            <a:pPr algn="l"/>
            <a:r>
              <a:rPr lang="ja-JP" altLang="en-US" sz="1400" b="1" dirty="0">
                <a:solidFill>
                  <a:srgbClr val="FFFFFF"/>
                </a:solidFill>
                <a:latin typeface="BIZ UDPGothic"/>
                <a:ea typeface="BIZ UDPGothic"/>
                <a:cs typeface="BIZ UDPGothic"/>
              </a:rPr>
              <a:t>敦賀と原子力のあゆみ</a:t>
            </a:r>
            <a:endParaRPr lang="ja-JP" sz="1400"/>
          </a:p>
        </p:txBody>
      </p:sp>
      <p:sp>
        <p:nvSpPr>
          <p:cNvPr id="15" name="TL line"/>
          <p:cNvSpPr/>
          <p:nvPr/>
        </p:nvSpPr>
        <p:spPr>
          <a:xfrm>
            <a:off x="7836408" y="2606040"/>
            <a:ext cx="36576" cy="2834640"/>
          </a:xfrm>
          <a:prstGeom prst="rect">
            <a:avLst/>
          </a:prstGeom>
          <a:solidFill>
            <a:srgbClr val="D0D7E2"/>
          </a:solidFill>
          <a:ln>
            <a:noFill/>
          </a:ln>
        </p:spPr>
      </p:sp>
      <p:sp>
        <p:nvSpPr>
          <p:cNvPr id="16" name="TL dot 0"/>
          <p:cNvSpPr/>
          <p:nvPr/>
        </p:nvSpPr>
        <p:spPr>
          <a:xfrm>
            <a:off x="7717536" y="2542032"/>
            <a:ext cx="274320" cy="274320"/>
          </a:xfrm>
          <a:prstGeom prst="ellipse">
            <a:avLst/>
          </a:prstGeom>
          <a:solidFill>
            <a:srgbClr val="F28C28"/>
          </a:solidFill>
          <a:ln>
            <a:noFill/>
          </a:ln>
        </p:spPr>
      </p:sp>
      <p:sp>
        <p:nvSpPr>
          <p:cNvPr id="17" name="TL when 0"/>
          <p:cNvSpPr/>
          <p:nvPr/>
        </p:nvSpPr>
        <p:spPr>
          <a:xfrm>
            <a:off x="8138160" y="2468880"/>
            <a:ext cx="3504895" cy="384048"/>
          </a:xfrm>
          <a:prstGeom prst="rect">
            <a:avLst/>
          </a:prstGeom>
          <a:noFill/>
          <a:ln>
            <a:noFill/>
          </a:ln>
        </p:spPr>
        <p:txBody>
          <a:bodyPr wrap="square" lIns="0" tIns="0" rIns="0" bIns="0" anchor="ctr" rtlCol="0">
            <a:noAutofit/>
          </a:bodyPr>
          <a:lstStyle/>
          <a:p>
            <a:pPr algn="l"/>
            <a:r>
              <a:rPr lang="ja-JP" altLang="en-US" sz="1800" b="1" dirty="0">
                <a:solidFill>
                  <a:srgbClr val="F28C28"/>
                </a:solidFill>
                <a:latin typeface="BIZ UDPGothic"/>
                <a:ea typeface="BIZ UDPGothic"/>
                <a:cs typeface="BIZ UDPGothic"/>
              </a:rPr>
              <a:t>1970年3月</a:t>
            </a:r>
            <a:endParaRPr lang="ja-JP" sz="1800"/>
          </a:p>
        </p:txBody>
      </p:sp>
      <p:sp>
        <p:nvSpPr>
          <p:cNvPr id="18" name="TL title 0"/>
          <p:cNvSpPr/>
          <p:nvPr/>
        </p:nvSpPr>
        <p:spPr>
          <a:xfrm>
            <a:off x="8138160" y="2880360"/>
            <a:ext cx="3504895" cy="347472"/>
          </a:xfrm>
          <a:prstGeom prst="rect">
            <a:avLst/>
          </a:prstGeom>
          <a:noFill/>
          <a:ln>
            <a:noFill/>
          </a:ln>
        </p:spPr>
        <p:txBody>
          <a:bodyPr wrap="square" lIns="0" tIns="0" rIns="0" bIns="0" anchor="t" rtlCol="0">
            <a:noAutofit/>
          </a:bodyPr>
          <a:lstStyle/>
          <a:p>
            <a:pPr algn="l"/>
            <a:r>
              <a:rPr lang="ja-JP" altLang="en-US" sz="1500" b="1" dirty="0">
                <a:solidFill>
                  <a:srgbClr val="1F3A5F"/>
                </a:solidFill>
                <a:latin typeface="BIZ UDPGothic"/>
                <a:ea typeface="BIZ UDPGothic"/>
                <a:cs typeface="BIZ UDPGothic"/>
              </a:rPr>
              <a:t>敦賀発電所1号機 運転開始</a:t>
            </a:r>
            <a:endParaRPr lang="ja-JP" sz="1500"/>
          </a:p>
        </p:txBody>
      </p:sp>
      <p:sp>
        <p:nvSpPr>
          <p:cNvPr id="19" name="TL sub 0"/>
          <p:cNvSpPr/>
          <p:nvPr/>
        </p:nvSpPr>
        <p:spPr>
          <a:xfrm>
            <a:off x="8138160" y="3227832"/>
            <a:ext cx="3504895" cy="457200"/>
          </a:xfrm>
          <a:prstGeom prst="rect">
            <a:avLst/>
          </a:prstGeom>
          <a:noFill/>
          <a:ln>
            <a:noFill/>
          </a:ln>
        </p:spPr>
        <p:txBody>
          <a:bodyPr wrap="square" lIns="0" tIns="0" rIns="0" bIns="0" anchor="t" rtlCol="0">
            <a:noAutofit/>
          </a:bodyPr>
          <a:lstStyle/>
          <a:p>
            <a:pPr algn="l">
              <a:lnSpc>
                <a:spcPct val="100000"/>
              </a:lnSpc>
            </a:pPr>
            <a:r>
              <a:rPr lang="ja-JP" altLang="en-US" sz="1200" b="0" dirty="0">
                <a:solidFill>
                  <a:srgbClr val="222222"/>
                </a:solidFill>
                <a:latin typeface="BIZ UDPGothic"/>
                <a:ea typeface="BIZ UDPGothic"/>
                <a:cs typeface="BIZ UDPGothic"/>
              </a:rPr>
              <a:t>日本原子力発電／沸騰水型軽水炉</a:t>
            </a:r>
            <a:endParaRPr lang="ja-JP" sz="1200"/>
          </a:p>
          <a:p>
            <a:pPr algn="l">
              <a:lnSpc>
                <a:spcPct val="100000"/>
              </a:lnSpc>
            </a:pPr>
            <a:r>
              <a:rPr lang="ja-JP" altLang="en-US" sz="1200" b="0" dirty="0">
                <a:solidFill>
                  <a:srgbClr val="222222"/>
                </a:solidFill>
                <a:latin typeface="BIZ UDPGothic"/>
                <a:ea typeface="BIZ UDPGothic"/>
                <a:cs typeface="BIZ UDPGothic"/>
              </a:rPr>
              <a:t>大阪万博の会場へ送電</a:t>
            </a:r>
            <a:endParaRPr lang="ja-JP" sz="1200"/>
          </a:p>
        </p:txBody>
      </p:sp>
      <p:sp>
        <p:nvSpPr>
          <p:cNvPr id="20" name="TL dot 1"/>
          <p:cNvSpPr/>
          <p:nvPr/>
        </p:nvSpPr>
        <p:spPr>
          <a:xfrm>
            <a:off x="7717536" y="3749040"/>
            <a:ext cx="274320" cy="274320"/>
          </a:xfrm>
          <a:prstGeom prst="ellipse">
            <a:avLst/>
          </a:prstGeom>
          <a:solidFill>
            <a:srgbClr val="1F3A5F"/>
          </a:solidFill>
          <a:ln>
            <a:noFill/>
          </a:ln>
        </p:spPr>
      </p:sp>
      <p:sp>
        <p:nvSpPr>
          <p:cNvPr id="21" name="TL when 1"/>
          <p:cNvSpPr/>
          <p:nvPr/>
        </p:nvSpPr>
        <p:spPr>
          <a:xfrm>
            <a:off x="8138160" y="3675888"/>
            <a:ext cx="3504895" cy="384048"/>
          </a:xfrm>
          <a:prstGeom prst="rect">
            <a:avLst/>
          </a:prstGeom>
          <a:noFill/>
          <a:ln>
            <a:noFill/>
          </a:ln>
        </p:spPr>
        <p:txBody>
          <a:bodyPr wrap="square" lIns="0" tIns="0" rIns="0" bIns="0" anchor="ctr" rtlCol="0">
            <a:noAutofit/>
          </a:bodyPr>
          <a:lstStyle/>
          <a:p>
            <a:pPr algn="l"/>
            <a:r>
              <a:rPr lang="ja-JP" altLang="en-US" sz="1800" b="1" dirty="0">
                <a:solidFill>
                  <a:srgbClr val="F28C28"/>
                </a:solidFill>
                <a:latin typeface="BIZ UDPGothic"/>
                <a:ea typeface="BIZ UDPGothic"/>
                <a:cs typeface="BIZ UDPGothic"/>
              </a:rPr>
              <a:t>1994年</a:t>
            </a:r>
            <a:endParaRPr lang="ja-JP" sz="1800"/>
          </a:p>
        </p:txBody>
      </p:sp>
      <p:sp>
        <p:nvSpPr>
          <p:cNvPr id="22" name="TL title 1"/>
          <p:cNvSpPr/>
          <p:nvPr/>
        </p:nvSpPr>
        <p:spPr>
          <a:xfrm>
            <a:off x="8138160" y="4087368"/>
            <a:ext cx="3504895" cy="347472"/>
          </a:xfrm>
          <a:prstGeom prst="rect">
            <a:avLst/>
          </a:prstGeom>
          <a:noFill/>
          <a:ln>
            <a:noFill/>
          </a:ln>
        </p:spPr>
        <p:txBody>
          <a:bodyPr wrap="square" lIns="0" tIns="0" rIns="0" bIns="0" anchor="t" rtlCol="0">
            <a:noAutofit/>
          </a:bodyPr>
          <a:lstStyle/>
          <a:p>
            <a:pPr algn="l"/>
            <a:r>
              <a:rPr lang="ja-JP" altLang="en-US" sz="1500" b="1" dirty="0">
                <a:solidFill>
                  <a:srgbClr val="1F3A5F"/>
                </a:solidFill>
                <a:latin typeface="BIZ UDPGothic"/>
                <a:ea typeface="BIZ UDPGothic"/>
                <a:cs typeface="BIZ UDPGothic"/>
              </a:rPr>
              <a:t>高速増殖炉「もんじゅ」初臨界</a:t>
            </a:r>
            <a:endParaRPr lang="ja-JP" sz="1500"/>
          </a:p>
        </p:txBody>
      </p:sp>
      <p:sp>
        <p:nvSpPr>
          <p:cNvPr id="23" name="TL sub 1"/>
          <p:cNvSpPr/>
          <p:nvPr/>
        </p:nvSpPr>
        <p:spPr>
          <a:xfrm>
            <a:off x="8138160" y="4434840"/>
            <a:ext cx="3504895" cy="457200"/>
          </a:xfrm>
          <a:prstGeom prst="rect">
            <a:avLst/>
          </a:prstGeom>
          <a:noFill/>
          <a:ln>
            <a:noFill/>
          </a:ln>
        </p:spPr>
        <p:txBody>
          <a:bodyPr wrap="square" lIns="0" tIns="0" rIns="0" bIns="0" anchor="t" rtlCol="0">
            <a:noAutofit/>
          </a:bodyPr>
          <a:lstStyle/>
          <a:p>
            <a:pPr algn="l">
              <a:lnSpc>
                <a:spcPct val="100000"/>
              </a:lnSpc>
            </a:pPr>
            <a:r>
              <a:rPr lang="ja-JP" altLang="en-US" sz="1200" b="0" dirty="0">
                <a:solidFill>
                  <a:srgbClr val="222222"/>
                </a:solidFill>
                <a:latin typeface="BIZ UDPGothic"/>
                <a:ea typeface="BIZ UDPGothic"/>
                <a:cs typeface="BIZ UDPGothic"/>
              </a:rPr>
              <a:t>敦賀市内にある施設</a:t>
            </a:r>
            <a:endParaRPr lang="ja-JP" sz="1200"/>
          </a:p>
        </p:txBody>
      </p:sp>
      <p:sp>
        <p:nvSpPr>
          <p:cNvPr id="24" name="TL dot 2"/>
          <p:cNvSpPr/>
          <p:nvPr/>
        </p:nvSpPr>
        <p:spPr>
          <a:xfrm>
            <a:off x="7717536" y="4956048"/>
            <a:ext cx="274320" cy="274320"/>
          </a:xfrm>
          <a:prstGeom prst="ellipse">
            <a:avLst/>
          </a:prstGeom>
          <a:solidFill>
            <a:srgbClr val="1F3A5F"/>
          </a:solidFill>
          <a:ln>
            <a:noFill/>
          </a:ln>
        </p:spPr>
      </p:sp>
      <p:sp>
        <p:nvSpPr>
          <p:cNvPr id="25" name="TL when 2"/>
          <p:cNvSpPr/>
          <p:nvPr/>
        </p:nvSpPr>
        <p:spPr>
          <a:xfrm>
            <a:off x="8138160" y="4882896"/>
            <a:ext cx="3504895" cy="384048"/>
          </a:xfrm>
          <a:prstGeom prst="rect">
            <a:avLst/>
          </a:prstGeom>
          <a:noFill/>
          <a:ln>
            <a:noFill/>
          </a:ln>
        </p:spPr>
        <p:txBody>
          <a:bodyPr wrap="square" lIns="0" tIns="0" rIns="0" bIns="0" anchor="ctr" rtlCol="0">
            <a:noAutofit/>
          </a:bodyPr>
          <a:lstStyle/>
          <a:p>
            <a:pPr algn="l"/>
            <a:r>
              <a:rPr lang="ja-JP" altLang="en-US" sz="1800" b="1" dirty="0">
                <a:solidFill>
                  <a:srgbClr val="F28C28"/>
                </a:solidFill>
                <a:latin typeface="BIZ UDPGothic"/>
                <a:ea typeface="BIZ UDPGothic"/>
                <a:cs typeface="BIZ UDPGothic"/>
              </a:rPr>
              <a:t>ほかにも</a:t>
            </a:r>
            <a:endParaRPr lang="ja-JP" sz="1800"/>
          </a:p>
        </p:txBody>
      </p:sp>
      <p:sp>
        <p:nvSpPr>
          <p:cNvPr id="26" name="TL title 2"/>
          <p:cNvSpPr/>
          <p:nvPr/>
        </p:nvSpPr>
        <p:spPr>
          <a:xfrm>
            <a:off x="8138160" y="5294376"/>
            <a:ext cx="3504895" cy="347472"/>
          </a:xfrm>
          <a:prstGeom prst="rect">
            <a:avLst/>
          </a:prstGeom>
          <a:noFill/>
          <a:ln>
            <a:noFill/>
          </a:ln>
        </p:spPr>
        <p:txBody>
          <a:bodyPr wrap="square" lIns="0" tIns="0" rIns="0" bIns="0" anchor="t" rtlCol="0">
            <a:noAutofit/>
          </a:bodyPr>
          <a:lstStyle/>
          <a:p>
            <a:pPr algn="l"/>
            <a:r>
              <a:rPr lang="ja-JP" altLang="en-US" sz="1500" b="1" dirty="0">
                <a:solidFill>
                  <a:srgbClr val="1F3A5F"/>
                </a:solidFill>
                <a:latin typeface="BIZ UDPGothic"/>
                <a:ea typeface="BIZ UDPGothic"/>
                <a:cs typeface="BIZ UDPGothic"/>
              </a:rPr>
              <a:t>旧「ふげん」などの施設も</a:t>
            </a:r>
            <a:endParaRPr lang="ja-JP" sz="1500"/>
          </a:p>
        </p:txBody>
      </p:sp>
      <p:sp>
        <p:nvSpPr>
          <p:cNvPr id="27" name="Source note"/>
          <p:cNvSpPr/>
          <p:nvPr/>
        </p:nvSpPr>
        <p:spPr>
          <a:xfrm>
            <a:off x="7589520" y="6035040"/>
            <a:ext cx="4053535" cy="228600"/>
          </a:xfrm>
          <a:prstGeom prst="rect">
            <a:avLst/>
          </a:prstGeom>
          <a:noFill/>
          <a:ln>
            <a:noFill/>
          </a:ln>
        </p:spPr>
        <p:txBody>
          <a:bodyPr wrap="square" lIns="0" tIns="0" rIns="0" bIns="0" anchor="t" rtlCol="0">
            <a:noAutofit/>
          </a:bodyPr>
          <a:lstStyle/>
          <a:p>
            <a:pPr algn="r"/>
            <a:r>
              <a:rPr lang="ja-JP" altLang="en-US" sz="900" b="0" dirty="0">
                <a:solidFill>
                  <a:srgbClr val="666666"/>
                </a:solidFill>
                <a:latin typeface="BIZ UDPGothic"/>
                <a:ea typeface="BIZ UDPGothic"/>
                <a:cs typeface="BIZ UDPGothic"/>
              </a:rPr>
              <a:t>出典：Wikipedia「敦賀市」（2026年10月13日参照）</a:t>
            </a:r>
            <a:endParaRPr lang="ja-JP"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econd brain">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28C28"/>
                </a:solidFill>
                <a:latin typeface="BIZ UDPGothic"/>
                <a:ea typeface="BIZ UDPGothic"/>
                <a:cs typeface="BIZ UDPGothic"/>
              </a:rPr>
              <a:t>②  </a:t>
            </a:r>
            <a:r>
              <a:rPr lang="ja-JP" altLang="en-US" sz="2800" b="1" dirty="0">
                <a:solidFill>
                  <a:srgbClr val="FFFFFF"/>
                </a:solidFill>
                <a:latin typeface="BIZ UDPGothic"/>
                <a:ea typeface="BIZ UDPGothic"/>
                <a:cs typeface="BIZ UDPGothic"/>
              </a:rPr>
              <a:t>second brain</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約800件のAIとの会話をObsidianに集約し、AIからも探せるようにしました</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11 / 14</a:t>
            </a:r>
            <a:endParaRPr lang="ja-JP" sz="1000"/>
          </a:p>
        </p:txBody>
      </p:sp>
      <p:sp>
        <p:nvSpPr>
          <p:cNvPr id="11" name="Step box 0"/>
          <p:cNvSpPr/>
          <p:nvPr/>
        </p:nvSpPr>
        <p:spPr>
          <a:xfrm>
            <a:off x="548640" y="1874520"/>
            <a:ext cx="6400800" cy="868680"/>
          </a:xfrm>
          <a:prstGeom prst="rect">
            <a:avLst/>
          </a:prstGeom>
          <a:solidFill>
            <a:srgbClr val="F3F5F8"/>
          </a:solidFill>
          <a:ln>
            <a:noFill/>
          </a:ln>
        </p:spPr>
      </p:sp>
      <p:sp>
        <p:nvSpPr>
          <p:cNvPr id="12" name="Step lab 0"/>
          <p:cNvSpPr/>
          <p:nvPr/>
        </p:nvSpPr>
        <p:spPr>
          <a:xfrm>
            <a:off x="548640" y="1874520"/>
            <a:ext cx="1737360" cy="868680"/>
          </a:xfrm>
          <a:prstGeom prst="rect">
            <a:avLst/>
          </a:prstGeom>
          <a:solidFill>
            <a:srgbClr val="F28C28"/>
          </a:solidFill>
          <a:ln>
            <a:noFill/>
          </a:ln>
        </p:spPr>
        <p:txBody>
          <a:bodyPr wrap="square" lIns="45720" tIns="0" rIns="45720" bIns="0" anchor="ctr" rtlCol="0">
            <a:noAutofit/>
          </a:bodyPr>
          <a:lstStyle/>
          <a:p>
            <a:pPr algn="ctr"/>
            <a:r>
              <a:rPr lang="ja-JP" altLang="en-US" sz="1600" b="1" dirty="0">
                <a:solidFill>
                  <a:srgbClr val="FFFFFF"/>
                </a:solidFill>
                <a:latin typeface="BIZ UDPGothic"/>
                <a:ea typeface="BIZ UDPGothic"/>
                <a:cs typeface="BIZ UDPGothic"/>
              </a:rPr>
              <a:t>集約</a:t>
            </a:r>
            <a:endParaRPr lang="ja-JP" sz="1600"/>
          </a:p>
        </p:txBody>
      </p:sp>
      <p:sp>
        <p:nvSpPr>
          <p:cNvPr id="13" name="Step text 0"/>
          <p:cNvSpPr/>
          <p:nvPr/>
        </p:nvSpPr>
        <p:spPr>
          <a:xfrm>
            <a:off x="2514600" y="1874520"/>
            <a:ext cx="4297680" cy="868680"/>
          </a:xfrm>
          <a:prstGeom prst="rect">
            <a:avLst/>
          </a:prstGeom>
          <a:noFill/>
          <a:ln>
            <a:noFill/>
          </a:ln>
        </p:spPr>
        <p:txBody>
          <a:bodyPr wrap="square" lIns="0" tIns="0" rIns="0" bIns="0" anchor="ctr" rtlCol="0">
            <a:noAutofit/>
          </a:bodyPr>
          <a:lstStyle/>
          <a:p>
            <a:pPr algn="l"/>
            <a:r>
              <a:rPr lang="ja-JP" altLang="en-US" sz="1600" b="1" dirty="0">
                <a:solidFill>
                  <a:srgbClr val="222222"/>
                </a:solidFill>
                <a:latin typeface="BIZ UDPGothic"/>
                <a:ea typeface="BIZ UDPGothic"/>
                <a:cs typeface="BIZ UDPGothic"/>
              </a:rPr>
              <a:t>約800件のAIとの会話をObsidianに集約</a:t>
            </a:r>
            <a:endParaRPr lang="ja-JP" sz="1600"/>
          </a:p>
        </p:txBody>
      </p:sp>
      <p:sp>
        <p:nvSpPr>
          <p:cNvPr id="14" name="Step arrow 0"/>
          <p:cNvSpPr/>
          <p:nvPr/>
        </p:nvSpPr>
        <p:spPr>
          <a:xfrm>
            <a:off x="1280160" y="2761488"/>
            <a:ext cx="274320" cy="182880"/>
          </a:xfrm>
          <a:prstGeom prst="downArrow">
            <a:avLst/>
          </a:prstGeom>
          <a:solidFill>
            <a:srgbClr val="666666"/>
          </a:solidFill>
          <a:ln>
            <a:noFill/>
          </a:ln>
        </p:spPr>
      </p:sp>
      <p:sp>
        <p:nvSpPr>
          <p:cNvPr id="15" name="Step box 1"/>
          <p:cNvSpPr/>
          <p:nvPr/>
        </p:nvSpPr>
        <p:spPr>
          <a:xfrm>
            <a:off x="548640" y="2962656"/>
            <a:ext cx="6400800" cy="868680"/>
          </a:xfrm>
          <a:prstGeom prst="rect">
            <a:avLst/>
          </a:prstGeom>
          <a:solidFill>
            <a:srgbClr val="F3F5F8"/>
          </a:solidFill>
          <a:ln>
            <a:noFill/>
          </a:ln>
        </p:spPr>
      </p:sp>
      <p:sp>
        <p:nvSpPr>
          <p:cNvPr id="16" name="Step lab 1"/>
          <p:cNvSpPr/>
          <p:nvPr/>
        </p:nvSpPr>
        <p:spPr>
          <a:xfrm>
            <a:off x="548640" y="2962656"/>
            <a:ext cx="1737360" cy="868680"/>
          </a:xfrm>
          <a:prstGeom prst="rect">
            <a:avLst/>
          </a:prstGeom>
          <a:solidFill>
            <a:srgbClr val="1F3A5F"/>
          </a:solidFill>
          <a:ln>
            <a:noFill/>
          </a:ln>
        </p:spPr>
        <p:txBody>
          <a:bodyPr wrap="square" lIns="45720" tIns="0" rIns="45720" bIns="0" anchor="ctr" rtlCol="0">
            <a:noAutofit/>
          </a:bodyPr>
          <a:lstStyle/>
          <a:p>
            <a:pPr algn="ctr"/>
            <a:r>
              <a:rPr lang="ja-JP" altLang="en-US" sz="1600" b="1" dirty="0">
                <a:solidFill>
                  <a:srgbClr val="FFFFFF"/>
                </a:solidFill>
                <a:latin typeface="BIZ UDPGothic"/>
                <a:ea typeface="BIZ UDPGothic"/>
                <a:cs typeface="BIZ UDPGothic"/>
              </a:rPr>
              <a:t>自動分類</a:t>
            </a:r>
            <a:endParaRPr lang="ja-JP" sz="1600"/>
          </a:p>
        </p:txBody>
      </p:sp>
      <p:sp>
        <p:nvSpPr>
          <p:cNvPr id="17" name="Step text 1"/>
          <p:cNvSpPr/>
          <p:nvPr/>
        </p:nvSpPr>
        <p:spPr>
          <a:xfrm>
            <a:off x="2514600" y="2962656"/>
            <a:ext cx="4297680" cy="868680"/>
          </a:xfrm>
          <a:prstGeom prst="rect">
            <a:avLst/>
          </a:prstGeom>
          <a:noFill/>
          <a:ln>
            <a:noFill/>
          </a:ln>
        </p:spPr>
        <p:txBody>
          <a:bodyPr wrap="square" lIns="0" tIns="0" rIns="0" bIns="0" anchor="ctr" rtlCol="0">
            <a:noAutofit/>
          </a:bodyPr>
          <a:lstStyle/>
          <a:p>
            <a:pPr algn="l"/>
            <a:r>
              <a:rPr lang="ja-JP" altLang="en-US" sz="1600" b="1" dirty="0">
                <a:solidFill>
                  <a:srgbClr val="222222"/>
                </a:solidFill>
                <a:latin typeface="BIZ UDPGothic"/>
                <a:ea typeface="BIZ UDPGothic"/>
                <a:cs typeface="BIZ UDPGothic"/>
              </a:rPr>
              <a:t>トピックごとに、自動で分類する</a:t>
            </a:r>
            <a:endParaRPr lang="ja-JP" sz="1600"/>
          </a:p>
        </p:txBody>
      </p:sp>
      <p:sp>
        <p:nvSpPr>
          <p:cNvPr id="18" name="Step arrow 1"/>
          <p:cNvSpPr/>
          <p:nvPr/>
        </p:nvSpPr>
        <p:spPr>
          <a:xfrm>
            <a:off x="1280160" y="3849624"/>
            <a:ext cx="274320" cy="182880"/>
          </a:xfrm>
          <a:prstGeom prst="downArrow">
            <a:avLst/>
          </a:prstGeom>
          <a:solidFill>
            <a:srgbClr val="666666"/>
          </a:solidFill>
          <a:ln>
            <a:noFill/>
          </a:ln>
        </p:spPr>
      </p:sp>
      <p:sp>
        <p:nvSpPr>
          <p:cNvPr id="19" name="Step box 2"/>
          <p:cNvSpPr/>
          <p:nvPr/>
        </p:nvSpPr>
        <p:spPr>
          <a:xfrm>
            <a:off x="548640" y="4050792"/>
            <a:ext cx="6400800" cy="868680"/>
          </a:xfrm>
          <a:prstGeom prst="rect">
            <a:avLst/>
          </a:prstGeom>
          <a:solidFill>
            <a:srgbClr val="F3F5F8"/>
          </a:solidFill>
          <a:ln>
            <a:noFill/>
          </a:ln>
        </p:spPr>
      </p:sp>
      <p:sp>
        <p:nvSpPr>
          <p:cNvPr id="20" name="Step lab 2"/>
          <p:cNvSpPr/>
          <p:nvPr/>
        </p:nvSpPr>
        <p:spPr>
          <a:xfrm>
            <a:off x="548640" y="4050792"/>
            <a:ext cx="1737360" cy="868680"/>
          </a:xfrm>
          <a:prstGeom prst="rect">
            <a:avLst/>
          </a:prstGeom>
          <a:solidFill>
            <a:srgbClr val="1F3A5F"/>
          </a:solidFill>
          <a:ln>
            <a:noFill/>
          </a:ln>
        </p:spPr>
        <p:txBody>
          <a:bodyPr wrap="square" lIns="45720" tIns="0" rIns="45720" bIns="0" anchor="ctr" rtlCol="0">
            <a:noAutofit/>
          </a:bodyPr>
          <a:lstStyle/>
          <a:p>
            <a:pPr algn="ctr"/>
            <a:r>
              <a:rPr lang="ja-JP" altLang="en-US" sz="1600" b="1" dirty="0">
                <a:solidFill>
                  <a:srgbClr val="FFFFFF"/>
                </a:solidFill>
                <a:latin typeface="BIZ UDPGothic"/>
                <a:ea typeface="BIZ UDPGothic"/>
                <a:cs typeface="BIZ UDPGothic"/>
              </a:rPr>
              <a:t>AI要約</a:t>
            </a:r>
            <a:endParaRPr lang="ja-JP" sz="1600"/>
          </a:p>
        </p:txBody>
      </p:sp>
      <p:sp>
        <p:nvSpPr>
          <p:cNvPr id="21" name="Step text 2"/>
          <p:cNvSpPr/>
          <p:nvPr/>
        </p:nvSpPr>
        <p:spPr>
          <a:xfrm>
            <a:off x="2514600" y="4050792"/>
            <a:ext cx="4297680" cy="868680"/>
          </a:xfrm>
          <a:prstGeom prst="rect">
            <a:avLst/>
          </a:prstGeom>
          <a:noFill/>
          <a:ln>
            <a:noFill/>
          </a:ln>
        </p:spPr>
        <p:txBody>
          <a:bodyPr wrap="square" lIns="0" tIns="0" rIns="0" bIns="0" anchor="ctr" rtlCol="0">
            <a:noAutofit/>
          </a:bodyPr>
          <a:lstStyle/>
          <a:p>
            <a:pPr algn="l"/>
            <a:r>
              <a:rPr lang="ja-JP" altLang="en-US" sz="1600" b="1" dirty="0">
                <a:solidFill>
                  <a:srgbClr val="222222"/>
                </a:solidFill>
                <a:latin typeface="BIZ UDPGothic"/>
                <a:ea typeface="BIZ UDPGothic"/>
                <a:cs typeface="BIZ UDPGothic"/>
              </a:rPr>
              <a:t>それぞれの会話を、AIが要約する</a:t>
            </a:r>
            <a:endParaRPr lang="ja-JP" sz="1600"/>
          </a:p>
        </p:txBody>
      </p:sp>
      <p:sp>
        <p:nvSpPr>
          <p:cNvPr id="22" name="Step arrow 2"/>
          <p:cNvSpPr/>
          <p:nvPr/>
        </p:nvSpPr>
        <p:spPr>
          <a:xfrm>
            <a:off x="1280160" y="4937760"/>
            <a:ext cx="274320" cy="182880"/>
          </a:xfrm>
          <a:prstGeom prst="downArrow">
            <a:avLst/>
          </a:prstGeom>
          <a:solidFill>
            <a:srgbClr val="666666"/>
          </a:solidFill>
          <a:ln>
            <a:noFill/>
          </a:ln>
        </p:spPr>
      </p:sp>
      <p:sp>
        <p:nvSpPr>
          <p:cNvPr id="23" name="Step box 3"/>
          <p:cNvSpPr/>
          <p:nvPr/>
        </p:nvSpPr>
        <p:spPr>
          <a:xfrm>
            <a:off x="548640" y="5138928"/>
            <a:ext cx="6400800" cy="868680"/>
          </a:xfrm>
          <a:prstGeom prst="rect">
            <a:avLst/>
          </a:prstGeom>
          <a:solidFill>
            <a:srgbClr val="F3F5F8"/>
          </a:solidFill>
          <a:ln>
            <a:noFill/>
          </a:ln>
        </p:spPr>
      </p:sp>
      <p:sp>
        <p:nvSpPr>
          <p:cNvPr id="24" name="Step lab 3"/>
          <p:cNvSpPr/>
          <p:nvPr/>
        </p:nvSpPr>
        <p:spPr>
          <a:xfrm>
            <a:off x="548640" y="5138928"/>
            <a:ext cx="1737360" cy="868680"/>
          </a:xfrm>
          <a:prstGeom prst="rect">
            <a:avLst/>
          </a:prstGeom>
          <a:solidFill>
            <a:srgbClr val="1F3A5F"/>
          </a:solidFill>
          <a:ln>
            <a:noFill/>
          </a:ln>
        </p:spPr>
        <p:txBody>
          <a:bodyPr wrap="square" lIns="45720" tIns="0" rIns="45720" bIns="0" anchor="ctr" rtlCol="0">
            <a:noAutofit/>
          </a:bodyPr>
          <a:lstStyle/>
          <a:p>
            <a:pPr algn="ctr"/>
            <a:r>
              <a:rPr lang="ja-JP" altLang="en-US" sz="1600" b="1" dirty="0">
                <a:solidFill>
                  <a:srgbClr val="FFFFFF"/>
                </a:solidFill>
                <a:latin typeface="BIZ UDPGothic"/>
                <a:ea typeface="BIZ UDPGothic"/>
                <a:cs typeface="BIZ UDPGothic"/>
              </a:rPr>
              <a:t>検索用MCP</a:t>
            </a:r>
            <a:endParaRPr lang="ja-JP" sz="1600"/>
          </a:p>
        </p:txBody>
      </p:sp>
      <p:sp>
        <p:nvSpPr>
          <p:cNvPr id="25" name="Step text 3"/>
          <p:cNvSpPr/>
          <p:nvPr/>
        </p:nvSpPr>
        <p:spPr>
          <a:xfrm>
            <a:off x="2514600" y="5138928"/>
            <a:ext cx="4297680" cy="868680"/>
          </a:xfrm>
          <a:prstGeom prst="rect">
            <a:avLst/>
          </a:prstGeom>
          <a:noFill/>
          <a:ln>
            <a:noFill/>
          </a:ln>
        </p:spPr>
        <p:txBody>
          <a:bodyPr wrap="square" lIns="0" tIns="0" rIns="0" bIns="0" anchor="ctr" rtlCol="0">
            <a:noAutofit/>
          </a:bodyPr>
          <a:lstStyle/>
          <a:p>
            <a:pPr algn="l"/>
            <a:r>
              <a:rPr lang="ja-JP" altLang="en-US" sz="1600" b="1" dirty="0">
                <a:solidFill>
                  <a:srgbClr val="222222"/>
                </a:solidFill>
                <a:latin typeface="BIZ UDPGothic"/>
                <a:ea typeface="BIZ UDPGothic"/>
                <a:cs typeface="BIZ UDPGothic"/>
              </a:rPr>
              <a:t>AIからも、過去の会話を検索できる</a:t>
            </a:r>
            <a:endParaRPr lang="ja-JP" sz="1600"/>
          </a:p>
        </p:txBody>
      </p:sp>
      <p:pic>
        <p:nvPicPr>
          <p:cNvPr id="26" name="Illust second brain" descr="second brainのイラスト"/>
          <p:cNvPicPr>
            <a:picLocks noChangeAspect="1"/>
          </p:cNvPicPr>
          <p:nvPr/>
        </p:nvPicPr>
        <p:blipFill>
          <a:blip r:embed="rIdG4Img2"/>
          <a:stretch>
            <a:fillRect/>
          </a:stretch>
        </p:blipFill>
        <p:spPr>
          <a:xfrm>
            <a:off x="7269480" y="1874520"/>
            <a:ext cx="4373575" cy="2460136"/>
          </a:xfrm>
          <a:prstGeom prst="rect">
            <a:avLst/>
          </a:prstGeom>
          <a:ln w="9525">
            <a:solidFill>
              <a:srgbClr val="D0D7E2"/>
            </a:solidFill>
          </a:ln>
        </p:spPr>
      </p:pic>
      <p:sp>
        <p:nvSpPr>
          <p:cNvPr id="27" name="Metric box"/>
          <p:cNvSpPr/>
          <p:nvPr/>
        </p:nvSpPr>
        <p:spPr>
          <a:xfrm>
            <a:off x="7269480" y="4517536"/>
            <a:ext cx="4373575" cy="1718672"/>
          </a:xfrm>
          <a:prstGeom prst="rect">
            <a:avLst/>
          </a:prstGeom>
          <a:solidFill>
            <a:srgbClr val="1F3A5F"/>
          </a:solidFill>
          <a:ln>
            <a:noFill/>
          </a:ln>
        </p:spPr>
      </p:sp>
      <p:sp>
        <p:nvSpPr>
          <p:cNvPr id="28" name="Metric num"/>
          <p:cNvSpPr/>
          <p:nvPr/>
        </p:nvSpPr>
        <p:spPr>
          <a:xfrm>
            <a:off x="7498080" y="4654696"/>
            <a:ext cx="2743200" cy="914400"/>
          </a:xfrm>
          <a:prstGeom prst="rect">
            <a:avLst/>
          </a:prstGeom>
          <a:noFill/>
          <a:ln>
            <a:noFill/>
          </a:ln>
        </p:spPr>
        <p:txBody>
          <a:bodyPr wrap="square" lIns="0" tIns="0" rIns="0" bIns="0" anchor="ctr" rtlCol="0">
            <a:noAutofit/>
          </a:bodyPr>
          <a:lstStyle/>
          <a:p>
            <a:pPr algn="l"/>
            <a:r>
              <a:rPr lang="ja-JP" altLang="en-US" sz="4000" b="1" dirty="0">
                <a:solidFill>
                  <a:srgbClr val="F28C28"/>
                </a:solidFill>
                <a:latin typeface="BIZ UDPGothic"/>
                <a:ea typeface="BIZ UDPGothic"/>
                <a:cs typeface="BIZ UDPGothic"/>
              </a:rPr>
              <a:t>約800</a:t>
            </a:r>
            <a:r>
              <a:rPr lang="ja-JP" altLang="en-US" sz="1800" b="1" dirty="0">
                <a:solidFill>
                  <a:srgbClr val="FFFFFF"/>
                </a:solidFill>
                <a:latin typeface="BIZ UDPGothic"/>
                <a:ea typeface="BIZ UDPGothic"/>
                <a:cs typeface="BIZ UDPGothic"/>
              </a:rPr>
              <a:t>件</a:t>
            </a:r>
            <a:endParaRPr lang="ja-JP" sz="4000"/>
          </a:p>
        </p:txBody>
      </p:sp>
      <p:sp>
        <p:nvSpPr>
          <p:cNvPr id="29" name="Metric label"/>
          <p:cNvSpPr/>
          <p:nvPr/>
        </p:nvSpPr>
        <p:spPr>
          <a:xfrm>
            <a:off x="10287000" y="4654696"/>
            <a:ext cx="1218895" cy="914400"/>
          </a:xfrm>
          <a:prstGeom prst="rect">
            <a:avLst/>
          </a:prstGeom>
          <a:noFill/>
          <a:ln>
            <a:noFill/>
          </a:ln>
        </p:spPr>
        <p:txBody>
          <a:bodyPr wrap="square" lIns="0" tIns="0" rIns="0" bIns="0" anchor="ctr" rtlCol="0">
            <a:noAutofit/>
          </a:bodyPr>
          <a:lstStyle/>
          <a:p>
            <a:pPr algn="l">
              <a:lnSpc>
                <a:spcPct val="100000"/>
              </a:lnSpc>
            </a:pPr>
            <a:r>
              <a:rPr lang="ja-JP" altLang="en-US" sz="1300" b="1" dirty="0">
                <a:solidFill>
                  <a:srgbClr val="FFFFFF"/>
                </a:solidFill>
                <a:latin typeface="BIZ UDPGothic"/>
                <a:ea typeface="BIZ UDPGothic"/>
                <a:cs typeface="BIZ UDPGothic"/>
              </a:rPr>
              <a:t>AIとの会話を</a:t>
            </a:r>
            <a:endParaRPr lang="ja-JP" sz="1300"/>
          </a:p>
          <a:p>
            <a:pPr algn="l">
              <a:lnSpc>
                <a:spcPct val="100000"/>
              </a:lnSpc>
            </a:pPr>
            <a:r>
              <a:rPr lang="ja-JP" altLang="en-US" sz="1300" b="1" dirty="0">
                <a:solidFill>
                  <a:srgbClr val="FFFFFF"/>
                </a:solidFill>
                <a:latin typeface="BIZ UDPGothic"/>
                <a:ea typeface="BIZ UDPGothic"/>
                <a:cs typeface="BIZ UDPGothic"/>
              </a:rPr>
              <a:t>ひとつの場所に</a:t>
            </a:r>
            <a:endParaRPr lang="ja-JP" sz="1300"/>
          </a:p>
        </p:txBody>
      </p:sp>
      <p:sp>
        <p:nvSpPr>
          <p:cNvPr id="30" name="Metric rule"/>
          <p:cNvSpPr/>
          <p:nvPr/>
        </p:nvSpPr>
        <p:spPr>
          <a:xfrm>
            <a:off x="7498080" y="5660536"/>
            <a:ext cx="3916375" cy="9144"/>
          </a:xfrm>
          <a:prstGeom prst="rect">
            <a:avLst/>
          </a:prstGeom>
          <a:solidFill>
            <a:srgbClr val="F28C28"/>
          </a:solidFill>
          <a:ln>
            <a:noFill/>
          </a:ln>
        </p:spPr>
      </p:sp>
      <p:sp>
        <p:nvSpPr>
          <p:cNvPr id="31" name="Metric sub"/>
          <p:cNvSpPr/>
          <p:nvPr/>
        </p:nvSpPr>
        <p:spPr>
          <a:xfrm>
            <a:off x="7498080" y="5724544"/>
            <a:ext cx="3916375" cy="502920"/>
          </a:xfrm>
          <a:prstGeom prst="rect">
            <a:avLst/>
          </a:prstGeom>
          <a:noFill/>
          <a:ln>
            <a:noFill/>
          </a:ln>
        </p:spPr>
        <p:txBody>
          <a:bodyPr wrap="square" lIns="0" tIns="0" rIns="0" bIns="0" anchor="ctr" rtlCol="0">
            <a:noAutofit/>
          </a:bodyPr>
          <a:lstStyle/>
          <a:p>
            <a:pPr algn="l"/>
            <a:r>
              <a:rPr lang="ja-JP" altLang="en-US" sz="1150" b="1" dirty="0">
                <a:solidFill>
                  <a:srgbClr val="FFFFFF"/>
                </a:solidFill>
                <a:latin typeface="BIZ UDPGothic"/>
                <a:ea typeface="BIZ UDPGothic"/>
                <a:cs typeface="BIZ UDPGothic"/>
              </a:rPr>
              <a:t>Grok Bot・Claude・Gemini・AI Studio・ChatGPT</a:t>
            </a:r>
            <a:endParaRPr lang="ja-JP" sz="11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Tsuruga">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28C28"/>
                </a:solidFill>
                <a:latin typeface="BIZ UDPGothic"/>
                <a:ea typeface="BIZ UDPGothic"/>
                <a:cs typeface="BIZ UDPGothic"/>
              </a:rPr>
              <a:t>①  </a:t>
            </a:r>
            <a:r>
              <a:rPr lang="ja-JP" altLang="en-US" sz="2800" b="1" dirty="0">
                <a:solidFill>
                  <a:srgbClr val="FFFFFF"/>
                </a:solidFill>
                <a:latin typeface="BIZ UDPGothic"/>
                <a:ea typeface="BIZ UDPGothic"/>
                <a:cs typeface="BIZ UDPGothic"/>
              </a:rPr>
              <a:t>出身地・福井県敦賀市</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日本海・敦賀湾に面した嶺南最大のまち。2024年には北陸新幹線がつながりました</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4 / 14</a:t>
            </a:r>
            <a:endParaRPr lang="ja-JP" sz="1000"/>
          </a:p>
        </p:txBody>
      </p:sp>
      <p:sp>
        <p:nvSpPr>
          <p:cNvPr id="11" name="KPI box 0"/>
          <p:cNvSpPr/>
          <p:nvPr/>
        </p:nvSpPr>
        <p:spPr>
          <a:xfrm>
            <a:off x="548640" y="1874520"/>
            <a:ext cx="1737360" cy="1188720"/>
          </a:xfrm>
          <a:prstGeom prst="rect">
            <a:avLst/>
          </a:prstGeom>
          <a:solidFill>
            <a:srgbClr val="F3F5F8"/>
          </a:solidFill>
          <a:ln>
            <a:noFill/>
          </a:ln>
        </p:spPr>
      </p:sp>
      <p:sp>
        <p:nvSpPr>
          <p:cNvPr id="12" name="KPI bar 0"/>
          <p:cNvSpPr/>
          <p:nvPr/>
        </p:nvSpPr>
        <p:spPr>
          <a:xfrm>
            <a:off x="548640" y="1874520"/>
            <a:ext cx="54864" cy="1188720"/>
          </a:xfrm>
          <a:prstGeom prst="rect">
            <a:avLst/>
          </a:prstGeom>
          <a:solidFill>
            <a:srgbClr val="F28C28"/>
          </a:solidFill>
          <a:ln>
            <a:noFill/>
          </a:ln>
        </p:spPr>
      </p:sp>
      <p:sp>
        <p:nvSpPr>
          <p:cNvPr id="13" name="KPI num 0"/>
          <p:cNvSpPr/>
          <p:nvPr/>
        </p:nvSpPr>
        <p:spPr>
          <a:xfrm>
            <a:off x="685800" y="1965960"/>
            <a:ext cx="1554480" cy="594360"/>
          </a:xfrm>
          <a:prstGeom prst="rect">
            <a:avLst/>
          </a:prstGeom>
          <a:noFill/>
          <a:ln>
            <a:noFill/>
          </a:ln>
        </p:spPr>
        <p:txBody>
          <a:bodyPr wrap="square" lIns="0" tIns="0" rIns="0" bIns="0" anchor="ctr" rtlCol="0">
            <a:noAutofit/>
          </a:bodyPr>
          <a:lstStyle/>
          <a:p>
            <a:pPr algn="l"/>
            <a:r>
              <a:rPr lang="ja-JP" altLang="en-US" sz="2600" b="1" dirty="0">
                <a:solidFill>
                  <a:srgbClr val="F28C28"/>
                </a:solidFill>
                <a:latin typeface="BIZ UDPGothic"/>
                <a:ea typeface="BIZ UDPGothic"/>
                <a:cs typeface="BIZ UDPGothic"/>
              </a:rPr>
              <a:t>約6万人</a:t>
            </a:r>
            <a:endParaRPr lang="ja-JP" sz="2600"/>
          </a:p>
        </p:txBody>
      </p:sp>
      <p:sp>
        <p:nvSpPr>
          <p:cNvPr id="14" name="KPI label 0"/>
          <p:cNvSpPr/>
          <p:nvPr/>
        </p:nvSpPr>
        <p:spPr>
          <a:xfrm>
            <a:off x="685800" y="2578608"/>
            <a:ext cx="1554480" cy="411480"/>
          </a:xfrm>
          <a:prstGeom prst="rect">
            <a:avLst/>
          </a:prstGeom>
          <a:noFill/>
          <a:ln>
            <a:noFill/>
          </a:ln>
        </p:spPr>
        <p:txBody>
          <a:bodyPr wrap="square" lIns="0" tIns="0" rIns="0" bIns="0" anchor="t" rtlCol="0">
            <a:noAutofit/>
          </a:bodyPr>
          <a:lstStyle/>
          <a:p>
            <a:pPr algn="l"/>
            <a:r>
              <a:rPr lang="ja-JP" altLang="en-US" sz="1200" b="1" dirty="0">
                <a:solidFill>
                  <a:srgbClr val="1F3A5F"/>
                </a:solidFill>
                <a:latin typeface="BIZ UDPGothic"/>
                <a:ea typeface="BIZ UDPGothic"/>
                <a:cs typeface="BIZ UDPGothic"/>
              </a:rPr>
              <a:t>人口（嶺南地方で最多）</a:t>
            </a:r>
            <a:endParaRPr lang="ja-JP" sz="1200"/>
          </a:p>
        </p:txBody>
      </p:sp>
      <p:sp>
        <p:nvSpPr>
          <p:cNvPr id="15" name="KPI box 1"/>
          <p:cNvSpPr/>
          <p:nvPr/>
        </p:nvSpPr>
        <p:spPr>
          <a:xfrm>
            <a:off x="2423160" y="1874520"/>
            <a:ext cx="1737360" cy="1188720"/>
          </a:xfrm>
          <a:prstGeom prst="rect">
            <a:avLst/>
          </a:prstGeom>
          <a:solidFill>
            <a:srgbClr val="F3F5F8"/>
          </a:solidFill>
          <a:ln>
            <a:noFill/>
          </a:ln>
        </p:spPr>
      </p:sp>
      <p:sp>
        <p:nvSpPr>
          <p:cNvPr id="16" name="KPI bar 1"/>
          <p:cNvSpPr/>
          <p:nvPr/>
        </p:nvSpPr>
        <p:spPr>
          <a:xfrm>
            <a:off x="2423160" y="1874520"/>
            <a:ext cx="54864" cy="1188720"/>
          </a:xfrm>
          <a:prstGeom prst="rect">
            <a:avLst/>
          </a:prstGeom>
          <a:solidFill>
            <a:srgbClr val="F28C28"/>
          </a:solidFill>
          <a:ln>
            <a:noFill/>
          </a:ln>
        </p:spPr>
      </p:sp>
      <p:sp>
        <p:nvSpPr>
          <p:cNvPr id="17" name="KPI num 1"/>
          <p:cNvSpPr/>
          <p:nvPr/>
        </p:nvSpPr>
        <p:spPr>
          <a:xfrm>
            <a:off x="2560320" y="1965960"/>
            <a:ext cx="1554480" cy="594360"/>
          </a:xfrm>
          <a:prstGeom prst="rect">
            <a:avLst/>
          </a:prstGeom>
          <a:noFill/>
          <a:ln>
            <a:noFill/>
          </a:ln>
        </p:spPr>
        <p:txBody>
          <a:bodyPr wrap="square" lIns="0" tIns="0" rIns="0" bIns="0" anchor="ctr" rtlCol="0">
            <a:noAutofit/>
          </a:bodyPr>
          <a:lstStyle/>
          <a:p>
            <a:pPr algn="l"/>
            <a:r>
              <a:rPr lang="ja-JP" altLang="en-US" sz="2600" b="1" dirty="0">
                <a:solidFill>
                  <a:srgbClr val="F28C28"/>
                </a:solidFill>
                <a:latin typeface="BIZ UDPGothic"/>
                <a:ea typeface="BIZ UDPGothic"/>
                <a:cs typeface="BIZ UDPGothic"/>
              </a:rPr>
              <a:t>敦賀湾</a:t>
            </a:r>
            <a:endParaRPr lang="ja-JP" sz="2600"/>
          </a:p>
        </p:txBody>
      </p:sp>
      <p:sp>
        <p:nvSpPr>
          <p:cNvPr id="18" name="KPI label 1"/>
          <p:cNvSpPr/>
          <p:nvPr/>
        </p:nvSpPr>
        <p:spPr>
          <a:xfrm>
            <a:off x="2560320" y="2578608"/>
            <a:ext cx="1554480" cy="411480"/>
          </a:xfrm>
          <a:prstGeom prst="rect">
            <a:avLst/>
          </a:prstGeom>
          <a:noFill/>
          <a:ln>
            <a:noFill/>
          </a:ln>
        </p:spPr>
        <p:txBody>
          <a:bodyPr wrap="square" lIns="0" tIns="0" rIns="0" bIns="0" anchor="t" rtlCol="0">
            <a:noAutofit/>
          </a:bodyPr>
          <a:lstStyle/>
          <a:p>
            <a:pPr algn="l"/>
            <a:r>
              <a:rPr lang="ja-JP" altLang="en-US" sz="1200" b="1" dirty="0">
                <a:solidFill>
                  <a:srgbClr val="1F3A5F"/>
                </a:solidFill>
                <a:latin typeface="BIZ UDPGothic"/>
                <a:ea typeface="BIZ UDPGothic"/>
                <a:cs typeface="BIZ UDPGothic"/>
              </a:rPr>
              <a:t>日本海に面した港町</a:t>
            </a:r>
            <a:endParaRPr lang="ja-JP" sz="1200"/>
          </a:p>
        </p:txBody>
      </p:sp>
      <p:sp>
        <p:nvSpPr>
          <p:cNvPr id="19" name="KPI box 2"/>
          <p:cNvSpPr/>
          <p:nvPr/>
        </p:nvSpPr>
        <p:spPr>
          <a:xfrm>
            <a:off x="4297680" y="1874520"/>
            <a:ext cx="1737360" cy="1188720"/>
          </a:xfrm>
          <a:prstGeom prst="rect">
            <a:avLst/>
          </a:prstGeom>
          <a:solidFill>
            <a:srgbClr val="F3F5F8"/>
          </a:solidFill>
          <a:ln>
            <a:noFill/>
          </a:ln>
        </p:spPr>
      </p:sp>
      <p:sp>
        <p:nvSpPr>
          <p:cNvPr id="20" name="KPI bar 2"/>
          <p:cNvSpPr/>
          <p:nvPr/>
        </p:nvSpPr>
        <p:spPr>
          <a:xfrm>
            <a:off x="4297680" y="1874520"/>
            <a:ext cx="54864" cy="1188720"/>
          </a:xfrm>
          <a:prstGeom prst="rect">
            <a:avLst/>
          </a:prstGeom>
          <a:solidFill>
            <a:srgbClr val="F28C28"/>
          </a:solidFill>
          <a:ln>
            <a:noFill/>
          </a:ln>
        </p:spPr>
      </p:sp>
      <p:sp>
        <p:nvSpPr>
          <p:cNvPr id="21" name="KPI num 2"/>
          <p:cNvSpPr/>
          <p:nvPr/>
        </p:nvSpPr>
        <p:spPr>
          <a:xfrm>
            <a:off x="4434840" y="1965960"/>
            <a:ext cx="1554480" cy="594360"/>
          </a:xfrm>
          <a:prstGeom prst="rect">
            <a:avLst/>
          </a:prstGeom>
          <a:noFill/>
          <a:ln>
            <a:noFill/>
          </a:ln>
        </p:spPr>
        <p:txBody>
          <a:bodyPr wrap="square" lIns="0" tIns="0" rIns="0" bIns="0" anchor="ctr" rtlCol="0">
            <a:noAutofit/>
          </a:bodyPr>
          <a:lstStyle/>
          <a:p>
            <a:pPr algn="l"/>
            <a:r>
              <a:rPr lang="ja-JP" altLang="en-US" sz="2600" b="1" dirty="0">
                <a:solidFill>
                  <a:srgbClr val="F28C28"/>
                </a:solidFill>
                <a:latin typeface="BIZ UDPGothic"/>
                <a:ea typeface="BIZ UDPGothic"/>
                <a:cs typeface="BIZ UDPGothic"/>
              </a:rPr>
              <a:t>2024.3</a:t>
            </a:r>
            <a:endParaRPr lang="ja-JP" sz="2600"/>
          </a:p>
        </p:txBody>
      </p:sp>
      <p:sp>
        <p:nvSpPr>
          <p:cNvPr id="22" name="KPI label 2"/>
          <p:cNvSpPr/>
          <p:nvPr/>
        </p:nvSpPr>
        <p:spPr>
          <a:xfrm>
            <a:off x="4434840" y="2578608"/>
            <a:ext cx="1554480" cy="411480"/>
          </a:xfrm>
          <a:prstGeom prst="rect">
            <a:avLst/>
          </a:prstGeom>
          <a:noFill/>
          <a:ln>
            <a:noFill/>
          </a:ln>
        </p:spPr>
        <p:txBody>
          <a:bodyPr wrap="square" lIns="0" tIns="0" rIns="0" bIns="0" anchor="t" rtlCol="0">
            <a:noAutofit/>
          </a:bodyPr>
          <a:lstStyle/>
          <a:p>
            <a:pPr algn="l"/>
            <a:r>
              <a:rPr lang="ja-JP" altLang="en-US" sz="1200" b="1" dirty="0">
                <a:solidFill>
                  <a:srgbClr val="1F3A5F"/>
                </a:solidFill>
                <a:latin typeface="BIZ UDPGothic"/>
                <a:ea typeface="BIZ UDPGothic"/>
                <a:cs typeface="BIZ UDPGothic"/>
              </a:rPr>
              <a:t>北陸新幹線 敦賀開業</a:t>
            </a:r>
            <a:endParaRPr lang="ja-JP" sz="1200"/>
          </a:p>
        </p:txBody>
      </p:sp>
      <p:sp>
        <p:nvSpPr>
          <p:cNvPr id="23" name="Point dot 0"/>
          <p:cNvSpPr/>
          <p:nvPr/>
        </p:nvSpPr>
        <p:spPr>
          <a:xfrm>
            <a:off x="548640" y="3364992"/>
            <a:ext cx="146304" cy="146304"/>
          </a:xfrm>
          <a:prstGeom prst="ellipse">
            <a:avLst/>
          </a:prstGeom>
          <a:solidFill>
            <a:srgbClr val="1F3A5F"/>
          </a:solidFill>
          <a:ln>
            <a:noFill/>
          </a:ln>
        </p:spPr>
      </p:sp>
      <p:sp>
        <p:nvSpPr>
          <p:cNvPr id="24" name="Point head 0"/>
          <p:cNvSpPr/>
          <p:nvPr/>
        </p:nvSpPr>
        <p:spPr>
          <a:xfrm>
            <a:off x="822960" y="3291840"/>
            <a:ext cx="5212080" cy="310896"/>
          </a:xfrm>
          <a:prstGeom prst="rect">
            <a:avLst/>
          </a:prstGeom>
          <a:noFill/>
          <a:ln>
            <a:noFill/>
          </a:ln>
        </p:spPr>
        <p:txBody>
          <a:bodyPr wrap="square" lIns="0" tIns="0" rIns="0" bIns="0" anchor="t" rtlCol="0">
            <a:noAutofit/>
          </a:bodyPr>
          <a:lstStyle/>
          <a:p>
            <a:pPr algn="l"/>
            <a:r>
              <a:rPr lang="ja-JP" altLang="en-US" sz="1500" b="1" dirty="0">
                <a:solidFill>
                  <a:srgbClr val="1F3A5F"/>
                </a:solidFill>
                <a:latin typeface="BIZ UDPGothic"/>
                <a:ea typeface="BIZ UDPGothic"/>
                <a:cs typeface="BIZ UDPGothic"/>
              </a:rPr>
              <a:t>日本海・敦賀湾に面するまち</a:t>
            </a:r>
            <a:endParaRPr lang="ja-JP" sz="1500"/>
          </a:p>
        </p:txBody>
      </p:sp>
      <p:sp>
        <p:nvSpPr>
          <p:cNvPr id="25" name="Point sub 0"/>
          <p:cNvSpPr/>
          <p:nvPr/>
        </p:nvSpPr>
        <p:spPr>
          <a:xfrm>
            <a:off x="822960" y="3621024"/>
            <a:ext cx="5212080" cy="310896"/>
          </a:xfrm>
          <a:prstGeom prst="rect">
            <a:avLst/>
          </a:prstGeom>
          <a:noFill/>
          <a:ln>
            <a:noFill/>
          </a:ln>
        </p:spPr>
        <p:txBody>
          <a:bodyPr wrap="square" lIns="0" tIns="0" rIns="0" bIns="0" anchor="t" rtlCol="0">
            <a:noAutofit/>
          </a:bodyPr>
          <a:lstStyle/>
          <a:p>
            <a:pPr algn="l"/>
            <a:r>
              <a:rPr lang="ja-JP" altLang="en-US" sz="1250" b="0" dirty="0">
                <a:solidFill>
                  <a:srgbClr val="222222"/>
                </a:solidFill>
                <a:latin typeface="BIZ UDPGothic"/>
                <a:ea typeface="BIZ UDPGothic"/>
                <a:cs typeface="BIZ UDPGothic"/>
              </a:rPr>
              <a:t>福井県嶺南地方にあり、嶺南で人口が最も多い市</a:t>
            </a:r>
            <a:endParaRPr lang="ja-JP" sz="1250"/>
          </a:p>
        </p:txBody>
      </p:sp>
      <p:sp>
        <p:nvSpPr>
          <p:cNvPr id="26" name="Point rule 0"/>
          <p:cNvSpPr/>
          <p:nvPr/>
        </p:nvSpPr>
        <p:spPr>
          <a:xfrm>
            <a:off x="822960" y="3986784"/>
            <a:ext cx="5212080" cy="9144"/>
          </a:xfrm>
          <a:prstGeom prst="rect">
            <a:avLst/>
          </a:prstGeom>
          <a:solidFill>
            <a:srgbClr val="D0D7E2"/>
          </a:solidFill>
          <a:ln>
            <a:noFill/>
          </a:ln>
        </p:spPr>
      </p:sp>
      <p:sp>
        <p:nvSpPr>
          <p:cNvPr id="27" name="Point dot 1"/>
          <p:cNvSpPr/>
          <p:nvPr/>
        </p:nvSpPr>
        <p:spPr>
          <a:xfrm>
            <a:off x="548640" y="4114800"/>
            <a:ext cx="146304" cy="146304"/>
          </a:xfrm>
          <a:prstGeom prst="ellipse">
            <a:avLst/>
          </a:prstGeom>
          <a:solidFill>
            <a:srgbClr val="1F3A5F"/>
          </a:solidFill>
          <a:ln>
            <a:noFill/>
          </a:ln>
        </p:spPr>
      </p:sp>
      <p:sp>
        <p:nvSpPr>
          <p:cNvPr id="28" name="Point head 1"/>
          <p:cNvSpPr/>
          <p:nvPr/>
        </p:nvSpPr>
        <p:spPr>
          <a:xfrm>
            <a:off x="822960" y="4041648"/>
            <a:ext cx="5212080" cy="310896"/>
          </a:xfrm>
          <a:prstGeom prst="rect">
            <a:avLst/>
          </a:prstGeom>
          <a:noFill/>
          <a:ln>
            <a:noFill/>
          </a:ln>
        </p:spPr>
        <p:txBody>
          <a:bodyPr wrap="square" lIns="0" tIns="0" rIns="0" bIns="0" anchor="t" rtlCol="0">
            <a:noAutofit/>
          </a:bodyPr>
          <a:lstStyle/>
          <a:p>
            <a:pPr algn="l"/>
            <a:r>
              <a:rPr lang="ja-JP" altLang="en-US" sz="1500" b="1" dirty="0">
                <a:solidFill>
                  <a:srgbClr val="1F3A5F"/>
                </a:solidFill>
                <a:latin typeface="BIZ UDPGothic"/>
                <a:ea typeface="BIZ UDPGothic"/>
                <a:cs typeface="BIZ UDPGothic"/>
              </a:rPr>
              <a:t>人口 59,913人</a:t>
            </a:r>
            <a:endParaRPr lang="ja-JP" sz="1500"/>
          </a:p>
        </p:txBody>
      </p:sp>
      <p:sp>
        <p:nvSpPr>
          <p:cNvPr id="29" name="Point sub 1"/>
          <p:cNvSpPr/>
          <p:nvPr/>
        </p:nvSpPr>
        <p:spPr>
          <a:xfrm>
            <a:off x="822960" y="4370832"/>
            <a:ext cx="5212080" cy="310896"/>
          </a:xfrm>
          <a:prstGeom prst="rect">
            <a:avLst/>
          </a:prstGeom>
          <a:noFill/>
          <a:ln>
            <a:noFill/>
          </a:ln>
        </p:spPr>
        <p:txBody>
          <a:bodyPr wrap="square" lIns="0" tIns="0" rIns="0" bIns="0" anchor="t" rtlCol="0">
            <a:noAutofit/>
          </a:bodyPr>
          <a:lstStyle/>
          <a:p>
            <a:pPr algn="l"/>
            <a:r>
              <a:rPr lang="ja-JP" altLang="en-US" sz="1250" b="0" dirty="0">
                <a:solidFill>
                  <a:srgbClr val="222222"/>
                </a:solidFill>
                <a:latin typeface="BIZ UDPGothic"/>
                <a:ea typeface="BIZ UDPGothic"/>
                <a:cs typeface="BIZ UDPGothic"/>
              </a:rPr>
              <a:t>推計人口（2026年9月1日）。おおよそ6万人のまち</a:t>
            </a:r>
            <a:endParaRPr lang="ja-JP" sz="1250"/>
          </a:p>
        </p:txBody>
      </p:sp>
      <p:sp>
        <p:nvSpPr>
          <p:cNvPr id="30" name="Point rule 1"/>
          <p:cNvSpPr/>
          <p:nvPr/>
        </p:nvSpPr>
        <p:spPr>
          <a:xfrm>
            <a:off x="822960" y="4736592"/>
            <a:ext cx="5212080" cy="9144"/>
          </a:xfrm>
          <a:prstGeom prst="rect">
            <a:avLst/>
          </a:prstGeom>
          <a:solidFill>
            <a:srgbClr val="D0D7E2"/>
          </a:solidFill>
          <a:ln>
            <a:noFill/>
          </a:ln>
        </p:spPr>
      </p:sp>
      <p:sp>
        <p:nvSpPr>
          <p:cNvPr id="31" name="Point dot 2"/>
          <p:cNvSpPr/>
          <p:nvPr/>
        </p:nvSpPr>
        <p:spPr>
          <a:xfrm>
            <a:off x="548640" y="4864608"/>
            <a:ext cx="146304" cy="146304"/>
          </a:xfrm>
          <a:prstGeom prst="ellipse">
            <a:avLst/>
          </a:prstGeom>
          <a:solidFill>
            <a:srgbClr val="1F3A5F"/>
          </a:solidFill>
          <a:ln>
            <a:noFill/>
          </a:ln>
        </p:spPr>
      </p:sp>
      <p:sp>
        <p:nvSpPr>
          <p:cNvPr id="32" name="Point head 2"/>
          <p:cNvSpPr/>
          <p:nvPr/>
        </p:nvSpPr>
        <p:spPr>
          <a:xfrm>
            <a:off x="822960" y="4791456"/>
            <a:ext cx="5212080" cy="310896"/>
          </a:xfrm>
          <a:prstGeom prst="rect">
            <a:avLst/>
          </a:prstGeom>
          <a:noFill/>
          <a:ln>
            <a:noFill/>
          </a:ln>
        </p:spPr>
        <p:txBody>
          <a:bodyPr wrap="square" lIns="0" tIns="0" rIns="0" bIns="0" anchor="t" rtlCol="0">
            <a:noAutofit/>
          </a:bodyPr>
          <a:lstStyle/>
          <a:p>
            <a:pPr algn="l"/>
            <a:r>
              <a:rPr lang="ja-JP" altLang="en-US" sz="1500" b="1" dirty="0">
                <a:solidFill>
                  <a:srgbClr val="1F3A5F"/>
                </a:solidFill>
                <a:latin typeface="BIZ UDPGothic"/>
                <a:ea typeface="BIZ UDPGothic"/>
                <a:cs typeface="BIZ UDPGothic"/>
              </a:rPr>
              <a:t>気比の松原（けひのまつばら）</a:t>
            </a:r>
            <a:endParaRPr lang="ja-JP" sz="1500"/>
          </a:p>
        </p:txBody>
      </p:sp>
      <p:sp>
        <p:nvSpPr>
          <p:cNvPr id="33" name="Point sub 2"/>
          <p:cNvSpPr/>
          <p:nvPr/>
        </p:nvSpPr>
        <p:spPr>
          <a:xfrm>
            <a:off x="822960" y="5120640"/>
            <a:ext cx="5212080" cy="310896"/>
          </a:xfrm>
          <a:prstGeom prst="rect">
            <a:avLst/>
          </a:prstGeom>
          <a:noFill/>
          <a:ln>
            <a:noFill/>
          </a:ln>
        </p:spPr>
        <p:txBody>
          <a:bodyPr wrap="square" lIns="0" tIns="0" rIns="0" bIns="0" anchor="t" rtlCol="0">
            <a:noAutofit/>
          </a:bodyPr>
          <a:lstStyle/>
          <a:p>
            <a:pPr algn="l"/>
            <a:r>
              <a:rPr lang="ja-JP" altLang="en-US" sz="1250" b="0" dirty="0">
                <a:solidFill>
                  <a:srgbClr val="222222"/>
                </a:solidFill>
                <a:latin typeface="BIZ UDPGothic"/>
                <a:ea typeface="BIZ UDPGothic"/>
                <a:cs typeface="BIZ UDPGothic"/>
              </a:rPr>
              <a:t>敦賀湾に臨む松原。日本三大松原の一つで、国の名勝</a:t>
            </a:r>
            <a:endParaRPr lang="ja-JP" sz="1250"/>
          </a:p>
        </p:txBody>
      </p:sp>
      <p:sp>
        <p:nvSpPr>
          <p:cNvPr id="34" name="Point rule 2"/>
          <p:cNvSpPr/>
          <p:nvPr/>
        </p:nvSpPr>
        <p:spPr>
          <a:xfrm>
            <a:off x="822960" y="5486400"/>
            <a:ext cx="5212080" cy="9144"/>
          </a:xfrm>
          <a:prstGeom prst="rect">
            <a:avLst/>
          </a:prstGeom>
          <a:solidFill>
            <a:srgbClr val="D0D7E2"/>
          </a:solidFill>
          <a:ln>
            <a:noFill/>
          </a:ln>
        </p:spPr>
      </p:sp>
      <p:sp>
        <p:nvSpPr>
          <p:cNvPr id="35" name="Point dot 3"/>
          <p:cNvSpPr/>
          <p:nvPr/>
        </p:nvSpPr>
        <p:spPr>
          <a:xfrm>
            <a:off x="548640" y="5614416"/>
            <a:ext cx="146304" cy="146304"/>
          </a:xfrm>
          <a:prstGeom prst="ellipse">
            <a:avLst/>
          </a:prstGeom>
          <a:solidFill>
            <a:srgbClr val="1F3A5F"/>
          </a:solidFill>
          <a:ln>
            <a:noFill/>
          </a:ln>
        </p:spPr>
      </p:sp>
      <p:sp>
        <p:nvSpPr>
          <p:cNvPr id="36" name="Point head 3"/>
          <p:cNvSpPr/>
          <p:nvPr/>
        </p:nvSpPr>
        <p:spPr>
          <a:xfrm>
            <a:off x="822960" y="5541264"/>
            <a:ext cx="5212080" cy="310896"/>
          </a:xfrm>
          <a:prstGeom prst="rect">
            <a:avLst/>
          </a:prstGeom>
          <a:noFill/>
          <a:ln>
            <a:noFill/>
          </a:ln>
        </p:spPr>
        <p:txBody>
          <a:bodyPr wrap="square" lIns="0" tIns="0" rIns="0" bIns="0" anchor="t" rtlCol="0">
            <a:noAutofit/>
          </a:bodyPr>
          <a:lstStyle/>
          <a:p>
            <a:pPr algn="l"/>
            <a:r>
              <a:rPr lang="ja-JP" altLang="en-US" sz="1500" b="1" dirty="0">
                <a:solidFill>
                  <a:srgbClr val="1F3A5F"/>
                </a:solidFill>
                <a:latin typeface="BIZ UDPGothic"/>
                <a:ea typeface="BIZ UDPGothic"/>
                <a:cs typeface="BIZ UDPGothic"/>
              </a:rPr>
              <a:t>北陸新幹線 敦賀開業</a:t>
            </a:r>
            <a:endParaRPr lang="ja-JP" sz="1500"/>
          </a:p>
        </p:txBody>
      </p:sp>
      <p:sp>
        <p:nvSpPr>
          <p:cNvPr id="37" name="Point sub 3"/>
          <p:cNvSpPr/>
          <p:nvPr/>
        </p:nvSpPr>
        <p:spPr>
          <a:xfrm>
            <a:off x="822960" y="5870448"/>
            <a:ext cx="5212080" cy="310896"/>
          </a:xfrm>
          <a:prstGeom prst="rect">
            <a:avLst/>
          </a:prstGeom>
          <a:noFill/>
          <a:ln>
            <a:noFill/>
          </a:ln>
        </p:spPr>
        <p:txBody>
          <a:bodyPr wrap="square" lIns="0" tIns="0" rIns="0" bIns="0" anchor="t" rtlCol="0">
            <a:noAutofit/>
          </a:bodyPr>
          <a:lstStyle/>
          <a:p>
            <a:pPr algn="l"/>
            <a:r>
              <a:rPr lang="ja-JP" altLang="en-US" sz="1250" b="0" dirty="0">
                <a:solidFill>
                  <a:srgbClr val="222222"/>
                </a:solidFill>
                <a:latin typeface="BIZ UDPGothic"/>
                <a:ea typeface="BIZ UDPGothic"/>
                <a:cs typeface="BIZ UDPGothic"/>
              </a:rPr>
              <a:t>2024年3月16日、金沢–敦賀間が延伸開業。敦賀駅が終着駅</a:t>
            </a:r>
            <a:endParaRPr lang="ja-JP" sz="1250"/>
          </a:p>
        </p:txBody>
      </p:sp>
      <p:pic>
        <p:nvPicPr>
          <p:cNvPr id="38" name="Photo kehi_matsubara_user.jpg" descr="気比の松原と日本海"/>
          <p:cNvPicPr>
            <a:picLocks noChangeAspect="1"/>
          </p:cNvPicPr>
          <p:nvPr/>
        </p:nvPicPr>
        <p:blipFill>
          <a:blip r:embed="rIdG2Hero2"/>
          <a:srcRect l="106" t="0" r="106" b="0"/>
          <a:stretch>
            <a:fillRect/>
          </a:stretch>
        </p:blipFill>
        <p:spPr>
          <a:xfrm>
            <a:off x="6309360" y="1874520"/>
            <a:ext cx="5333695" cy="3566160"/>
          </a:xfrm>
          <a:prstGeom prst="rect">
            <a:avLst/>
          </a:prstGeom>
        </p:spPr>
      </p:pic>
      <p:sp>
        <p:nvSpPr>
          <p:cNvPr id="39" name="Photo label"/>
          <p:cNvSpPr/>
          <p:nvPr/>
        </p:nvSpPr>
        <p:spPr>
          <a:xfrm>
            <a:off x="6309360" y="5029200"/>
            <a:ext cx="2651760" cy="411480"/>
          </a:xfrm>
          <a:prstGeom prst="rect">
            <a:avLst/>
          </a:prstGeom>
          <a:solidFill>
            <a:srgbClr val="1F3A5F"/>
          </a:solidFill>
          <a:ln>
            <a:noFill/>
          </a:ln>
        </p:spPr>
        <p:txBody>
          <a:bodyPr wrap="square" lIns="137160" tIns="0" rIns="137160" bIns="0" anchor="ctr" rtlCol="0">
            <a:noAutofit/>
          </a:bodyPr>
          <a:lstStyle/>
          <a:p>
            <a:pPr algn="l"/>
            <a:r>
              <a:rPr lang="ja-JP" altLang="en-US" sz="1300" b="1" dirty="0">
                <a:solidFill>
                  <a:srgbClr val="FFFFFF"/>
                </a:solidFill>
                <a:latin typeface="BIZ UDPGothic"/>
                <a:ea typeface="BIZ UDPGothic"/>
                <a:cs typeface="BIZ UDPGothic"/>
              </a:rPr>
              <a:t>気比の松原と日本海</a:t>
            </a:r>
            <a:endParaRPr lang="ja-JP" sz="1300"/>
          </a:p>
        </p:txBody>
      </p:sp>
      <p:sp>
        <p:nvSpPr>
          <p:cNvPr id="40" name="Credit"/>
          <p:cNvSpPr/>
          <p:nvPr/>
        </p:nvSpPr>
        <p:spPr>
          <a:xfrm>
            <a:off x="6309360" y="5486400"/>
            <a:ext cx="5333695" cy="274320"/>
          </a:xfrm>
          <a:prstGeom prst="rect">
            <a:avLst/>
          </a:prstGeom>
          <a:noFill/>
          <a:ln>
            <a:noFill/>
          </a:ln>
        </p:spPr>
        <p:txBody>
          <a:bodyPr wrap="square" lIns="0" tIns="18288" rIns="0" bIns="18288" anchor="t" rtlCol="0">
            <a:noAutofit/>
          </a:bodyPr>
          <a:lstStyle/>
          <a:p>
            <a:pPr algn="l">
              <a:lnSpc>
                <a:spcPct val="100000"/>
              </a:lnSpc>
            </a:pPr>
            <a:r>
              <a:rPr lang="ja-JP" altLang="en-US" sz="900" b="0" dirty="0">
                <a:solidFill>
                  <a:srgbClr val="666666"/>
                </a:solidFill>
                <a:latin typeface="BIZ UDPGothic"/>
                <a:ea typeface="BIZ UDPGothic"/>
                <a:cs typeface="BIZ UDPGothic"/>
              </a:rPr>
              <a:t>写真：気比の松原と日本海｜出典：敦賀うまいもん（tsuruga-umaimon.com）</a:t>
            </a:r>
            <a:endParaRPr lang="ja-JP" sz="900"/>
          </a:p>
        </p:txBody>
      </p:sp>
      <p:sp>
        <p:nvSpPr>
          <p:cNvPr id="41" name="Source note"/>
          <p:cNvSpPr/>
          <p:nvPr/>
        </p:nvSpPr>
        <p:spPr>
          <a:xfrm>
            <a:off x="6309360" y="5943600"/>
            <a:ext cx="5333695" cy="274320"/>
          </a:xfrm>
          <a:prstGeom prst="rect">
            <a:avLst/>
          </a:prstGeom>
          <a:noFill/>
          <a:ln>
            <a:noFill/>
          </a:ln>
        </p:spPr>
        <p:txBody>
          <a:bodyPr wrap="square" lIns="0" tIns="0" rIns="0" bIns="0" anchor="t" rtlCol="0">
            <a:noAutofit/>
          </a:bodyPr>
          <a:lstStyle/>
          <a:p>
            <a:pPr algn="r"/>
            <a:r>
              <a:rPr lang="ja-JP" altLang="en-US" sz="900" b="0" dirty="0">
                <a:solidFill>
                  <a:srgbClr val="666666"/>
                </a:solidFill>
                <a:latin typeface="BIZ UDPGothic"/>
                <a:ea typeface="BIZ UDPGothic"/>
                <a:cs typeface="BIZ UDPGothic"/>
              </a:rPr>
              <a:t>出典：Wikipedia「敦賀市」（2026年10月13日参照）</a:t>
            </a:r>
            <a:endParaRPr lang="ja-JP" sz="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Closing">
    <p:bg>
      <p:bgPr>
        <a:solidFill>
          <a:srgbClr val="FFFFFF"/>
        </a:solidFill>
        <a:effectLst/>
      </p:bgPr>
    </p:bg>
    <p:spTree>
      <p:nvGrpSpPr>
        <p:cNvPr id="1" name=""/>
        <p:cNvGrpSpPr/>
        <p:nvPr/>
      </p:nvGrpSpPr>
      <p:grpSpPr>
        <a:xfrm>
          <a:off x="0" y="0"/>
          <a:ext cx="0" cy="0"/>
          <a:chOff x="0" y="0"/>
          <a:chExt cx="0" cy="0"/>
        </a:xfrm>
      </p:grpSpPr>
      <p:sp>
        <p:nvSpPr>
          <p:cNvPr id="3" name="Navy panel"/>
          <p:cNvSpPr/>
          <p:nvPr/>
        </p:nvSpPr>
        <p:spPr>
          <a:xfrm>
            <a:off x="0" y="0"/>
            <a:ext cx="4327855" cy="6858000"/>
          </a:xfrm>
          <a:prstGeom prst="rect">
            <a:avLst/>
          </a:prstGeom>
          <a:solidFill>
            <a:srgbClr val="1F3A5F"/>
          </a:solidFill>
          <a:ln>
            <a:noFill/>
          </a:ln>
        </p:spPr>
      </p:sp>
      <p:sp>
        <p:nvSpPr>
          <p:cNvPr id="4" name="Orange edge"/>
          <p:cNvSpPr/>
          <p:nvPr/>
        </p:nvSpPr>
        <p:spPr>
          <a:xfrm>
            <a:off x="4327855" y="0"/>
            <a:ext cx="73152" cy="6858000"/>
          </a:xfrm>
          <a:prstGeom prst="rect">
            <a:avLst/>
          </a:prstGeom>
          <a:solidFill>
            <a:srgbClr val="F28C28"/>
          </a:solidFill>
          <a:ln>
            <a:noFill/>
          </a:ln>
        </p:spPr>
      </p:sp>
      <p:sp>
        <p:nvSpPr>
          <p:cNvPr id="5" name="Top line"/>
          <p:cNvSpPr/>
          <p:nvPr/>
        </p:nvSpPr>
        <p:spPr>
          <a:xfrm>
            <a:off x="4401007" y="0"/>
            <a:ext cx="7790688" cy="109728"/>
          </a:xfrm>
          <a:prstGeom prst="rect">
            <a:avLst/>
          </a:prstGeom>
          <a:solidFill>
            <a:srgbClr val="1F3A5F"/>
          </a:solidFill>
          <a:ln>
            <a:noFill/>
          </a:ln>
        </p:spPr>
      </p:sp>
      <p:sp>
        <p:nvSpPr>
          <p:cNvPr id="6" name="Kyusei 4"/>
          <p:cNvSpPr/>
          <p:nvPr/>
        </p:nvSpPr>
        <p:spPr>
          <a:xfrm>
            <a:off x="947776" y="2011680"/>
            <a:ext cx="731520" cy="731520"/>
          </a:xfrm>
          <a:prstGeom prst="rect">
            <a:avLst/>
          </a:prstGeom>
          <a:noFill/>
          <a:ln w="19050">
            <a:solidFill>
              <a:srgbClr val="FFFFFF"/>
            </a:solid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4</a:t>
            </a:r>
            <a:endParaRPr lang="ja-JP" sz="2200"/>
          </a:p>
        </p:txBody>
      </p:sp>
      <p:sp>
        <p:nvSpPr>
          <p:cNvPr id="7" name="Kyusei 9"/>
          <p:cNvSpPr/>
          <p:nvPr/>
        </p:nvSpPr>
        <p:spPr>
          <a:xfrm>
            <a:off x="1798168" y="2011680"/>
            <a:ext cx="731520" cy="731520"/>
          </a:xfrm>
          <a:prstGeom prst="rect">
            <a:avLst/>
          </a:prstGeom>
          <a:noFill/>
          <a:ln w="19050">
            <a:solidFill>
              <a:srgbClr val="FFFFFF"/>
            </a:solid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9</a:t>
            </a:r>
            <a:endParaRPr lang="ja-JP" sz="2200"/>
          </a:p>
        </p:txBody>
      </p:sp>
      <p:sp>
        <p:nvSpPr>
          <p:cNvPr id="8" name="Kyusei 2"/>
          <p:cNvSpPr/>
          <p:nvPr/>
        </p:nvSpPr>
        <p:spPr>
          <a:xfrm>
            <a:off x="2648560" y="2011680"/>
            <a:ext cx="731520" cy="731520"/>
          </a:xfrm>
          <a:prstGeom prst="rect">
            <a:avLst/>
          </a:prstGeom>
          <a:noFill/>
          <a:ln w="19050">
            <a:solidFill>
              <a:srgbClr val="FFFFFF"/>
            </a:solid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2</a:t>
            </a:r>
            <a:endParaRPr lang="ja-JP" sz="2200"/>
          </a:p>
        </p:txBody>
      </p:sp>
      <p:sp>
        <p:nvSpPr>
          <p:cNvPr id="9" name="Kyusei 3"/>
          <p:cNvSpPr/>
          <p:nvPr/>
        </p:nvSpPr>
        <p:spPr>
          <a:xfrm>
            <a:off x="947776" y="2862072"/>
            <a:ext cx="731520" cy="731520"/>
          </a:xfrm>
          <a:prstGeom prst="rect">
            <a:avLst/>
          </a:prstGeom>
          <a:noFill/>
          <a:ln w="19050">
            <a:solidFill>
              <a:srgbClr val="FFFFFF"/>
            </a:solid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3</a:t>
            </a:r>
            <a:endParaRPr lang="ja-JP" sz="2200"/>
          </a:p>
        </p:txBody>
      </p:sp>
      <p:sp>
        <p:nvSpPr>
          <p:cNvPr id="10" name="Kyusei 5"/>
          <p:cNvSpPr/>
          <p:nvPr/>
        </p:nvSpPr>
        <p:spPr>
          <a:xfrm>
            <a:off x="1798168" y="2862072"/>
            <a:ext cx="731520" cy="731520"/>
          </a:xfrm>
          <a:prstGeom prst="rect">
            <a:avLst/>
          </a:prstGeom>
          <a:solidFill>
            <a:srgbClr val="F28C28"/>
          </a:solidFill>
          <a:ln>
            <a:no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5</a:t>
            </a:r>
            <a:endParaRPr lang="ja-JP" sz="2200"/>
          </a:p>
        </p:txBody>
      </p:sp>
      <p:sp>
        <p:nvSpPr>
          <p:cNvPr id="11" name="Kyusei 7"/>
          <p:cNvSpPr/>
          <p:nvPr/>
        </p:nvSpPr>
        <p:spPr>
          <a:xfrm>
            <a:off x="2648560" y="2862072"/>
            <a:ext cx="731520" cy="731520"/>
          </a:xfrm>
          <a:prstGeom prst="rect">
            <a:avLst/>
          </a:prstGeom>
          <a:noFill/>
          <a:ln w="19050">
            <a:solidFill>
              <a:srgbClr val="FFFFFF"/>
            </a:solid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7</a:t>
            </a:r>
            <a:endParaRPr lang="ja-JP" sz="2200"/>
          </a:p>
        </p:txBody>
      </p:sp>
      <p:sp>
        <p:nvSpPr>
          <p:cNvPr id="12" name="Kyusei 8"/>
          <p:cNvSpPr/>
          <p:nvPr/>
        </p:nvSpPr>
        <p:spPr>
          <a:xfrm>
            <a:off x="947776" y="3712464"/>
            <a:ext cx="731520" cy="731520"/>
          </a:xfrm>
          <a:prstGeom prst="rect">
            <a:avLst/>
          </a:prstGeom>
          <a:noFill/>
          <a:ln w="19050">
            <a:solidFill>
              <a:srgbClr val="FFFFFF"/>
            </a:solid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8</a:t>
            </a:r>
            <a:endParaRPr lang="ja-JP" sz="2200"/>
          </a:p>
        </p:txBody>
      </p:sp>
      <p:sp>
        <p:nvSpPr>
          <p:cNvPr id="13" name="Kyusei 1"/>
          <p:cNvSpPr/>
          <p:nvPr/>
        </p:nvSpPr>
        <p:spPr>
          <a:xfrm>
            <a:off x="1798168" y="3712464"/>
            <a:ext cx="731520" cy="731520"/>
          </a:xfrm>
          <a:prstGeom prst="rect">
            <a:avLst/>
          </a:prstGeom>
          <a:noFill/>
          <a:ln w="19050">
            <a:solidFill>
              <a:srgbClr val="FFFFFF"/>
            </a:solid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1</a:t>
            </a:r>
            <a:endParaRPr lang="ja-JP" sz="2200"/>
          </a:p>
        </p:txBody>
      </p:sp>
      <p:sp>
        <p:nvSpPr>
          <p:cNvPr id="14" name="Kyusei 6"/>
          <p:cNvSpPr/>
          <p:nvPr/>
        </p:nvSpPr>
        <p:spPr>
          <a:xfrm>
            <a:off x="2648560" y="3712464"/>
            <a:ext cx="731520" cy="731520"/>
          </a:xfrm>
          <a:prstGeom prst="rect">
            <a:avLst/>
          </a:prstGeom>
          <a:noFill/>
          <a:ln w="19050">
            <a:solidFill>
              <a:srgbClr val="FFFFFF"/>
            </a:solidFill>
          </a:ln>
        </p:spPr>
        <p:txBody>
          <a:bodyPr wrap="square" lIns="0" tIns="0" rIns="0" bIns="0" anchor="ctr" rtlCol="0">
            <a:noAutofit/>
          </a:bodyPr>
          <a:lstStyle/>
          <a:p>
            <a:pPr algn="ctr"/>
            <a:r>
              <a:rPr lang="ja-JP" altLang="en-US" sz="2200" b="1" dirty="0">
                <a:solidFill>
                  <a:srgbClr val="FFFFFF"/>
                </a:solidFill>
                <a:latin typeface="BIZ UDPGothic"/>
                <a:ea typeface="BIZ UDPGothic"/>
                <a:cs typeface="BIZ UDPGothic"/>
              </a:rPr>
              <a:t>6</a:t>
            </a:r>
            <a:endParaRPr lang="ja-JP" sz="2200"/>
          </a:p>
        </p:txBody>
      </p:sp>
      <p:sp>
        <p:nvSpPr>
          <p:cNvPr id="15" name="Kicker bar"/>
          <p:cNvSpPr/>
          <p:nvPr/>
        </p:nvSpPr>
        <p:spPr>
          <a:xfrm>
            <a:off x="5120640" y="1965960"/>
            <a:ext cx="822960" cy="73152"/>
          </a:xfrm>
          <a:prstGeom prst="rect">
            <a:avLst/>
          </a:prstGeom>
          <a:solidFill>
            <a:srgbClr val="F28C28"/>
          </a:solidFill>
          <a:ln>
            <a:noFill/>
          </a:ln>
        </p:spPr>
      </p:sp>
      <p:sp>
        <p:nvSpPr>
          <p:cNvPr id="16" name="Thanks"/>
          <p:cNvSpPr/>
          <p:nvPr/>
        </p:nvSpPr>
        <p:spPr>
          <a:xfrm>
            <a:off x="5120640" y="2240280"/>
            <a:ext cx="6583680" cy="1828800"/>
          </a:xfrm>
          <a:prstGeom prst="rect">
            <a:avLst/>
          </a:prstGeom>
          <a:noFill/>
          <a:ln>
            <a:noFill/>
          </a:ln>
        </p:spPr>
        <p:txBody>
          <a:bodyPr wrap="square" lIns="0" tIns="0" rIns="0" bIns="0" anchor="t" rtlCol="0">
            <a:noAutofit/>
          </a:bodyPr>
          <a:lstStyle/>
          <a:p>
            <a:pPr algn="l">
              <a:lnSpc>
                <a:spcPct val="110000"/>
              </a:lnSpc>
            </a:pPr>
            <a:r>
              <a:rPr lang="ja-JP" altLang="en-US" sz="4800" b="1" dirty="0">
                <a:solidFill>
                  <a:srgbClr val="1F3A5F"/>
                </a:solidFill>
                <a:latin typeface="BIZ UDPGothic"/>
                <a:ea typeface="BIZ UDPGothic"/>
                <a:cs typeface="BIZ UDPGothic"/>
              </a:rPr>
              <a:t>ご清聴</a:t>
            </a:r>
            <a:endParaRPr lang="ja-JP" sz="4800"/>
          </a:p>
          <a:p>
            <a:pPr algn="l">
              <a:lnSpc>
                <a:spcPct val="110000"/>
              </a:lnSpc>
            </a:pPr>
            <a:r>
              <a:rPr lang="ja-JP" altLang="en-US" sz="4800" b="1" dirty="0">
                <a:solidFill>
                  <a:srgbClr val="1F3A5F"/>
                </a:solidFill>
                <a:latin typeface="BIZ UDPGothic"/>
                <a:ea typeface="BIZ UDPGothic"/>
                <a:cs typeface="BIZ UDPGothic"/>
              </a:rPr>
              <a:t>ありがとうございました</a:t>
            </a:r>
            <a:endParaRPr lang="ja-JP" sz="4800"/>
          </a:p>
        </p:txBody>
      </p:sp>
      <p:sp>
        <p:nvSpPr>
          <p:cNvPr id="17" name="Closing rule"/>
          <p:cNvSpPr/>
          <p:nvPr/>
        </p:nvSpPr>
        <p:spPr>
          <a:xfrm>
            <a:off x="5120640" y="4343400"/>
            <a:ext cx="6035040" cy="9144"/>
          </a:xfrm>
          <a:prstGeom prst="rect">
            <a:avLst/>
          </a:prstGeom>
          <a:solidFill>
            <a:srgbClr val="D0D7E2"/>
          </a:solidFill>
          <a:ln>
            <a:noFill/>
          </a:ln>
        </p:spPr>
      </p:sp>
      <p:sp>
        <p:nvSpPr>
          <p:cNvPr id="18" name="Closing name"/>
          <p:cNvSpPr/>
          <p:nvPr/>
        </p:nvSpPr>
        <p:spPr>
          <a:xfrm>
            <a:off x="5120640" y="4480560"/>
            <a:ext cx="6035040" cy="457200"/>
          </a:xfrm>
          <a:prstGeom prst="rect">
            <a:avLst/>
          </a:prstGeom>
          <a:noFill/>
          <a:ln>
            <a:noFill/>
          </a:ln>
        </p:spPr>
        <p:txBody>
          <a:bodyPr wrap="square" lIns="0" tIns="0" rIns="0" bIns="0" anchor="ctr" rtlCol="0">
            <a:noAutofit/>
          </a:bodyPr>
          <a:lstStyle/>
          <a:p>
            <a:pPr algn="l"/>
            <a:r>
              <a:rPr lang="ja-JP" altLang="en-US" sz="2200" b="1" dirty="0">
                <a:solidFill>
                  <a:srgbClr val="1F3A5F"/>
                </a:solidFill>
                <a:latin typeface="BIZ UDPGothic"/>
                <a:ea typeface="BIZ UDPGothic"/>
                <a:cs typeface="BIZ UDPGothic"/>
              </a:rPr>
              <a:t>石橋 真</a:t>
            </a:r>
            <a:r>
              <a:rPr lang="ja-JP" altLang="en-US" sz="1400" b="0" dirty="0">
                <a:solidFill>
                  <a:srgbClr val="666666"/>
                </a:solidFill>
                <a:latin typeface="BIZ UDPGothic"/>
                <a:ea typeface="BIZ UDPGothic"/>
                <a:cs typeface="BIZ UDPGothic"/>
              </a:rPr>
              <a:t>　｜　最近のあれこれ</a:t>
            </a:r>
            <a:endParaRPr lang="ja-JP" sz="2200"/>
          </a:p>
        </p:txBody>
      </p:sp>
      <p:sp>
        <p:nvSpPr>
          <p:cNvPr id="19" name="Footer rule"/>
          <p:cNvSpPr/>
          <p:nvPr/>
        </p:nvSpPr>
        <p:spPr>
          <a:xfrm>
            <a:off x="5120640" y="6355080"/>
            <a:ext cx="6522415" cy="9144"/>
          </a:xfrm>
          <a:prstGeom prst="rect">
            <a:avLst/>
          </a:prstGeom>
          <a:solidFill>
            <a:srgbClr val="D0D7E2"/>
          </a:solidFill>
          <a:ln>
            <a:noFill/>
          </a:ln>
        </p:spPr>
      </p:sp>
      <p:sp>
        <p:nvSpPr>
          <p:cNvPr id="20" name="Footer"/>
          <p:cNvSpPr/>
          <p:nvPr/>
        </p:nvSpPr>
        <p:spPr>
          <a:xfrm>
            <a:off x="5120640" y="6400800"/>
            <a:ext cx="45720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21"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13 / 14</a:t>
            </a:r>
            <a:endParaRPr lang="ja-JP"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loud Palette">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28C28"/>
                </a:solidFill>
                <a:latin typeface="BIZ UDPGothic"/>
                <a:ea typeface="BIZ UDPGothic"/>
                <a:cs typeface="BIZ UDPGothic"/>
              </a:rPr>
              <a:t>②  </a:t>
            </a:r>
            <a:r>
              <a:rPr lang="ja-JP" altLang="en-US" sz="2800" b="1" dirty="0">
                <a:solidFill>
                  <a:srgbClr val="FFFFFF"/>
                </a:solidFill>
                <a:latin typeface="BIZ UDPGothic"/>
                <a:ea typeface="BIZ UDPGothic"/>
                <a:cs typeface="BIZ UDPGothic"/>
              </a:rPr>
              <a:t>Cloud Palette</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引越しの方位とタイミングを決める ― 九星気学・方位・暦をWebで扱う個人開発サイト</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10 / 14</a:t>
            </a:r>
            <a:endParaRPr lang="ja-JP" sz="1000"/>
          </a:p>
        </p:txBody>
      </p:sp>
      <p:sp>
        <p:nvSpPr>
          <p:cNvPr id="11" name="Brand"/>
          <p:cNvSpPr/>
          <p:nvPr/>
        </p:nvSpPr>
        <p:spPr>
          <a:xfrm>
            <a:off x="548640" y="1783080"/>
            <a:ext cx="4160520" cy="594360"/>
          </a:xfrm>
          <a:prstGeom prst="rect">
            <a:avLst/>
          </a:prstGeom>
          <a:noFill/>
          <a:ln>
            <a:noFill/>
          </a:ln>
        </p:spPr>
        <p:txBody>
          <a:bodyPr wrap="square" lIns="0" tIns="0" rIns="0" bIns="0" anchor="ctr" rtlCol="0">
            <a:noAutofit/>
          </a:bodyPr>
          <a:lstStyle/>
          <a:p>
            <a:pPr algn="l"/>
            <a:r>
              <a:rPr lang="ja-JP" altLang="en-US" sz="3200" b="1" dirty="0">
                <a:solidFill>
                  <a:srgbClr val="1F3A5F"/>
                </a:solidFill>
                <a:latin typeface="BIZ UDPGothic"/>
                <a:ea typeface="BIZ UDPGothic"/>
                <a:cs typeface="BIZ UDPGothic"/>
              </a:rPr>
              <a:t>Cloud Palette</a:t>
            </a:r>
            <a:endParaRPr lang="ja-JP" sz="3200"/>
          </a:p>
        </p:txBody>
      </p:sp>
      <p:sp>
        <p:nvSpPr>
          <p:cNvPr id="12" name="URL"/>
          <p:cNvSpPr/>
          <p:nvPr/>
        </p:nvSpPr>
        <p:spPr>
          <a:xfrm>
            <a:off x="548640" y="2377440"/>
            <a:ext cx="4160520" cy="365760"/>
          </a:xfrm>
          <a:prstGeom prst="rect">
            <a:avLst/>
          </a:prstGeom>
          <a:noFill/>
          <a:ln>
            <a:noFill/>
          </a:ln>
        </p:spPr>
        <p:txBody>
          <a:bodyPr wrap="square" lIns="0" tIns="0" rIns="0" bIns="0" anchor="ctr" rtlCol="0">
            <a:noAutofit/>
          </a:bodyPr>
          <a:lstStyle/>
          <a:p>
            <a:pPr algn="l"/>
            <a:r>
              <a:rPr lang="en-US" altLang="ja-JP" sz="1500" b="1" u="sng" dirty="0">
                <a:solidFill>
                  <a:srgbClr val="F28C28"/>
                </a:solidFill>
                <a:latin typeface="BIZ UDPGothic"/>
                <a:ea typeface="BIZ UDPGothic"/>
                <a:cs typeface="BIZ UDPGothic"/>
                <a:hlinkClick r:id="rIdCPLink"/>
              </a:rPr>
              <a:t>https://cloud-palette.com/</a:t>
            </a:r>
            <a:endParaRPr lang="ja-JP" sz="1500"/>
          </a:p>
        </p:txBody>
      </p:sp>
      <p:sp>
        <p:nvSpPr>
          <p:cNvPr id="13" name="Feat head"/>
          <p:cNvSpPr/>
          <p:nvPr/>
        </p:nvSpPr>
        <p:spPr>
          <a:xfrm>
            <a:off x="548640" y="2880360"/>
            <a:ext cx="4160520" cy="329184"/>
          </a:xfrm>
          <a:prstGeom prst="rect">
            <a:avLst/>
          </a:prstGeom>
          <a:noFill/>
          <a:ln>
            <a:noFill/>
          </a:ln>
        </p:spPr>
        <p:txBody>
          <a:bodyPr wrap="square" lIns="0" tIns="0" rIns="0" bIns="0" anchor="ctr" rtlCol="0">
            <a:noAutofit/>
          </a:bodyPr>
          <a:lstStyle/>
          <a:p>
            <a:pPr algn="l"/>
            <a:r>
              <a:rPr lang="ja-JP" altLang="en-US" sz="1400" b="1" dirty="0">
                <a:solidFill>
                  <a:srgbClr val="1F3A5F"/>
                </a:solidFill>
                <a:latin typeface="BIZ UDPGothic"/>
                <a:ea typeface="BIZ UDPGothic"/>
                <a:cs typeface="BIZ UDPGothic"/>
              </a:rPr>
              <a:t>主な機能</a:t>
            </a:r>
            <a:endParaRPr lang="ja-JP" sz="1400"/>
          </a:p>
        </p:txBody>
      </p:sp>
      <p:sp>
        <p:nvSpPr>
          <p:cNvPr id="14" name="Feat box 0"/>
          <p:cNvSpPr/>
          <p:nvPr/>
        </p:nvSpPr>
        <p:spPr>
          <a:xfrm>
            <a:off x="548640" y="3246120"/>
            <a:ext cx="4160520" cy="475488"/>
          </a:xfrm>
          <a:prstGeom prst="rect">
            <a:avLst/>
          </a:prstGeom>
          <a:solidFill>
            <a:srgbClr val="F3F5F8"/>
          </a:solidFill>
          <a:ln>
            <a:noFill/>
          </a:ln>
        </p:spPr>
      </p:sp>
      <p:sp>
        <p:nvSpPr>
          <p:cNvPr id="15" name="Feat mark 0"/>
          <p:cNvSpPr/>
          <p:nvPr/>
        </p:nvSpPr>
        <p:spPr>
          <a:xfrm>
            <a:off x="548640" y="3246120"/>
            <a:ext cx="73152" cy="475488"/>
          </a:xfrm>
          <a:prstGeom prst="rect">
            <a:avLst/>
          </a:prstGeom>
          <a:solidFill>
            <a:srgbClr val="F28C28"/>
          </a:solidFill>
          <a:ln>
            <a:noFill/>
          </a:ln>
        </p:spPr>
      </p:sp>
      <p:sp>
        <p:nvSpPr>
          <p:cNvPr id="16" name="Feat text 0"/>
          <p:cNvSpPr/>
          <p:nvPr/>
        </p:nvSpPr>
        <p:spPr>
          <a:xfrm>
            <a:off x="777240" y="3246120"/>
            <a:ext cx="3840480" cy="475488"/>
          </a:xfrm>
          <a:prstGeom prst="rect">
            <a:avLst/>
          </a:prstGeom>
          <a:noFill/>
          <a:ln>
            <a:noFill/>
          </a:ln>
        </p:spPr>
        <p:txBody>
          <a:bodyPr wrap="square" lIns="0" tIns="0" rIns="0" bIns="0" anchor="ctr" rtlCol="0">
            <a:noAutofit/>
          </a:bodyPr>
          <a:lstStyle/>
          <a:p>
            <a:pPr algn="l"/>
            <a:r>
              <a:rPr lang="ja-JP" altLang="en-US" sz="1500" b="1" dirty="0">
                <a:solidFill>
                  <a:srgbClr val="222222"/>
                </a:solidFill>
                <a:latin typeface="BIZ UDPGothic"/>
                <a:ea typeface="BIZ UDPGothic"/>
                <a:cs typeface="BIZ UDPGothic"/>
              </a:rPr>
              <a:t>方位で街を探す</a:t>
            </a:r>
            <a:endParaRPr lang="ja-JP" sz="1500"/>
          </a:p>
        </p:txBody>
      </p:sp>
      <p:sp>
        <p:nvSpPr>
          <p:cNvPr id="17" name="Feat box 1"/>
          <p:cNvSpPr/>
          <p:nvPr/>
        </p:nvSpPr>
        <p:spPr>
          <a:xfrm>
            <a:off x="548640" y="3794760"/>
            <a:ext cx="4160520" cy="475488"/>
          </a:xfrm>
          <a:prstGeom prst="rect">
            <a:avLst/>
          </a:prstGeom>
          <a:solidFill>
            <a:srgbClr val="F3F5F8"/>
          </a:solidFill>
          <a:ln>
            <a:noFill/>
          </a:ln>
        </p:spPr>
      </p:sp>
      <p:sp>
        <p:nvSpPr>
          <p:cNvPr id="18" name="Feat mark 1"/>
          <p:cNvSpPr/>
          <p:nvPr/>
        </p:nvSpPr>
        <p:spPr>
          <a:xfrm>
            <a:off x="548640" y="3794760"/>
            <a:ext cx="73152" cy="475488"/>
          </a:xfrm>
          <a:prstGeom prst="rect">
            <a:avLst/>
          </a:prstGeom>
          <a:solidFill>
            <a:srgbClr val="F28C28"/>
          </a:solidFill>
          <a:ln>
            <a:noFill/>
          </a:ln>
        </p:spPr>
      </p:sp>
      <p:sp>
        <p:nvSpPr>
          <p:cNvPr id="19" name="Feat text 1"/>
          <p:cNvSpPr/>
          <p:nvPr/>
        </p:nvSpPr>
        <p:spPr>
          <a:xfrm>
            <a:off x="777240" y="3794760"/>
            <a:ext cx="3840480" cy="475488"/>
          </a:xfrm>
          <a:prstGeom prst="rect">
            <a:avLst/>
          </a:prstGeom>
          <a:noFill/>
          <a:ln>
            <a:noFill/>
          </a:ln>
        </p:spPr>
        <p:txBody>
          <a:bodyPr wrap="square" lIns="0" tIns="0" rIns="0" bIns="0" anchor="ctr" rtlCol="0">
            <a:noAutofit/>
          </a:bodyPr>
          <a:lstStyle/>
          <a:p>
            <a:pPr algn="l"/>
            <a:r>
              <a:rPr lang="ja-JP" altLang="en-US" sz="1500" b="1" dirty="0">
                <a:solidFill>
                  <a:srgbClr val="222222"/>
                </a:solidFill>
                <a:latin typeface="BIZ UDPGothic"/>
                <a:ea typeface="BIZ UDPGothic"/>
                <a:cs typeface="BIZ UDPGothic"/>
              </a:rPr>
              <a:t>引越し先を試算</a:t>
            </a:r>
            <a:endParaRPr lang="ja-JP" sz="1500"/>
          </a:p>
        </p:txBody>
      </p:sp>
      <p:sp>
        <p:nvSpPr>
          <p:cNvPr id="20" name="Feat box 2"/>
          <p:cNvSpPr/>
          <p:nvPr/>
        </p:nvSpPr>
        <p:spPr>
          <a:xfrm>
            <a:off x="548640" y="4343400"/>
            <a:ext cx="4160520" cy="475488"/>
          </a:xfrm>
          <a:prstGeom prst="rect">
            <a:avLst/>
          </a:prstGeom>
          <a:solidFill>
            <a:srgbClr val="F3F5F8"/>
          </a:solidFill>
          <a:ln>
            <a:noFill/>
          </a:ln>
        </p:spPr>
      </p:sp>
      <p:sp>
        <p:nvSpPr>
          <p:cNvPr id="21" name="Feat mark 2"/>
          <p:cNvSpPr/>
          <p:nvPr/>
        </p:nvSpPr>
        <p:spPr>
          <a:xfrm>
            <a:off x="548640" y="4343400"/>
            <a:ext cx="73152" cy="475488"/>
          </a:xfrm>
          <a:prstGeom prst="rect">
            <a:avLst/>
          </a:prstGeom>
          <a:solidFill>
            <a:srgbClr val="F28C28"/>
          </a:solidFill>
          <a:ln>
            <a:noFill/>
          </a:ln>
        </p:spPr>
      </p:sp>
      <p:sp>
        <p:nvSpPr>
          <p:cNvPr id="22" name="Feat text 2"/>
          <p:cNvSpPr/>
          <p:nvPr/>
        </p:nvSpPr>
        <p:spPr>
          <a:xfrm>
            <a:off x="777240" y="4343400"/>
            <a:ext cx="3840480" cy="475488"/>
          </a:xfrm>
          <a:prstGeom prst="rect">
            <a:avLst/>
          </a:prstGeom>
          <a:noFill/>
          <a:ln>
            <a:noFill/>
          </a:ln>
        </p:spPr>
        <p:txBody>
          <a:bodyPr wrap="square" lIns="0" tIns="0" rIns="0" bIns="0" anchor="ctr" rtlCol="0">
            <a:noAutofit/>
          </a:bodyPr>
          <a:lstStyle/>
          <a:p>
            <a:pPr algn="l"/>
            <a:r>
              <a:rPr lang="ja-JP" altLang="en-US" sz="1500" b="1" dirty="0">
                <a:solidFill>
                  <a:srgbClr val="222222"/>
                </a:solidFill>
                <a:latin typeface="BIZ UDPGothic"/>
                <a:ea typeface="BIZ UDPGothic"/>
                <a:cs typeface="BIZ UDPGothic"/>
              </a:rPr>
              <a:t>本命星と吉方位</a:t>
            </a:r>
            <a:endParaRPr lang="ja-JP" sz="1500"/>
          </a:p>
        </p:txBody>
      </p:sp>
      <p:sp>
        <p:nvSpPr>
          <p:cNvPr id="23" name="Feat box 3"/>
          <p:cNvSpPr/>
          <p:nvPr/>
        </p:nvSpPr>
        <p:spPr>
          <a:xfrm>
            <a:off x="548640" y="4892040"/>
            <a:ext cx="4160520" cy="475488"/>
          </a:xfrm>
          <a:prstGeom prst="rect">
            <a:avLst/>
          </a:prstGeom>
          <a:solidFill>
            <a:srgbClr val="F3F5F8"/>
          </a:solidFill>
          <a:ln>
            <a:noFill/>
          </a:ln>
        </p:spPr>
      </p:sp>
      <p:sp>
        <p:nvSpPr>
          <p:cNvPr id="24" name="Feat mark 3"/>
          <p:cNvSpPr/>
          <p:nvPr/>
        </p:nvSpPr>
        <p:spPr>
          <a:xfrm>
            <a:off x="548640" y="4892040"/>
            <a:ext cx="73152" cy="475488"/>
          </a:xfrm>
          <a:prstGeom prst="rect">
            <a:avLst/>
          </a:prstGeom>
          <a:solidFill>
            <a:srgbClr val="F28C28"/>
          </a:solidFill>
          <a:ln>
            <a:noFill/>
          </a:ln>
        </p:spPr>
      </p:sp>
      <p:sp>
        <p:nvSpPr>
          <p:cNvPr id="25" name="Feat text 3"/>
          <p:cNvSpPr/>
          <p:nvPr/>
        </p:nvSpPr>
        <p:spPr>
          <a:xfrm>
            <a:off x="777240" y="4892040"/>
            <a:ext cx="3840480" cy="475488"/>
          </a:xfrm>
          <a:prstGeom prst="rect">
            <a:avLst/>
          </a:prstGeom>
          <a:noFill/>
          <a:ln>
            <a:noFill/>
          </a:ln>
        </p:spPr>
        <p:txBody>
          <a:bodyPr wrap="square" lIns="0" tIns="0" rIns="0" bIns="0" anchor="ctr" rtlCol="0">
            <a:noAutofit/>
          </a:bodyPr>
          <a:lstStyle/>
          <a:p>
            <a:pPr algn="l"/>
            <a:r>
              <a:rPr lang="ja-JP" altLang="en-US" sz="1500" b="1" dirty="0">
                <a:solidFill>
                  <a:srgbClr val="222222"/>
                </a:solidFill>
                <a:latin typeface="BIZ UDPGothic"/>
                <a:ea typeface="BIZ UDPGothic"/>
                <a:cs typeface="BIZ UDPGothic"/>
              </a:rPr>
              <a:t>風水（八宅）</a:t>
            </a:r>
            <a:endParaRPr lang="ja-JP" sz="1500"/>
          </a:p>
        </p:txBody>
      </p:sp>
      <p:sp>
        <p:nvSpPr>
          <p:cNvPr id="26" name="Tech label"/>
          <p:cNvSpPr/>
          <p:nvPr/>
        </p:nvSpPr>
        <p:spPr>
          <a:xfrm>
            <a:off x="548640" y="5532120"/>
            <a:ext cx="822960" cy="640080"/>
          </a:xfrm>
          <a:prstGeom prst="rect">
            <a:avLst/>
          </a:prstGeom>
          <a:solidFill>
            <a:srgbClr val="1F3A5F"/>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技術</a:t>
            </a:r>
            <a:endParaRPr lang="ja-JP" sz="1200"/>
          </a:p>
        </p:txBody>
      </p:sp>
      <p:sp>
        <p:nvSpPr>
          <p:cNvPr id="27" name="Tech text"/>
          <p:cNvSpPr/>
          <p:nvPr/>
        </p:nvSpPr>
        <p:spPr>
          <a:xfrm>
            <a:off x="1463040" y="5532120"/>
            <a:ext cx="3246120" cy="640080"/>
          </a:xfrm>
          <a:prstGeom prst="rect">
            <a:avLst/>
          </a:prstGeom>
          <a:noFill/>
          <a:ln>
            <a:noFill/>
          </a:ln>
        </p:spPr>
        <p:txBody>
          <a:bodyPr wrap="square" lIns="0" tIns="0" rIns="0" bIns="0" anchor="ctr" rtlCol="0">
            <a:noAutofit/>
          </a:bodyPr>
          <a:lstStyle/>
          <a:p>
            <a:pPr algn="l">
              <a:lnSpc>
                <a:spcPct val="100000"/>
              </a:lnSpc>
            </a:pPr>
            <a:r>
              <a:rPr lang="ja-JP" altLang="en-US" sz="1200" b="0" dirty="0">
                <a:solidFill>
                  <a:srgbClr val="222222"/>
                </a:solidFill>
                <a:latin typeface="BIZ UDPGothic"/>
                <a:ea typeface="BIZ UDPGothic"/>
                <a:cs typeface="BIZ UDPGothic"/>
              </a:rPr>
              <a:t>Next.js・React・TypeScript・</a:t>
            </a:r>
            <a:endParaRPr lang="ja-JP" sz="1200"/>
          </a:p>
          <a:p>
            <a:pPr algn="l">
              <a:lnSpc>
                <a:spcPct val="100000"/>
              </a:lnSpc>
            </a:pPr>
            <a:r>
              <a:rPr lang="ja-JP" altLang="en-US" sz="1200" b="0" dirty="0">
                <a:solidFill>
                  <a:srgbClr val="222222"/>
                </a:solidFill>
                <a:latin typeface="BIZ UDPGothic"/>
                <a:ea typeface="BIZ UDPGothic"/>
                <a:cs typeface="BIZ UDPGothic"/>
              </a:rPr>
              <a:t>Supabase・Vercel・Google Cloud</a:t>
            </a:r>
            <a:endParaRPr lang="ja-JP" sz="1200"/>
          </a:p>
        </p:txBody>
      </p:sp>
      <p:pic>
        <p:nvPicPr>
          <p:cNvPr id="28" name="Photo cp_top.png" descr="Cloud Palette トップ画面"/>
          <p:cNvPicPr>
            <a:picLocks noChangeAspect="1"/>
          </p:cNvPicPr>
          <p:nvPr/>
        </p:nvPicPr>
        <p:blipFill>
          <a:blip r:embed="rIdCPTop"/>
          <a:srcRect l="0" t="0" r="0" b="0"/>
          <a:stretch>
            <a:fillRect/>
          </a:stretch>
        </p:blipFill>
        <p:spPr>
          <a:xfrm>
            <a:off x="4983480" y="1874520"/>
            <a:ext cx="4480560" cy="2800350"/>
          </a:xfrm>
          <a:prstGeom prst="rect">
            <a:avLst/>
          </a:prstGeom>
          <a:ln w="9525">
            <a:solidFill>
              <a:srgbClr val="D0D7E2"/>
            </a:solidFill>
          </a:ln>
        </p:spPr>
      </p:pic>
      <p:pic>
        <p:nvPicPr>
          <p:cNvPr id="29" name="Photo cp_feature1.png" descr="Cloud Palette 機能画面1"/>
          <p:cNvPicPr>
            <a:picLocks noChangeAspect="1"/>
          </p:cNvPicPr>
          <p:nvPr/>
        </p:nvPicPr>
        <p:blipFill>
          <a:blip r:embed="rIdCPF1"/>
          <a:srcRect l="0" t="0" r="0" b="0"/>
          <a:stretch>
            <a:fillRect/>
          </a:stretch>
        </p:blipFill>
        <p:spPr>
          <a:xfrm>
            <a:off x="9601200" y="1874520"/>
            <a:ext cx="2041855" cy="1276159"/>
          </a:xfrm>
          <a:prstGeom prst="rect">
            <a:avLst/>
          </a:prstGeom>
          <a:ln w="9525">
            <a:solidFill>
              <a:srgbClr val="D0D7E2"/>
            </a:solidFill>
          </a:ln>
        </p:spPr>
      </p:pic>
      <p:pic>
        <p:nvPicPr>
          <p:cNvPr id="30" name="Photo cp_feature2.png" descr="Cloud Palette 機能画面2"/>
          <p:cNvPicPr>
            <a:picLocks noChangeAspect="1"/>
          </p:cNvPicPr>
          <p:nvPr/>
        </p:nvPicPr>
        <p:blipFill>
          <a:blip r:embed="rIdCPF2"/>
          <a:srcRect l="0" t="0" r="0" b="0"/>
          <a:stretch>
            <a:fillRect/>
          </a:stretch>
        </p:blipFill>
        <p:spPr>
          <a:xfrm>
            <a:off x="9601200" y="3287839"/>
            <a:ext cx="2041855" cy="1276159"/>
          </a:xfrm>
          <a:prstGeom prst="rect">
            <a:avLst/>
          </a:prstGeom>
          <a:ln w="9525">
            <a:solidFill>
              <a:srgbClr val="D0D7E2"/>
            </a:solidFill>
          </a:ln>
        </p:spPr>
      </p:pic>
      <p:sp>
        <p:nvSpPr>
          <p:cNvPr id="31" name="Shot credit"/>
          <p:cNvSpPr/>
          <p:nvPr/>
        </p:nvSpPr>
        <p:spPr>
          <a:xfrm>
            <a:off x="4983480" y="4720590"/>
            <a:ext cx="6659575" cy="256032"/>
          </a:xfrm>
          <a:prstGeom prst="rect">
            <a:avLst/>
          </a:prstGeom>
          <a:noFill/>
          <a:ln>
            <a:noFill/>
          </a:ln>
        </p:spPr>
        <p:txBody>
          <a:bodyPr wrap="square" lIns="0" tIns="18288" rIns="0" bIns="18288" anchor="t" rtlCol="0">
            <a:noAutofit/>
          </a:bodyPr>
          <a:lstStyle/>
          <a:p>
            <a:pPr algn="l"/>
            <a:r>
              <a:rPr lang="ja-JP" altLang="en-US" sz="900" b="0" dirty="0">
                <a:solidFill>
                  <a:srgbClr val="666666"/>
                </a:solidFill>
                <a:latin typeface="BIZ UDPGothic"/>
                <a:ea typeface="BIZ UDPGothic"/>
                <a:cs typeface="BIZ UDPGothic"/>
              </a:rPr>
              <a:t>画面：自作サイト（cloud-palette.com）</a:t>
            </a:r>
            <a:endParaRPr lang="ja-JP" sz="900"/>
          </a:p>
        </p:txBody>
      </p:sp>
      <p:sp>
        <p:nvSpPr>
          <p:cNvPr id="32" name="Tags heading"/>
          <p:cNvSpPr/>
          <p:nvPr/>
        </p:nvSpPr>
        <p:spPr>
          <a:xfrm>
            <a:off x="4983480" y="5074920"/>
            <a:ext cx="1828800" cy="320040"/>
          </a:xfrm>
          <a:prstGeom prst="rect">
            <a:avLst/>
          </a:prstGeom>
          <a:noFill/>
          <a:ln>
            <a:noFill/>
          </a:ln>
        </p:spPr>
        <p:txBody>
          <a:bodyPr wrap="square" lIns="0" tIns="0" rIns="0" bIns="0" anchor="ctr" rtlCol="0">
            <a:noAutofit/>
          </a:bodyPr>
          <a:lstStyle/>
          <a:p>
            <a:pPr algn="l"/>
            <a:r>
              <a:rPr lang="ja-JP" altLang="en-US" sz="1300" b="1" dirty="0">
                <a:solidFill>
                  <a:srgbClr val="1F3A5F"/>
                </a:solidFill>
                <a:latin typeface="BIZ UDPGothic"/>
                <a:ea typeface="BIZ UDPGothic"/>
                <a:cs typeface="BIZ UDPGothic"/>
              </a:rPr>
              <a:t>最近の追加</a:t>
            </a:r>
            <a:endParaRPr lang="ja-JP" sz="1300"/>
          </a:p>
        </p:txBody>
      </p:sp>
      <p:sp>
        <p:nvSpPr>
          <p:cNvPr id="33" name="Tag box 0"/>
          <p:cNvSpPr/>
          <p:nvPr/>
        </p:nvSpPr>
        <p:spPr>
          <a:xfrm>
            <a:off x="4983480" y="5486400"/>
            <a:ext cx="3261208" cy="685800"/>
          </a:xfrm>
          <a:prstGeom prst="rect">
            <a:avLst/>
          </a:prstGeom>
          <a:noFill/>
          <a:ln w="12700">
            <a:solidFill>
              <a:srgbClr val="D0D7E2"/>
            </a:solidFill>
          </a:ln>
        </p:spPr>
      </p:sp>
      <p:sp>
        <p:nvSpPr>
          <p:cNvPr id="34" name="Tag badge 0"/>
          <p:cNvSpPr/>
          <p:nvPr/>
        </p:nvSpPr>
        <p:spPr>
          <a:xfrm>
            <a:off x="5166360" y="5669280"/>
            <a:ext cx="731520" cy="320040"/>
          </a:xfrm>
          <a:prstGeom prst="roundRect">
            <a:avLst/>
          </a:prstGeom>
          <a:solidFill>
            <a:srgbClr val="F28C28"/>
          </a:solidFill>
          <a:ln>
            <a:noFill/>
          </a:ln>
        </p:spPr>
        <p:txBody>
          <a:bodyPr wrap="square" lIns="0" tIns="0" rIns="0" bIns="0" anchor="ctr" rtlCol="0">
            <a:noAutofit/>
          </a:bodyPr>
          <a:lstStyle/>
          <a:p>
            <a:pPr algn="ctr"/>
            <a:r>
              <a:rPr lang="ja-JP" altLang="en-US" sz="1100" b="1" dirty="0">
                <a:solidFill>
                  <a:srgbClr val="FFFFFF"/>
                </a:solidFill>
                <a:latin typeface="BIZ UDPGothic"/>
                <a:ea typeface="BIZ UDPGothic"/>
                <a:cs typeface="BIZ UDPGothic"/>
              </a:rPr>
              <a:t>NEW</a:t>
            </a:r>
            <a:endParaRPr lang="ja-JP" sz="1100"/>
          </a:p>
        </p:txBody>
      </p:sp>
      <p:sp>
        <p:nvSpPr>
          <p:cNvPr id="35" name="Tag text 0"/>
          <p:cNvSpPr/>
          <p:nvPr/>
        </p:nvSpPr>
        <p:spPr>
          <a:xfrm>
            <a:off x="6035040" y="5486400"/>
            <a:ext cx="2118208" cy="685800"/>
          </a:xfrm>
          <a:prstGeom prst="rect">
            <a:avLst/>
          </a:prstGeom>
          <a:noFill/>
          <a:ln>
            <a:noFill/>
          </a:ln>
        </p:spPr>
        <p:txBody>
          <a:bodyPr wrap="square" lIns="0" tIns="0" rIns="0" bIns="0" anchor="ctr" rtlCol="0">
            <a:noAutofit/>
          </a:bodyPr>
          <a:lstStyle/>
          <a:p>
            <a:pPr algn="l"/>
            <a:r>
              <a:rPr lang="ja-JP" altLang="en-US" sz="1600" b="1" dirty="0">
                <a:solidFill>
                  <a:srgbClr val="1F3A5F"/>
                </a:solidFill>
                <a:latin typeface="BIZ UDPGothic"/>
                <a:ea typeface="BIZ UDPGothic"/>
                <a:cs typeface="BIZ UDPGothic"/>
              </a:rPr>
              <a:t>MCPサーバー</a:t>
            </a:r>
            <a:endParaRPr lang="ja-JP" sz="1600"/>
          </a:p>
        </p:txBody>
      </p:sp>
      <p:sp>
        <p:nvSpPr>
          <p:cNvPr id="36" name="Tag box 1"/>
          <p:cNvSpPr/>
          <p:nvPr/>
        </p:nvSpPr>
        <p:spPr>
          <a:xfrm>
            <a:off x="8381848" y="5486400"/>
            <a:ext cx="3261208" cy="685800"/>
          </a:xfrm>
          <a:prstGeom prst="rect">
            <a:avLst/>
          </a:prstGeom>
          <a:noFill/>
          <a:ln w="12700">
            <a:solidFill>
              <a:srgbClr val="D0D7E2"/>
            </a:solidFill>
          </a:ln>
        </p:spPr>
      </p:sp>
      <p:sp>
        <p:nvSpPr>
          <p:cNvPr id="37" name="Tag badge 1"/>
          <p:cNvSpPr/>
          <p:nvPr/>
        </p:nvSpPr>
        <p:spPr>
          <a:xfrm>
            <a:off x="8564728" y="5669280"/>
            <a:ext cx="731520" cy="320040"/>
          </a:xfrm>
          <a:prstGeom prst="roundRect">
            <a:avLst/>
          </a:prstGeom>
          <a:solidFill>
            <a:srgbClr val="F28C28"/>
          </a:solidFill>
          <a:ln>
            <a:noFill/>
          </a:ln>
        </p:spPr>
        <p:txBody>
          <a:bodyPr wrap="square" lIns="0" tIns="0" rIns="0" bIns="0" anchor="ctr" rtlCol="0">
            <a:noAutofit/>
          </a:bodyPr>
          <a:lstStyle/>
          <a:p>
            <a:pPr algn="ctr"/>
            <a:r>
              <a:rPr lang="ja-JP" altLang="en-US" sz="1100" b="1" dirty="0">
                <a:solidFill>
                  <a:srgbClr val="FFFFFF"/>
                </a:solidFill>
                <a:latin typeface="BIZ UDPGothic"/>
                <a:ea typeface="BIZ UDPGothic"/>
                <a:cs typeface="BIZ UDPGothic"/>
              </a:rPr>
              <a:t>NEW</a:t>
            </a:r>
            <a:endParaRPr lang="ja-JP" sz="1100"/>
          </a:p>
        </p:txBody>
      </p:sp>
      <p:sp>
        <p:nvSpPr>
          <p:cNvPr id="38" name="Tag text 1"/>
          <p:cNvSpPr/>
          <p:nvPr/>
        </p:nvSpPr>
        <p:spPr>
          <a:xfrm>
            <a:off x="9433408" y="5486400"/>
            <a:ext cx="2118208" cy="685800"/>
          </a:xfrm>
          <a:prstGeom prst="rect">
            <a:avLst/>
          </a:prstGeom>
          <a:noFill/>
          <a:ln>
            <a:noFill/>
          </a:ln>
        </p:spPr>
        <p:txBody>
          <a:bodyPr wrap="square" lIns="0" tIns="0" rIns="0" bIns="0" anchor="ctr" rtlCol="0">
            <a:noAutofit/>
          </a:bodyPr>
          <a:lstStyle/>
          <a:p>
            <a:pPr algn="l"/>
            <a:r>
              <a:rPr lang="ja-JP" altLang="en-US" sz="1600" b="1" dirty="0">
                <a:solidFill>
                  <a:srgbClr val="1F3A5F"/>
                </a:solidFill>
                <a:latin typeface="BIZ UDPGothic"/>
                <a:ea typeface="BIZ UDPGothic"/>
                <a:cs typeface="BIZ UDPGothic"/>
              </a:rPr>
              <a:t>ニュース</a:t>
            </a:r>
            <a:endParaRPr lang="ja-JP"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Bot uses">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28C28"/>
                </a:solidFill>
                <a:latin typeface="BIZ UDPGothic"/>
                <a:ea typeface="BIZ UDPGothic"/>
                <a:cs typeface="BIZ UDPGothic"/>
              </a:rPr>
              <a:t>②  </a:t>
            </a:r>
            <a:r>
              <a:rPr lang="ja-JP" altLang="en-US" sz="2800" b="1" dirty="0">
                <a:solidFill>
                  <a:srgbClr val="FFFFFF"/>
                </a:solidFill>
                <a:latin typeface="BIZ UDPGothic"/>
                <a:ea typeface="BIZ UDPGothic"/>
                <a:cs typeface="BIZ UDPGothic"/>
              </a:rPr>
              <a:t>Grok Botの使い方</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用途ごとにボットを使い分けています</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8 / 14</a:t>
            </a:r>
            <a:endParaRPr lang="ja-JP" sz="1000"/>
          </a:p>
        </p:txBody>
      </p:sp>
      <p:sp>
        <p:nvSpPr>
          <p:cNvPr id="11" name="Bot tile 0"/>
          <p:cNvSpPr/>
          <p:nvPr/>
        </p:nvSpPr>
        <p:spPr>
          <a:xfrm>
            <a:off x="548640" y="1874520"/>
            <a:ext cx="1565910" cy="2103120"/>
          </a:xfrm>
          <a:prstGeom prst="rect">
            <a:avLst/>
          </a:prstGeom>
          <a:solidFill>
            <a:srgbClr val="F3F5F8"/>
          </a:solidFill>
          <a:ln>
            <a:noFill/>
          </a:ln>
        </p:spPr>
      </p:sp>
      <p:sp>
        <p:nvSpPr>
          <p:cNvPr id="12" name="Bot bar 0"/>
          <p:cNvSpPr/>
          <p:nvPr/>
        </p:nvSpPr>
        <p:spPr>
          <a:xfrm>
            <a:off x="548640" y="1874520"/>
            <a:ext cx="1565910" cy="54864"/>
          </a:xfrm>
          <a:prstGeom prst="rect">
            <a:avLst/>
          </a:prstGeom>
          <a:solidFill>
            <a:srgbClr val="F28C28"/>
          </a:solidFill>
          <a:ln>
            <a:noFill/>
          </a:ln>
        </p:spPr>
      </p:sp>
      <p:sp>
        <p:nvSpPr>
          <p:cNvPr id="13" name="Bot icon 0"/>
          <p:cNvSpPr/>
          <p:nvPr/>
        </p:nvSpPr>
        <p:spPr>
          <a:xfrm>
            <a:off x="1011555" y="2286000"/>
            <a:ext cx="640080" cy="640080"/>
          </a:xfrm>
          <a:prstGeom prst="ellipse">
            <a:avLst/>
          </a:prstGeom>
          <a:solidFill>
            <a:srgbClr val="1F3A5F"/>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Bot</a:t>
            </a:r>
            <a:endParaRPr lang="ja-JP" sz="1200"/>
          </a:p>
        </p:txBody>
      </p:sp>
      <p:sp>
        <p:nvSpPr>
          <p:cNvPr id="14" name="Bot name 0"/>
          <p:cNvSpPr/>
          <p:nvPr/>
        </p:nvSpPr>
        <p:spPr>
          <a:xfrm>
            <a:off x="594360" y="3063240"/>
            <a:ext cx="1474470" cy="548640"/>
          </a:xfrm>
          <a:prstGeom prst="rect">
            <a:avLst/>
          </a:prstGeom>
          <a:noFill/>
          <a:ln>
            <a:noFill/>
          </a:ln>
        </p:spPr>
        <p:txBody>
          <a:bodyPr wrap="square" lIns="0" tIns="0" rIns="0" bIns="0" anchor="ctr" rtlCol="0">
            <a:noAutofit/>
          </a:bodyPr>
          <a:lstStyle/>
          <a:p>
            <a:pPr algn="ctr"/>
            <a:r>
              <a:rPr lang="ja-JP" altLang="en-US" sz="1600" b="1" dirty="0">
                <a:solidFill>
                  <a:srgbClr val="1F3A5F"/>
                </a:solidFill>
                <a:latin typeface="BIZ UDPGothic"/>
                <a:ea typeface="BIZ UDPGothic"/>
                <a:cs typeface="BIZ UDPGothic"/>
              </a:rPr>
              <a:t>SEO</a:t>
            </a:r>
            <a:endParaRPr lang="ja-JP" sz="1600"/>
          </a:p>
        </p:txBody>
      </p:sp>
      <p:sp>
        <p:nvSpPr>
          <p:cNvPr id="15" name="Bot cap 0"/>
          <p:cNvSpPr/>
          <p:nvPr/>
        </p:nvSpPr>
        <p:spPr>
          <a:xfrm>
            <a:off x="594360" y="3630168"/>
            <a:ext cx="1474470" cy="274320"/>
          </a:xfrm>
          <a:prstGeom prst="rect">
            <a:avLst/>
          </a:prstGeom>
          <a:noFill/>
          <a:ln>
            <a:noFill/>
          </a:ln>
        </p:spPr>
        <p:txBody>
          <a:bodyPr wrap="square" lIns="0" tIns="0" rIns="0" bIns="0" anchor="ctr" rtlCol="0">
            <a:noAutofit/>
          </a:bodyPr>
          <a:lstStyle/>
          <a:p>
            <a:pPr algn="ctr"/>
            <a:r>
              <a:rPr lang="ja-JP" altLang="en-US" sz="1100" b="0" dirty="0">
                <a:solidFill>
                  <a:srgbClr val="666666"/>
                </a:solidFill>
                <a:latin typeface="BIZ UDPGothic"/>
                <a:ea typeface="BIZ UDPGothic"/>
                <a:cs typeface="BIZ UDPGothic"/>
              </a:rPr>
              <a:t>ボット</a:t>
            </a:r>
            <a:endParaRPr lang="ja-JP" sz="1100"/>
          </a:p>
        </p:txBody>
      </p:sp>
      <p:sp>
        <p:nvSpPr>
          <p:cNvPr id="16" name="Bot tile 1"/>
          <p:cNvSpPr/>
          <p:nvPr/>
        </p:nvSpPr>
        <p:spPr>
          <a:xfrm>
            <a:off x="2251710" y="1874520"/>
            <a:ext cx="1565910" cy="2103120"/>
          </a:xfrm>
          <a:prstGeom prst="rect">
            <a:avLst/>
          </a:prstGeom>
          <a:solidFill>
            <a:srgbClr val="F3F5F8"/>
          </a:solidFill>
          <a:ln>
            <a:noFill/>
          </a:ln>
        </p:spPr>
      </p:sp>
      <p:sp>
        <p:nvSpPr>
          <p:cNvPr id="17" name="Bot bar 1"/>
          <p:cNvSpPr/>
          <p:nvPr/>
        </p:nvSpPr>
        <p:spPr>
          <a:xfrm>
            <a:off x="2251710" y="1874520"/>
            <a:ext cx="1565910" cy="54864"/>
          </a:xfrm>
          <a:prstGeom prst="rect">
            <a:avLst/>
          </a:prstGeom>
          <a:solidFill>
            <a:srgbClr val="F28C28"/>
          </a:solidFill>
          <a:ln>
            <a:noFill/>
          </a:ln>
        </p:spPr>
      </p:sp>
      <p:sp>
        <p:nvSpPr>
          <p:cNvPr id="18" name="Bot icon 1"/>
          <p:cNvSpPr/>
          <p:nvPr/>
        </p:nvSpPr>
        <p:spPr>
          <a:xfrm>
            <a:off x="2714625" y="2286000"/>
            <a:ext cx="640080" cy="640080"/>
          </a:xfrm>
          <a:prstGeom prst="ellipse">
            <a:avLst/>
          </a:prstGeom>
          <a:solidFill>
            <a:srgbClr val="1F3A5F"/>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Bot</a:t>
            </a:r>
            <a:endParaRPr lang="ja-JP" sz="1200"/>
          </a:p>
        </p:txBody>
      </p:sp>
      <p:sp>
        <p:nvSpPr>
          <p:cNvPr id="19" name="Bot name 1"/>
          <p:cNvSpPr/>
          <p:nvPr/>
        </p:nvSpPr>
        <p:spPr>
          <a:xfrm>
            <a:off x="2297430" y="3063240"/>
            <a:ext cx="1474470" cy="548640"/>
          </a:xfrm>
          <a:prstGeom prst="rect">
            <a:avLst/>
          </a:prstGeom>
          <a:noFill/>
          <a:ln>
            <a:noFill/>
          </a:ln>
        </p:spPr>
        <p:txBody>
          <a:bodyPr wrap="square" lIns="0" tIns="0" rIns="0" bIns="0" anchor="ctr" rtlCol="0">
            <a:noAutofit/>
          </a:bodyPr>
          <a:lstStyle/>
          <a:p>
            <a:pPr algn="ctr"/>
            <a:r>
              <a:rPr lang="ja-JP" altLang="en-US" sz="1600" b="1" dirty="0">
                <a:solidFill>
                  <a:srgbClr val="1F3A5F"/>
                </a:solidFill>
                <a:latin typeface="BIZ UDPGothic"/>
                <a:ea typeface="BIZ UDPGothic"/>
                <a:cs typeface="BIZ UDPGothic"/>
              </a:rPr>
              <a:t>X投稿</a:t>
            </a:r>
            <a:endParaRPr lang="ja-JP" sz="1600"/>
          </a:p>
        </p:txBody>
      </p:sp>
      <p:sp>
        <p:nvSpPr>
          <p:cNvPr id="20" name="Bot cap 1"/>
          <p:cNvSpPr/>
          <p:nvPr/>
        </p:nvSpPr>
        <p:spPr>
          <a:xfrm>
            <a:off x="2297430" y="3630168"/>
            <a:ext cx="1474470" cy="274320"/>
          </a:xfrm>
          <a:prstGeom prst="rect">
            <a:avLst/>
          </a:prstGeom>
          <a:noFill/>
          <a:ln>
            <a:noFill/>
          </a:ln>
        </p:spPr>
        <p:txBody>
          <a:bodyPr wrap="square" lIns="0" tIns="0" rIns="0" bIns="0" anchor="ctr" rtlCol="0">
            <a:noAutofit/>
          </a:bodyPr>
          <a:lstStyle/>
          <a:p>
            <a:pPr algn="ctr"/>
            <a:r>
              <a:rPr lang="ja-JP" altLang="en-US" sz="1100" b="0" dirty="0">
                <a:solidFill>
                  <a:srgbClr val="666666"/>
                </a:solidFill>
                <a:latin typeface="BIZ UDPGothic"/>
                <a:ea typeface="BIZ UDPGothic"/>
                <a:cs typeface="BIZ UDPGothic"/>
              </a:rPr>
              <a:t>ボット</a:t>
            </a:r>
            <a:endParaRPr lang="ja-JP" sz="1100"/>
          </a:p>
        </p:txBody>
      </p:sp>
      <p:sp>
        <p:nvSpPr>
          <p:cNvPr id="21" name="Bot tile 2"/>
          <p:cNvSpPr/>
          <p:nvPr/>
        </p:nvSpPr>
        <p:spPr>
          <a:xfrm>
            <a:off x="3954780" y="1874520"/>
            <a:ext cx="1565910" cy="2103120"/>
          </a:xfrm>
          <a:prstGeom prst="rect">
            <a:avLst/>
          </a:prstGeom>
          <a:solidFill>
            <a:srgbClr val="F3F5F8"/>
          </a:solidFill>
          <a:ln>
            <a:noFill/>
          </a:ln>
        </p:spPr>
      </p:sp>
      <p:sp>
        <p:nvSpPr>
          <p:cNvPr id="22" name="Bot bar 2"/>
          <p:cNvSpPr/>
          <p:nvPr/>
        </p:nvSpPr>
        <p:spPr>
          <a:xfrm>
            <a:off x="3954780" y="1874520"/>
            <a:ext cx="1565910" cy="54864"/>
          </a:xfrm>
          <a:prstGeom prst="rect">
            <a:avLst/>
          </a:prstGeom>
          <a:solidFill>
            <a:srgbClr val="F28C28"/>
          </a:solidFill>
          <a:ln>
            <a:noFill/>
          </a:ln>
        </p:spPr>
      </p:sp>
      <p:sp>
        <p:nvSpPr>
          <p:cNvPr id="23" name="Bot icon 2"/>
          <p:cNvSpPr/>
          <p:nvPr/>
        </p:nvSpPr>
        <p:spPr>
          <a:xfrm>
            <a:off x="4417695" y="2286000"/>
            <a:ext cx="640080" cy="640080"/>
          </a:xfrm>
          <a:prstGeom prst="ellipse">
            <a:avLst/>
          </a:prstGeom>
          <a:solidFill>
            <a:srgbClr val="1F3A5F"/>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Bot</a:t>
            </a:r>
            <a:endParaRPr lang="ja-JP" sz="1200"/>
          </a:p>
        </p:txBody>
      </p:sp>
      <p:sp>
        <p:nvSpPr>
          <p:cNvPr id="24" name="Bot name 2"/>
          <p:cNvSpPr/>
          <p:nvPr/>
        </p:nvSpPr>
        <p:spPr>
          <a:xfrm>
            <a:off x="4000500" y="3063240"/>
            <a:ext cx="1474470" cy="548640"/>
          </a:xfrm>
          <a:prstGeom prst="rect">
            <a:avLst/>
          </a:prstGeom>
          <a:noFill/>
          <a:ln>
            <a:noFill/>
          </a:ln>
        </p:spPr>
        <p:txBody>
          <a:bodyPr wrap="square" lIns="0" tIns="0" rIns="0" bIns="0" anchor="ctr" rtlCol="0">
            <a:noAutofit/>
          </a:bodyPr>
          <a:lstStyle/>
          <a:p>
            <a:pPr algn="ctr"/>
            <a:r>
              <a:rPr lang="ja-JP" altLang="en-US" sz="1600" b="1" dirty="0">
                <a:solidFill>
                  <a:srgbClr val="1F3A5F"/>
                </a:solidFill>
                <a:latin typeface="BIZ UDPGothic"/>
                <a:ea typeface="BIZ UDPGothic"/>
                <a:cs typeface="BIZ UDPGothic"/>
              </a:rPr>
              <a:t>YouTube</a:t>
            </a:r>
            <a:endParaRPr lang="ja-JP" sz="1600"/>
          </a:p>
        </p:txBody>
      </p:sp>
      <p:sp>
        <p:nvSpPr>
          <p:cNvPr id="25" name="Bot cap 2"/>
          <p:cNvSpPr/>
          <p:nvPr/>
        </p:nvSpPr>
        <p:spPr>
          <a:xfrm>
            <a:off x="4000500" y="3630168"/>
            <a:ext cx="1474470" cy="274320"/>
          </a:xfrm>
          <a:prstGeom prst="rect">
            <a:avLst/>
          </a:prstGeom>
          <a:noFill/>
          <a:ln>
            <a:noFill/>
          </a:ln>
        </p:spPr>
        <p:txBody>
          <a:bodyPr wrap="square" lIns="0" tIns="0" rIns="0" bIns="0" anchor="ctr" rtlCol="0">
            <a:noAutofit/>
          </a:bodyPr>
          <a:lstStyle/>
          <a:p>
            <a:pPr algn="ctr"/>
            <a:r>
              <a:rPr lang="ja-JP" altLang="en-US" sz="1100" b="0" dirty="0">
                <a:solidFill>
                  <a:srgbClr val="666666"/>
                </a:solidFill>
                <a:latin typeface="BIZ UDPGothic"/>
                <a:ea typeface="BIZ UDPGothic"/>
                <a:cs typeface="BIZ UDPGothic"/>
              </a:rPr>
              <a:t>ボット</a:t>
            </a:r>
            <a:endParaRPr lang="ja-JP" sz="1100"/>
          </a:p>
        </p:txBody>
      </p:sp>
      <p:sp>
        <p:nvSpPr>
          <p:cNvPr id="26" name="Bot tile 3"/>
          <p:cNvSpPr/>
          <p:nvPr/>
        </p:nvSpPr>
        <p:spPr>
          <a:xfrm>
            <a:off x="5657850" y="1874520"/>
            <a:ext cx="1565910" cy="2103120"/>
          </a:xfrm>
          <a:prstGeom prst="rect">
            <a:avLst/>
          </a:prstGeom>
          <a:solidFill>
            <a:srgbClr val="F3F5F8"/>
          </a:solidFill>
          <a:ln>
            <a:noFill/>
          </a:ln>
        </p:spPr>
      </p:sp>
      <p:sp>
        <p:nvSpPr>
          <p:cNvPr id="27" name="Bot bar 3"/>
          <p:cNvSpPr/>
          <p:nvPr/>
        </p:nvSpPr>
        <p:spPr>
          <a:xfrm>
            <a:off x="5657850" y="1874520"/>
            <a:ext cx="1565910" cy="54864"/>
          </a:xfrm>
          <a:prstGeom prst="rect">
            <a:avLst/>
          </a:prstGeom>
          <a:solidFill>
            <a:srgbClr val="F28C28"/>
          </a:solidFill>
          <a:ln>
            <a:noFill/>
          </a:ln>
        </p:spPr>
      </p:sp>
      <p:sp>
        <p:nvSpPr>
          <p:cNvPr id="28" name="Bot icon 3"/>
          <p:cNvSpPr/>
          <p:nvPr/>
        </p:nvSpPr>
        <p:spPr>
          <a:xfrm>
            <a:off x="6120765" y="2286000"/>
            <a:ext cx="640080" cy="640080"/>
          </a:xfrm>
          <a:prstGeom prst="ellipse">
            <a:avLst/>
          </a:prstGeom>
          <a:solidFill>
            <a:srgbClr val="1F3A5F"/>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Bot</a:t>
            </a:r>
            <a:endParaRPr lang="ja-JP" sz="1200"/>
          </a:p>
        </p:txBody>
      </p:sp>
      <p:sp>
        <p:nvSpPr>
          <p:cNvPr id="29" name="Bot name 3"/>
          <p:cNvSpPr/>
          <p:nvPr/>
        </p:nvSpPr>
        <p:spPr>
          <a:xfrm>
            <a:off x="5703570" y="3063240"/>
            <a:ext cx="1474470" cy="548640"/>
          </a:xfrm>
          <a:prstGeom prst="rect">
            <a:avLst/>
          </a:prstGeom>
          <a:noFill/>
          <a:ln>
            <a:noFill/>
          </a:ln>
        </p:spPr>
        <p:txBody>
          <a:bodyPr wrap="square" lIns="0" tIns="0" rIns="0" bIns="0" anchor="ctr" rtlCol="0">
            <a:noAutofit/>
          </a:bodyPr>
          <a:lstStyle/>
          <a:p>
            <a:pPr algn="ctr"/>
            <a:r>
              <a:rPr lang="ja-JP" altLang="en-US" sz="1600" b="1" dirty="0">
                <a:solidFill>
                  <a:srgbClr val="1F3A5F"/>
                </a:solidFill>
                <a:latin typeface="BIZ UDPGothic"/>
                <a:ea typeface="BIZ UDPGothic"/>
                <a:cs typeface="BIZ UDPGothic"/>
              </a:rPr>
              <a:t>検索</a:t>
            </a:r>
            <a:endParaRPr lang="ja-JP" sz="1600"/>
          </a:p>
        </p:txBody>
      </p:sp>
      <p:sp>
        <p:nvSpPr>
          <p:cNvPr id="30" name="Bot cap 3"/>
          <p:cNvSpPr/>
          <p:nvPr/>
        </p:nvSpPr>
        <p:spPr>
          <a:xfrm>
            <a:off x="5703570" y="3630168"/>
            <a:ext cx="1474470" cy="274320"/>
          </a:xfrm>
          <a:prstGeom prst="rect">
            <a:avLst/>
          </a:prstGeom>
          <a:noFill/>
          <a:ln>
            <a:noFill/>
          </a:ln>
        </p:spPr>
        <p:txBody>
          <a:bodyPr wrap="square" lIns="0" tIns="0" rIns="0" bIns="0" anchor="ctr" rtlCol="0">
            <a:noAutofit/>
          </a:bodyPr>
          <a:lstStyle/>
          <a:p>
            <a:pPr algn="ctr"/>
            <a:r>
              <a:rPr lang="ja-JP" altLang="en-US" sz="1100" b="0" dirty="0">
                <a:solidFill>
                  <a:srgbClr val="666666"/>
                </a:solidFill>
                <a:latin typeface="BIZ UDPGothic"/>
                <a:ea typeface="BIZ UDPGothic"/>
                <a:cs typeface="BIZ UDPGothic"/>
              </a:rPr>
              <a:t>ボット</a:t>
            </a:r>
            <a:endParaRPr lang="ja-JP" sz="1100"/>
          </a:p>
        </p:txBody>
      </p:sp>
      <p:sp>
        <p:nvSpPr>
          <p:cNvPr id="31" name="Bot tile 4"/>
          <p:cNvSpPr/>
          <p:nvPr/>
        </p:nvSpPr>
        <p:spPr>
          <a:xfrm>
            <a:off x="548640" y="4114800"/>
            <a:ext cx="1565910" cy="2103120"/>
          </a:xfrm>
          <a:prstGeom prst="rect">
            <a:avLst/>
          </a:prstGeom>
          <a:solidFill>
            <a:srgbClr val="F3F5F8"/>
          </a:solidFill>
          <a:ln>
            <a:noFill/>
          </a:ln>
        </p:spPr>
      </p:sp>
      <p:sp>
        <p:nvSpPr>
          <p:cNvPr id="32" name="Bot bar 4"/>
          <p:cNvSpPr/>
          <p:nvPr/>
        </p:nvSpPr>
        <p:spPr>
          <a:xfrm>
            <a:off x="548640" y="4114800"/>
            <a:ext cx="1565910" cy="54864"/>
          </a:xfrm>
          <a:prstGeom prst="rect">
            <a:avLst/>
          </a:prstGeom>
          <a:solidFill>
            <a:srgbClr val="F28C28"/>
          </a:solidFill>
          <a:ln>
            <a:noFill/>
          </a:ln>
        </p:spPr>
      </p:sp>
      <p:sp>
        <p:nvSpPr>
          <p:cNvPr id="33" name="Bot icon 4"/>
          <p:cNvSpPr/>
          <p:nvPr/>
        </p:nvSpPr>
        <p:spPr>
          <a:xfrm>
            <a:off x="1011555" y="4526280"/>
            <a:ext cx="640080" cy="640080"/>
          </a:xfrm>
          <a:prstGeom prst="ellipse">
            <a:avLst/>
          </a:prstGeom>
          <a:solidFill>
            <a:srgbClr val="1F3A5F"/>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Bot</a:t>
            </a:r>
            <a:endParaRPr lang="ja-JP" sz="1200"/>
          </a:p>
        </p:txBody>
      </p:sp>
      <p:sp>
        <p:nvSpPr>
          <p:cNvPr id="34" name="Bot name 4"/>
          <p:cNvSpPr/>
          <p:nvPr/>
        </p:nvSpPr>
        <p:spPr>
          <a:xfrm>
            <a:off x="594360" y="5303520"/>
            <a:ext cx="1474470" cy="548640"/>
          </a:xfrm>
          <a:prstGeom prst="rect">
            <a:avLst/>
          </a:prstGeom>
          <a:noFill/>
          <a:ln>
            <a:noFill/>
          </a:ln>
        </p:spPr>
        <p:txBody>
          <a:bodyPr wrap="square" lIns="0" tIns="0" rIns="0" bIns="0" anchor="ctr" rtlCol="0">
            <a:noAutofit/>
          </a:bodyPr>
          <a:lstStyle/>
          <a:p>
            <a:pPr algn="ctr"/>
            <a:r>
              <a:rPr lang="ja-JP" altLang="en-US" sz="1600" b="1" dirty="0">
                <a:solidFill>
                  <a:srgbClr val="1F3A5F"/>
                </a:solidFill>
                <a:latin typeface="BIZ UDPGothic"/>
                <a:ea typeface="BIZ UDPGothic"/>
                <a:cs typeface="BIZ UDPGothic"/>
              </a:rPr>
              <a:t>求人探し</a:t>
            </a:r>
            <a:endParaRPr lang="ja-JP" sz="1600"/>
          </a:p>
        </p:txBody>
      </p:sp>
      <p:sp>
        <p:nvSpPr>
          <p:cNvPr id="35" name="Bot cap 4"/>
          <p:cNvSpPr/>
          <p:nvPr/>
        </p:nvSpPr>
        <p:spPr>
          <a:xfrm>
            <a:off x="594360" y="5870448"/>
            <a:ext cx="1474470" cy="274320"/>
          </a:xfrm>
          <a:prstGeom prst="rect">
            <a:avLst/>
          </a:prstGeom>
          <a:noFill/>
          <a:ln>
            <a:noFill/>
          </a:ln>
        </p:spPr>
        <p:txBody>
          <a:bodyPr wrap="square" lIns="0" tIns="0" rIns="0" bIns="0" anchor="ctr" rtlCol="0">
            <a:noAutofit/>
          </a:bodyPr>
          <a:lstStyle/>
          <a:p>
            <a:pPr algn="ctr"/>
            <a:r>
              <a:rPr lang="ja-JP" altLang="en-US" sz="1100" b="0" dirty="0">
                <a:solidFill>
                  <a:srgbClr val="666666"/>
                </a:solidFill>
                <a:latin typeface="BIZ UDPGothic"/>
                <a:ea typeface="BIZ UDPGothic"/>
                <a:cs typeface="BIZ UDPGothic"/>
              </a:rPr>
              <a:t>ボット</a:t>
            </a:r>
            <a:endParaRPr lang="ja-JP" sz="1100"/>
          </a:p>
        </p:txBody>
      </p:sp>
      <p:sp>
        <p:nvSpPr>
          <p:cNvPr id="36" name="Bot tile 5"/>
          <p:cNvSpPr/>
          <p:nvPr/>
        </p:nvSpPr>
        <p:spPr>
          <a:xfrm>
            <a:off x="2251710" y="4114800"/>
            <a:ext cx="1565910" cy="2103120"/>
          </a:xfrm>
          <a:prstGeom prst="rect">
            <a:avLst/>
          </a:prstGeom>
          <a:solidFill>
            <a:srgbClr val="F3F5F8"/>
          </a:solidFill>
          <a:ln>
            <a:noFill/>
          </a:ln>
        </p:spPr>
      </p:sp>
      <p:sp>
        <p:nvSpPr>
          <p:cNvPr id="37" name="Bot bar 5"/>
          <p:cNvSpPr/>
          <p:nvPr/>
        </p:nvSpPr>
        <p:spPr>
          <a:xfrm>
            <a:off x="2251710" y="4114800"/>
            <a:ext cx="1565910" cy="54864"/>
          </a:xfrm>
          <a:prstGeom prst="rect">
            <a:avLst/>
          </a:prstGeom>
          <a:solidFill>
            <a:srgbClr val="F28C28"/>
          </a:solidFill>
          <a:ln>
            <a:noFill/>
          </a:ln>
        </p:spPr>
      </p:sp>
      <p:sp>
        <p:nvSpPr>
          <p:cNvPr id="38" name="Bot icon 5"/>
          <p:cNvSpPr/>
          <p:nvPr/>
        </p:nvSpPr>
        <p:spPr>
          <a:xfrm>
            <a:off x="2714625" y="4526280"/>
            <a:ext cx="640080" cy="640080"/>
          </a:xfrm>
          <a:prstGeom prst="ellipse">
            <a:avLst/>
          </a:prstGeom>
          <a:solidFill>
            <a:srgbClr val="1F3A5F"/>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Bot</a:t>
            </a:r>
            <a:endParaRPr lang="ja-JP" sz="1200"/>
          </a:p>
        </p:txBody>
      </p:sp>
      <p:sp>
        <p:nvSpPr>
          <p:cNvPr id="39" name="Bot name 5"/>
          <p:cNvSpPr/>
          <p:nvPr/>
        </p:nvSpPr>
        <p:spPr>
          <a:xfrm>
            <a:off x="2297430" y="5303520"/>
            <a:ext cx="1474470" cy="548640"/>
          </a:xfrm>
          <a:prstGeom prst="rect">
            <a:avLst/>
          </a:prstGeom>
          <a:noFill/>
          <a:ln>
            <a:noFill/>
          </a:ln>
        </p:spPr>
        <p:txBody>
          <a:bodyPr wrap="square" lIns="0" tIns="0" rIns="0" bIns="0" anchor="ctr" rtlCol="0">
            <a:noAutofit/>
          </a:bodyPr>
          <a:lstStyle/>
          <a:p>
            <a:pPr algn="ctr"/>
            <a:r>
              <a:rPr lang="ja-JP" altLang="en-US" sz="1600" b="1" dirty="0">
                <a:solidFill>
                  <a:srgbClr val="1F3A5F"/>
                </a:solidFill>
                <a:latin typeface="BIZ UDPGothic"/>
                <a:ea typeface="BIZ UDPGothic"/>
                <a:cs typeface="BIZ UDPGothic"/>
              </a:rPr>
              <a:t>物件情報</a:t>
            </a:r>
            <a:endParaRPr lang="ja-JP" sz="1600"/>
          </a:p>
        </p:txBody>
      </p:sp>
      <p:sp>
        <p:nvSpPr>
          <p:cNvPr id="40" name="Bot cap 5"/>
          <p:cNvSpPr/>
          <p:nvPr/>
        </p:nvSpPr>
        <p:spPr>
          <a:xfrm>
            <a:off x="2297430" y="5870448"/>
            <a:ext cx="1474470" cy="274320"/>
          </a:xfrm>
          <a:prstGeom prst="rect">
            <a:avLst/>
          </a:prstGeom>
          <a:noFill/>
          <a:ln>
            <a:noFill/>
          </a:ln>
        </p:spPr>
        <p:txBody>
          <a:bodyPr wrap="square" lIns="0" tIns="0" rIns="0" bIns="0" anchor="ctr" rtlCol="0">
            <a:noAutofit/>
          </a:bodyPr>
          <a:lstStyle/>
          <a:p>
            <a:pPr algn="ctr"/>
            <a:r>
              <a:rPr lang="ja-JP" altLang="en-US" sz="1100" b="0" dirty="0">
                <a:solidFill>
                  <a:srgbClr val="666666"/>
                </a:solidFill>
                <a:latin typeface="BIZ UDPGothic"/>
                <a:ea typeface="BIZ UDPGothic"/>
                <a:cs typeface="BIZ UDPGothic"/>
              </a:rPr>
              <a:t>ボット</a:t>
            </a:r>
            <a:endParaRPr lang="ja-JP" sz="1100"/>
          </a:p>
        </p:txBody>
      </p:sp>
      <p:sp>
        <p:nvSpPr>
          <p:cNvPr id="41" name="Bot tile 6"/>
          <p:cNvSpPr/>
          <p:nvPr/>
        </p:nvSpPr>
        <p:spPr>
          <a:xfrm>
            <a:off x="3954780" y="4114800"/>
            <a:ext cx="1565910" cy="2103120"/>
          </a:xfrm>
          <a:prstGeom prst="rect">
            <a:avLst/>
          </a:prstGeom>
          <a:solidFill>
            <a:srgbClr val="F3F5F8"/>
          </a:solidFill>
          <a:ln>
            <a:noFill/>
          </a:ln>
        </p:spPr>
      </p:sp>
      <p:sp>
        <p:nvSpPr>
          <p:cNvPr id="42" name="Bot bar 6"/>
          <p:cNvSpPr/>
          <p:nvPr/>
        </p:nvSpPr>
        <p:spPr>
          <a:xfrm>
            <a:off x="3954780" y="4114800"/>
            <a:ext cx="1565910" cy="54864"/>
          </a:xfrm>
          <a:prstGeom prst="rect">
            <a:avLst/>
          </a:prstGeom>
          <a:solidFill>
            <a:srgbClr val="F28C28"/>
          </a:solidFill>
          <a:ln>
            <a:noFill/>
          </a:ln>
        </p:spPr>
      </p:sp>
      <p:sp>
        <p:nvSpPr>
          <p:cNvPr id="43" name="Bot icon 6"/>
          <p:cNvSpPr/>
          <p:nvPr/>
        </p:nvSpPr>
        <p:spPr>
          <a:xfrm>
            <a:off x="4417695" y="4526280"/>
            <a:ext cx="640080" cy="640080"/>
          </a:xfrm>
          <a:prstGeom prst="ellipse">
            <a:avLst/>
          </a:prstGeom>
          <a:solidFill>
            <a:srgbClr val="1F3A5F"/>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Bot</a:t>
            </a:r>
            <a:endParaRPr lang="ja-JP" sz="1200"/>
          </a:p>
        </p:txBody>
      </p:sp>
      <p:sp>
        <p:nvSpPr>
          <p:cNvPr id="44" name="Bot name 6"/>
          <p:cNvSpPr/>
          <p:nvPr/>
        </p:nvSpPr>
        <p:spPr>
          <a:xfrm>
            <a:off x="4000500" y="5303520"/>
            <a:ext cx="1474470" cy="548640"/>
          </a:xfrm>
          <a:prstGeom prst="rect">
            <a:avLst/>
          </a:prstGeom>
          <a:noFill/>
          <a:ln>
            <a:noFill/>
          </a:ln>
        </p:spPr>
        <p:txBody>
          <a:bodyPr wrap="square" lIns="0" tIns="0" rIns="0" bIns="0" anchor="ctr" rtlCol="0">
            <a:noAutofit/>
          </a:bodyPr>
          <a:lstStyle/>
          <a:p>
            <a:pPr algn="ctr"/>
            <a:r>
              <a:rPr lang="ja-JP" altLang="en-US" sz="1400" b="1" dirty="0">
                <a:solidFill>
                  <a:srgbClr val="1F3A5F"/>
                </a:solidFill>
                <a:latin typeface="BIZ UDPGothic"/>
                <a:ea typeface="BIZ UDPGothic"/>
                <a:cs typeface="BIZ UDPGothic"/>
              </a:rPr>
              <a:t>Second Brain</a:t>
            </a:r>
            <a:endParaRPr lang="ja-JP" sz="1400"/>
          </a:p>
        </p:txBody>
      </p:sp>
      <p:sp>
        <p:nvSpPr>
          <p:cNvPr id="45" name="Bot cap 6"/>
          <p:cNvSpPr/>
          <p:nvPr/>
        </p:nvSpPr>
        <p:spPr>
          <a:xfrm>
            <a:off x="4000500" y="5870448"/>
            <a:ext cx="1474470" cy="274320"/>
          </a:xfrm>
          <a:prstGeom prst="rect">
            <a:avLst/>
          </a:prstGeom>
          <a:noFill/>
          <a:ln>
            <a:noFill/>
          </a:ln>
        </p:spPr>
        <p:txBody>
          <a:bodyPr wrap="square" lIns="0" tIns="0" rIns="0" bIns="0" anchor="ctr" rtlCol="0">
            <a:noAutofit/>
          </a:bodyPr>
          <a:lstStyle/>
          <a:p>
            <a:pPr algn="ctr"/>
            <a:r>
              <a:rPr lang="ja-JP" altLang="en-US" sz="1100" b="0" dirty="0">
                <a:solidFill>
                  <a:srgbClr val="666666"/>
                </a:solidFill>
                <a:latin typeface="BIZ UDPGothic"/>
                <a:ea typeface="BIZ UDPGothic"/>
                <a:cs typeface="BIZ UDPGothic"/>
              </a:rPr>
              <a:t>ボット</a:t>
            </a:r>
            <a:endParaRPr lang="ja-JP" sz="1100"/>
          </a:p>
        </p:txBody>
      </p:sp>
      <p:sp>
        <p:nvSpPr>
          <p:cNvPr id="46" name="Bot tile 7"/>
          <p:cNvSpPr/>
          <p:nvPr/>
        </p:nvSpPr>
        <p:spPr>
          <a:xfrm>
            <a:off x="5657850" y="4114800"/>
            <a:ext cx="1565910" cy="2103120"/>
          </a:xfrm>
          <a:prstGeom prst="rect">
            <a:avLst/>
          </a:prstGeom>
          <a:solidFill>
            <a:srgbClr val="1F3A5F"/>
          </a:solidFill>
          <a:ln>
            <a:noFill/>
          </a:ln>
        </p:spPr>
      </p:sp>
      <p:sp>
        <p:nvSpPr>
          <p:cNvPr id="47" name="Bot bar 7"/>
          <p:cNvSpPr/>
          <p:nvPr/>
        </p:nvSpPr>
        <p:spPr>
          <a:xfrm>
            <a:off x="5657850" y="4114800"/>
            <a:ext cx="1565910" cy="54864"/>
          </a:xfrm>
          <a:prstGeom prst="rect">
            <a:avLst/>
          </a:prstGeom>
          <a:solidFill>
            <a:srgbClr val="F28C28"/>
          </a:solidFill>
          <a:ln>
            <a:noFill/>
          </a:ln>
        </p:spPr>
      </p:sp>
      <p:sp>
        <p:nvSpPr>
          <p:cNvPr id="48" name="Bot icon 7"/>
          <p:cNvSpPr/>
          <p:nvPr/>
        </p:nvSpPr>
        <p:spPr>
          <a:xfrm>
            <a:off x="6120765" y="4526280"/>
            <a:ext cx="640080" cy="640080"/>
          </a:xfrm>
          <a:prstGeom prst="ellipse">
            <a:avLst/>
          </a:prstGeom>
          <a:solidFill>
            <a:srgbClr val="F28C28"/>
          </a:solidFill>
          <a:ln>
            <a:noFill/>
          </a:ln>
        </p:spPr>
        <p:txBody>
          <a:bodyPr wrap="square" lIns="0" tIns="0" rIns="0" bIns="0" anchor="ctr" rtlCol="0">
            <a:noAutofit/>
          </a:bodyPr>
          <a:lstStyle/>
          <a:p>
            <a:pPr algn="ctr"/>
            <a:r>
              <a:rPr lang="ja-JP" altLang="en-US" sz="1200" b="1" dirty="0">
                <a:solidFill>
                  <a:srgbClr val="FFFFFF"/>
                </a:solidFill>
                <a:latin typeface="BIZ UDPGothic"/>
                <a:ea typeface="BIZ UDPGothic"/>
                <a:cs typeface="BIZ UDPGothic"/>
              </a:rPr>
              <a:t>Bot</a:t>
            </a:r>
            <a:endParaRPr lang="ja-JP" sz="1200"/>
          </a:p>
        </p:txBody>
      </p:sp>
      <p:sp>
        <p:nvSpPr>
          <p:cNvPr id="49" name="Bot name 7"/>
          <p:cNvSpPr/>
          <p:nvPr/>
        </p:nvSpPr>
        <p:spPr>
          <a:xfrm>
            <a:off x="5703570" y="5303520"/>
            <a:ext cx="1474470" cy="548640"/>
          </a:xfrm>
          <a:prstGeom prst="rect">
            <a:avLst/>
          </a:prstGeom>
          <a:noFill/>
          <a:ln>
            <a:noFill/>
          </a:ln>
        </p:spPr>
        <p:txBody>
          <a:bodyPr wrap="square" lIns="0" tIns="0" rIns="0" bIns="0" anchor="ctr" rtlCol="0">
            <a:noAutofit/>
          </a:bodyPr>
          <a:lstStyle/>
          <a:p>
            <a:pPr algn="ctr"/>
            <a:r>
              <a:rPr lang="ja-JP" altLang="en-US" sz="1600" b="1" dirty="0">
                <a:solidFill>
                  <a:srgbClr val="FFFFFF"/>
                </a:solidFill>
                <a:latin typeface="BIZ UDPGothic"/>
                <a:ea typeface="BIZ UDPGothic"/>
                <a:cs typeface="BIZ UDPGothic"/>
              </a:rPr>
              <a:t>スライド作成</a:t>
            </a:r>
            <a:endParaRPr lang="ja-JP" sz="1600"/>
          </a:p>
        </p:txBody>
      </p:sp>
      <p:sp>
        <p:nvSpPr>
          <p:cNvPr id="50" name="Bot cap 7"/>
          <p:cNvSpPr/>
          <p:nvPr/>
        </p:nvSpPr>
        <p:spPr>
          <a:xfrm>
            <a:off x="5703570" y="5870448"/>
            <a:ext cx="1474470" cy="274320"/>
          </a:xfrm>
          <a:prstGeom prst="rect">
            <a:avLst/>
          </a:prstGeom>
          <a:noFill/>
          <a:ln>
            <a:noFill/>
          </a:ln>
        </p:spPr>
        <p:txBody>
          <a:bodyPr wrap="square" lIns="0" tIns="0" rIns="0" bIns="0" anchor="ctr" rtlCol="0">
            <a:noAutofit/>
          </a:bodyPr>
          <a:lstStyle/>
          <a:p>
            <a:pPr algn="ctr"/>
            <a:r>
              <a:rPr lang="ja-JP" altLang="en-US" sz="1100" b="0" dirty="0">
                <a:solidFill>
                  <a:srgbClr val="FFFFFF"/>
                </a:solidFill>
                <a:latin typeface="BIZ UDPGothic"/>
                <a:ea typeface="BIZ UDPGothic"/>
                <a:cs typeface="BIZ UDPGothic"/>
              </a:rPr>
              <a:t>ボット</a:t>
            </a:r>
            <a:endParaRPr lang="ja-JP" sz="1100"/>
          </a:p>
        </p:txBody>
      </p:sp>
      <p:pic>
        <p:nvPicPr>
          <p:cNvPr id="51" name="Photo illust_bot_slides.jpg" descr="スライドを作るボットのイラスト"/>
          <p:cNvPicPr>
            <a:picLocks noChangeAspect="1"/>
          </p:cNvPicPr>
          <p:nvPr/>
        </p:nvPicPr>
        <p:blipFill>
          <a:blip r:embed="rIdG3Slides"/>
          <a:srcRect l="0" t="0" r="0" b="0"/>
          <a:stretch>
            <a:fillRect/>
          </a:stretch>
        </p:blipFill>
        <p:spPr>
          <a:xfrm>
            <a:off x="7498080" y="1874520"/>
            <a:ext cx="4144975" cy="2331549"/>
          </a:xfrm>
          <a:prstGeom prst="rect">
            <a:avLst/>
          </a:prstGeom>
          <a:ln w="9525">
            <a:solidFill>
              <a:srgbClr val="D0D7E2"/>
            </a:solidFill>
          </a:ln>
        </p:spPr>
      </p:pic>
      <p:sp>
        <p:nvSpPr>
          <p:cNvPr id="52" name="Slides box"/>
          <p:cNvSpPr/>
          <p:nvPr/>
        </p:nvSpPr>
        <p:spPr>
          <a:xfrm>
            <a:off x="7498080" y="4388949"/>
            <a:ext cx="4144975" cy="1828971"/>
          </a:xfrm>
          <a:prstGeom prst="rect">
            <a:avLst/>
          </a:prstGeom>
          <a:solidFill>
            <a:srgbClr val="1F3A5F"/>
          </a:solidFill>
          <a:ln>
            <a:noFill/>
          </a:ln>
        </p:spPr>
      </p:sp>
      <p:sp>
        <p:nvSpPr>
          <p:cNvPr id="53" name="Slides lead"/>
          <p:cNvSpPr/>
          <p:nvPr/>
        </p:nvSpPr>
        <p:spPr>
          <a:xfrm>
            <a:off x="7726680" y="4526109"/>
            <a:ext cx="3687775" cy="365760"/>
          </a:xfrm>
          <a:prstGeom prst="rect">
            <a:avLst/>
          </a:prstGeom>
          <a:noFill/>
          <a:ln>
            <a:noFill/>
          </a:ln>
        </p:spPr>
        <p:txBody>
          <a:bodyPr wrap="square" lIns="0" tIns="0" rIns="0" bIns="0" anchor="ctr" rtlCol="0">
            <a:noAutofit/>
          </a:bodyPr>
          <a:lstStyle/>
          <a:p>
            <a:pPr algn="l"/>
            <a:r>
              <a:rPr lang="ja-JP" altLang="en-US" sz="1400" b="1" dirty="0">
                <a:solidFill>
                  <a:srgbClr val="FFFFFF"/>
                </a:solidFill>
                <a:latin typeface="BIZ UDPGothic"/>
                <a:ea typeface="BIZ UDPGothic"/>
                <a:cs typeface="BIZ UDPGothic"/>
              </a:rPr>
              <a:t>今日のこのスライドも</a:t>
            </a:r>
            <a:endParaRPr lang="ja-JP" sz="1400"/>
          </a:p>
        </p:txBody>
      </p:sp>
      <p:sp>
        <p:nvSpPr>
          <p:cNvPr id="54" name="Slides big"/>
          <p:cNvSpPr/>
          <p:nvPr/>
        </p:nvSpPr>
        <p:spPr>
          <a:xfrm>
            <a:off x="7726680" y="4891869"/>
            <a:ext cx="3687775" cy="548640"/>
          </a:xfrm>
          <a:prstGeom prst="rect">
            <a:avLst/>
          </a:prstGeom>
          <a:noFill/>
          <a:ln>
            <a:noFill/>
          </a:ln>
        </p:spPr>
        <p:txBody>
          <a:bodyPr wrap="square" lIns="0" tIns="0" rIns="0" bIns="0" anchor="ctr" rtlCol="0">
            <a:noAutofit/>
          </a:bodyPr>
          <a:lstStyle/>
          <a:p>
            <a:pPr algn="l"/>
            <a:r>
              <a:rPr lang="ja-JP" altLang="en-US" sz="2200" b="1" dirty="0">
                <a:solidFill>
                  <a:srgbClr val="F28C28"/>
                </a:solidFill>
                <a:latin typeface="BIZ UDPGothic"/>
                <a:ea typeface="BIZ UDPGothic"/>
                <a:cs typeface="BIZ UDPGothic"/>
              </a:rPr>
              <a:t>Grok Botに作ってもらった</a:t>
            </a:r>
            <a:endParaRPr lang="ja-JP" sz="2200"/>
          </a:p>
        </p:txBody>
      </p:sp>
      <p:sp>
        <p:nvSpPr>
          <p:cNvPr id="55" name="Slides rule"/>
          <p:cNvSpPr/>
          <p:nvPr/>
        </p:nvSpPr>
        <p:spPr>
          <a:xfrm>
            <a:off x="7726680" y="5531949"/>
            <a:ext cx="3687775" cy="9144"/>
          </a:xfrm>
          <a:prstGeom prst="rect">
            <a:avLst/>
          </a:prstGeom>
          <a:solidFill>
            <a:srgbClr val="F28C28"/>
          </a:solidFill>
          <a:ln>
            <a:noFill/>
          </a:ln>
        </p:spPr>
      </p:sp>
      <p:sp>
        <p:nvSpPr>
          <p:cNvPr id="56" name="Slides chip 0"/>
          <p:cNvSpPr/>
          <p:nvPr/>
        </p:nvSpPr>
        <p:spPr>
          <a:xfrm>
            <a:off x="7726680" y="5687397"/>
            <a:ext cx="853364" cy="384048"/>
          </a:xfrm>
          <a:prstGeom prst="roundRect">
            <a:avLst/>
          </a:prstGeom>
          <a:solidFill>
            <a:srgbClr val="FFFFFF"/>
          </a:solidFill>
          <a:ln>
            <a:noFill/>
          </a:ln>
        </p:spPr>
        <p:txBody>
          <a:bodyPr wrap="square" lIns="0" tIns="0" rIns="0" bIns="0" anchor="ctr" rtlCol="0">
            <a:noAutofit/>
          </a:bodyPr>
          <a:lstStyle/>
          <a:p>
            <a:pPr algn="ctr"/>
            <a:r>
              <a:rPr lang="ja-JP" altLang="en-US" sz="1200" b="1" dirty="0">
                <a:solidFill>
                  <a:srgbClr val="1F3A5F"/>
                </a:solidFill>
                <a:latin typeface="BIZ UDPGothic"/>
                <a:ea typeface="BIZ UDPGothic"/>
                <a:cs typeface="BIZ UDPGothic"/>
              </a:rPr>
              <a:t>構成</a:t>
            </a:r>
            <a:endParaRPr lang="ja-JP" sz="1200"/>
          </a:p>
        </p:txBody>
      </p:sp>
      <p:sp>
        <p:nvSpPr>
          <p:cNvPr id="57" name="Slides chip 1"/>
          <p:cNvSpPr/>
          <p:nvPr/>
        </p:nvSpPr>
        <p:spPr>
          <a:xfrm>
            <a:off x="8671484" y="5687397"/>
            <a:ext cx="853364" cy="384048"/>
          </a:xfrm>
          <a:prstGeom prst="roundRect">
            <a:avLst/>
          </a:prstGeom>
          <a:solidFill>
            <a:srgbClr val="FFFFFF"/>
          </a:solidFill>
          <a:ln>
            <a:noFill/>
          </a:ln>
        </p:spPr>
        <p:txBody>
          <a:bodyPr wrap="square" lIns="0" tIns="0" rIns="0" bIns="0" anchor="ctr" rtlCol="0">
            <a:noAutofit/>
          </a:bodyPr>
          <a:lstStyle/>
          <a:p>
            <a:pPr algn="ctr"/>
            <a:r>
              <a:rPr lang="ja-JP" altLang="en-US" sz="1200" b="1" dirty="0">
                <a:solidFill>
                  <a:srgbClr val="1F3A5F"/>
                </a:solidFill>
                <a:latin typeface="BIZ UDPGothic"/>
                <a:ea typeface="BIZ UDPGothic"/>
                <a:cs typeface="BIZ UDPGothic"/>
              </a:rPr>
              <a:t>写真集め</a:t>
            </a:r>
            <a:endParaRPr lang="ja-JP" sz="1200"/>
          </a:p>
        </p:txBody>
      </p:sp>
      <p:sp>
        <p:nvSpPr>
          <p:cNvPr id="58" name="Slides chip 2"/>
          <p:cNvSpPr/>
          <p:nvPr/>
        </p:nvSpPr>
        <p:spPr>
          <a:xfrm>
            <a:off x="9616288" y="5687397"/>
            <a:ext cx="853364" cy="384048"/>
          </a:xfrm>
          <a:prstGeom prst="roundRect">
            <a:avLst/>
          </a:prstGeom>
          <a:solidFill>
            <a:srgbClr val="FFFFFF"/>
          </a:solidFill>
          <a:ln>
            <a:noFill/>
          </a:ln>
        </p:spPr>
        <p:txBody>
          <a:bodyPr wrap="square" lIns="0" tIns="0" rIns="0" bIns="0" anchor="ctr" rtlCol="0">
            <a:noAutofit/>
          </a:bodyPr>
          <a:lstStyle/>
          <a:p>
            <a:pPr algn="ctr"/>
            <a:r>
              <a:rPr lang="ja-JP" altLang="en-US" sz="1200" b="1" dirty="0">
                <a:solidFill>
                  <a:srgbClr val="1F3A5F"/>
                </a:solidFill>
                <a:latin typeface="BIZ UDPGothic"/>
                <a:ea typeface="BIZ UDPGothic"/>
                <a:cs typeface="BIZ UDPGothic"/>
              </a:rPr>
              <a:t>イラスト</a:t>
            </a:r>
            <a:endParaRPr lang="ja-JP" sz="1200"/>
          </a:p>
        </p:txBody>
      </p:sp>
      <p:sp>
        <p:nvSpPr>
          <p:cNvPr id="59" name="Slides chip 3"/>
          <p:cNvSpPr/>
          <p:nvPr/>
        </p:nvSpPr>
        <p:spPr>
          <a:xfrm>
            <a:off x="10561091" y="5687397"/>
            <a:ext cx="853364" cy="384048"/>
          </a:xfrm>
          <a:prstGeom prst="roundRect">
            <a:avLst/>
          </a:prstGeom>
          <a:solidFill>
            <a:srgbClr val="FFFFFF"/>
          </a:solidFill>
          <a:ln>
            <a:noFill/>
          </a:ln>
        </p:spPr>
        <p:txBody>
          <a:bodyPr wrap="square" lIns="0" tIns="0" rIns="0" bIns="0" anchor="ctr" rtlCol="0">
            <a:noAutofit/>
          </a:bodyPr>
          <a:lstStyle/>
          <a:p>
            <a:pPr algn="ctr"/>
            <a:r>
              <a:rPr lang="ja-JP" altLang="en-US" sz="1200" b="1" dirty="0">
                <a:solidFill>
                  <a:srgbClr val="1F3A5F"/>
                </a:solidFill>
                <a:latin typeface="BIZ UDPGothic"/>
                <a:ea typeface="BIZ UDPGothic"/>
                <a:cs typeface="BIZ UDPGothic"/>
              </a:rPr>
              <a:t>デザイン</a:t>
            </a:r>
            <a:endParaRPr lang="ja-JP"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Next">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FFFFF"/>
                </a:solidFill>
                <a:latin typeface="BIZ UDPGothic"/>
                <a:ea typeface="BIZ UDPGothic"/>
                <a:cs typeface="BIZ UDPGothic"/>
              </a:rPr>
              <a:t>これからやりたいこと</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自動化と低予算運営でサービスを育て、発信も続けていきます</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12 / 14</a:t>
            </a:r>
            <a:endParaRPr lang="ja-JP" sz="1000"/>
          </a:p>
        </p:txBody>
      </p:sp>
      <p:pic>
        <p:nvPicPr>
          <p:cNvPr id="11" name="Illust roadmap" descr="ロードマップのイラスト"/>
          <p:cNvPicPr>
            <a:picLocks noChangeAspect="1"/>
          </p:cNvPicPr>
          <p:nvPr/>
        </p:nvPicPr>
        <p:blipFill>
          <a:blip r:embed="rIdG4Img3"/>
          <a:stretch>
            <a:fillRect/>
          </a:stretch>
        </p:blipFill>
        <p:spPr>
          <a:xfrm>
            <a:off x="548640" y="1874520"/>
            <a:ext cx="4206240" cy="2366010"/>
          </a:xfrm>
          <a:prstGeom prst="rect">
            <a:avLst/>
          </a:prstGeom>
          <a:ln w="9525">
            <a:solidFill>
              <a:srgbClr val="D0D7E2"/>
            </a:solidFill>
          </a:ln>
        </p:spPr>
      </p:pic>
      <p:sp>
        <p:nvSpPr>
          <p:cNvPr id="12" name="Rail box"/>
          <p:cNvSpPr/>
          <p:nvPr/>
        </p:nvSpPr>
        <p:spPr>
          <a:xfrm>
            <a:off x="548640" y="4469130"/>
            <a:ext cx="4206240" cy="1767078"/>
          </a:xfrm>
          <a:prstGeom prst="rect">
            <a:avLst/>
          </a:prstGeom>
          <a:solidFill>
            <a:srgbClr val="F3F5F8"/>
          </a:solidFill>
          <a:ln>
            <a:noFill/>
          </a:ln>
        </p:spPr>
      </p:sp>
      <p:sp>
        <p:nvSpPr>
          <p:cNvPr id="13" name="Rail line"/>
          <p:cNvSpPr/>
          <p:nvPr/>
        </p:nvSpPr>
        <p:spPr>
          <a:xfrm>
            <a:off x="1097280" y="5154930"/>
            <a:ext cx="3108960" cy="45720"/>
          </a:xfrm>
          <a:prstGeom prst="rect">
            <a:avLst/>
          </a:prstGeom>
          <a:solidFill>
            <a:srgbClr val="D0D7E2"/>
          </a:solidFill>
          <a:ln>
            <a:noFill/>
          </a:ln>
        </p:spPr>
      </p:sp>
      <p:sp>
        <p:nvSpPr>
          <p:cNvPr id="14" name="Rail dot 0"/>
          <p:cNvSpPr/>
          <p:nvPr/>
        </p:nvSpPr>
        <p:spPr>
          <a:xfrm>
            <a:off x="914400" y="4944618"/>
            <a:ext cx="457200" cy="457200"/>
          </a:xfrm>
          <a:prstGeom prst="ellipse">
            <a:avLst/>
          </a:prstGeom>
          <a:solidFill>
            <a:srgbClr val="1F3A5F"/>
          </a:solidFill>
          <a:ln>
            <a:noFill/>
          </a:ln>
        </p:spPr>
        <p:txBody>
          <a:bodyPr wrap="square" lIns="0" tIns="0" rIns="0" bIns="0" anchor="ctr" rtlCol="0">
            <a:noAutofit/>
          </a:bodyPr>
          <a:lstStyle/>
          <a:p>
            <a:pPr algn="ctr"/>
            <a:r>
              <a:rPr lang="ja-JP" altLang="en-US" sz="1400" b="1" dirty="0">
                <a:solidFill>
                  <a:srgbClr val="FFFFFF"/>
                </a:solidFill>
                <a:latin typeface="BIZ UDPGothic"/>
                <a:ea typeface="BIZ UDPGothic"/>
                <a:cs typeface="BIZ UDPGothic"/>
              </a:rPr>
              <a:t>1</a:t>
            </a:r>
            <a:endParaRPr lang="ja-JP" sz="1400"/>
          </a:p>
        </p:txBody>
      </p:sp>
      <p:sp>
        <p:nvSpPr>
          <p:cNvPr id="15" name="Rail dot 1"/>
          <p:cNvSpPr/>
          <p:nvPr/>
        </p:nvSpPr>
        <p:spPr>
          <a:xfrm>
            <a:off x="1920240" y="4944618"/>
            <a:ext cx="457200" cy="457200"/>
          </a:xfrm>
          <a:prstGeom prst="ellipse">
            <a:avLst/>
          </a:prstGeom>
          <a:solidFill>
            <a:srgbClr val="1F3A5F"/>
          </a:solidFill>
          <a:ln>
            <a:noFill/>
          </a:ln>
        </p:spPr>
        <p:txBody>
          <a:bodyPr wrap="square" lIns="0" tIns="0" rIns="0" bIns="0" anchor="ctr" rtlCol="0">
            <a:noAutofit/>
          </a:bodyPr>
          <a:lstStyle/>
          <a:p>
            <a:pPr algn="ctr"/>
            <a:r>
              <a:rPr lang="ja-JP" altLang="en-US" sz="1400" b="1" dirty="0">
                <a:solidFill>
                  <a:srgbClr val="FFFFFF"/>
                </a:solidFill>
                <a:latin typeface="BIZ UDPGothic"/>
                <a:ea typeface="BIZ UDPGothic"/>
                <a:cs typeface="BIZ UDPGothic"/>
              </a:rPr>
              <a:t>2</a:t>
            </a:r>
            <a:endParaRPr lang="ja-JP" sz="1400"/>
          </a:p>
        </p:txBody>
      </p:sp>
      <p:sp>
        <p:nvSpPr>
          <p:cNvPr id="16" name="Rail dot 2"/>
          <p:cNvSpPr/>
          <p:nvPr/>
        </p:nvSpPr>
        <p:spPr>
          <a:xfrm>
            <a:off x="2926080" y="4944618"/>
            <a:ext cx="457200" cy="457200"/>
          </a:xfrm>
          <a:prstGeom prst="ellipse">
            <a:avLst/>
          </a:prstGeom>
          <a:solidFill>
            <a:srgbClr val="1F3A5F"/>
          </a:solidFill>
          <a:ln>
            <a:noFill/>
          </a:ln>
        </p:spPr>
        <p:txBody>
          <a:bodyPr wrap="square" lIns="0" tIns="0" rIns="0" bIns="0" anchor="ctr" rtlCol="0">
            <a:noAutofit/>
          </a:bodyPr>
          <a:lstStyle/>
          <a:p>
            <a:pPr algn="ctr"/>
            <a:r>
              <a:rPr lang="ja-JP" altLang="en-US" sz="1400" b="1" dirty="0">
                <a:solidFill>
                  <a:srgbClr val="FFFFFF"/>
                </a:solidFill>
                <a:latin typeface="BIZ UDPGothic"/>
                <a:ea typeface="BIZ UDPGothic"/>
                <a:cs typeface="BIZ UDPGothic"/>
              </a:rPr>
              <a:t>3</a:t>
            </a:r>
            <a:endParaRPr lang="ja-JP" sz="1400"/>
          </a:p>
        </p:txBody>
      </p:sp>
      <p:sp>
        <p:nvSpPr>
          <p:cNvPr id="17" name="Rail dot 3"/>
          <p:cNvSpPr/>
          <p:nvPr/>
        </p:nvSpPr>
        <p:spPr>
          <a:xfrm>
            <a:off x="3931920" y="4944618"/>
            <a:ext cx="457200" cy="457200"/>
          </a:xfrm>
          <a:prstGeom prst="ellipse">
            <a:avLst/>
          </a:prstGeom>
          <a:solidFill>
            <a:srgbClr val="F28C28"/>
          </a:solidFill>
          <a:ln>
            <a:noFill/>
          </a:ln>
        </p:spPr>
        <p:txBody>
          <a:bodyPr wrap="square" lIns="0" tIns="0" rIns="0" bIns="0" anchor="ctr" rtlCol="0">
            <a:noAutofit/>
          </a:bodyPr>
          <a:lstStyle/>
          <a:p>
            <a:pPr algn="ctr"/>
            <a:r>
              <a:rPr lang="ja-JP" altLang="en-US" sz="1400" b="1" dirty="0">
                <a:solidFill>
                  <a:srgbClr val="FFFFFF"/>
                </a:solidFill>
                <a:latin typeface="BIZ UDPGothic"/>
                <a:ea typeface="BIZ UDPGothic"/>
                <a:cs typeface="BIZ UDPGothic"/>
              </a:rPr>
              <a:t>4</a:t>
            </a:r>
            <a:endParaRPr lang="ja-JP" sz="1400"/>
          </a:p>
        </p:txBody>
      </p:sp>
      <p:sp>
        <p:nvSpPr>
          <p:cNvPr id="18" name="Rail cap"/>
          <p:cNvSpPr/>
          <p:nvPr/>
        </p:nvSpPr>
        <p:spPr>
          <a:xfrm>
            <a:off x="548640" y="5566410"/>
            <a:ext cx="4206240" cy="411480"/>
          </a:xfrm>
          <a:prstGeom prst="rect">
            <a:avLst/>
          </a:prstGeom>
          <a:noFill/>
          <a:ln>
            <a:noFill/>
          </a:ln>
        </p:spPr>
        <p:txBody>
          <a:bodyPr wrap="square" lIns="0" tIns="0" rIns="0" bIns="0" anchor="ctr" rtlCol="0">
            <a:noAutofit/>
          </a:bodyPr>
          <a:lstStyle/>
          <a:p>
            <a:pPr algn="ctr"/>
            <a:r>
              <a:rPr lang="ja-JP" altLang="en-US" sz="1400" b="1" dirty="0">
                <a:solidFill>
                  <a:srgbClr val="1F3A5F"/>
                </a:solidFill>
                <a:latin typeface="BIZ UDPGothic"/>
                <a:ea typeface="BIZ UDPGothic"/>
                <a:cs typeface="BIZ UDPGothic"/>
              </a:rPr>
              <a:t>ひとつずつ、少しずつ</a:t>
            </a:r>
            <a:endParaRPr lang="ja-JP" sz="1400"/>
          </a:p>
        </p:txBody>
      </p:sp>
      <p:sp>
        <p:nvSpPr>
          <p:cNvPr id="19" name="Plan card 01"/>
          <p:cNvSpPr/>
          <p:nvPr/>
        </p:nvSpPr>
        <p:spPr>
          <a:xfrm>
            <a:off x="5029200" y="1874520"/>
            <a:ext cx="3192628" cy="2103120"/>
          </a:xfrm>
          <a:prstGeom prst="rect">
            <a:avLst/>
          </a:prstGeom>
          <a:solidFill>
            <a:srgbClr val="FFFFFF"/>
          </a:solidFill>
          <a:ln w="12700">
            <a:solidFill>
              <a:srgbClr val="D0D7E2"/>
            </a:solidFill>
          </a:ln>
        </p:spPr>
      </p:sp>
      <p:sp>
        <p:nvSpPr>
          <p:cNvPr id="20" name="Plan bar 01"/>
          <p:cNvSpPr/>
          <p:nvPr/>
        </p:nvSpPr>
        <p:spPr>
          <a:xfrm>
            <a:off x="5029200" y="1874520"/>
            <a:ext cx="3192628" cy="54864"/>
          </a:xfrm>
          <a:prstGeom prst="rect">
            <a:avLst/>
          </a:prstGeom>
          <a:solidFill>
            <a:srgbClr val="1F3A5F"/>
          </a:solidFill>
          <a:ln>
            <a:noFill/>
          </a:ln>
        </p:spPr>
      </p:sp>
      <p:sp>
        <p:nvSpPr>
          <p:cNvPr id="21" name="Plan num 01"/>
          <p:cNvSpPr/>
          <p:nvPr/>
        </p:nvSpPr>
        <p:spPr>
          <a:xfrm>
            <a:off x="5212080" y="2057400"/>
            <a:ext cx="640080" cy="502920"/>
          </a:xfrm>
          <a:prstGeom prst="rect">
            <a:avLst/>
          </a:prstGeom>
          <a:noFill/>
          <a:ln>
            <a:noFill/>
          </a:ln>
        </p:spPr>
        <p:txBody>
          <a:bodyPr wrap="square" lIns="0" tIns="0" rIns="0" bIns="0" anchor="ctr" rtlCol="0">
            <a:noAutofit/>
          </a:bodyPr>
          <a:lstStyle/>
          <a:p>
            <a:pPr algn="l"/>
            <a:r>
              <a:rPr lang="ja-JP" altLang="en-US" sz="2600" b="1" dirty="0">
                <a:solidFill>
                  <a:srgbClr val="F28C28"/>
                </a:solidFill>
                <a:latin typeface="BIZ UDPGothic"/>
                <a:ea typeface="BIZ UDPGothic"/>
                <a:cs typeface="BIZ UDPGothic"/>
              </a:rPr>
              <a:t>01</a:t>
            </a:r>
            <a:endParaRPr lang="ja-JP" sz="2600"/>
          </a:p>
        </p:txBody>
      </p:sp>
      <p:sp>
        <p:nvSpPr>
          <p:cNvPr id="22" name="Plan title 01"/>
          <p:cNvSpPr/>
          <p:nvPr/>
        </p:nvSpPr>
        <p:spPr>
          <a:xfrm>
            <a:off x="5897880" y="2057400"/>
            <a:ext cx="2232508" cy="502920"/>
          </a:xfrm>
          <a:prstGeom prst="rect">
            <a:avLst/>
          </a:prstGeom>
          <a:noFill/>
          <a:ln>
            <a:noFill/>
          </a:ln>
        </p:spPr>
        <p:txBody>
          <a:bodyPr wrap="square" lIns="0" tIns="0" rIns="0" bIns="0" anchor="ctr" rtlCol="0">
            <a:noAutofit/>
          </a:bodyPr>
          <a:lstStyle/>
          <a:p>
            <a:pPr algn="l"/>
            <a:r>
              <a:rPr lang="ja-JP" altLang="en-US" sz="1450" b="1" dirty="0">
                <a:solidFill>
                  <a:srgbClr val="1F3A5F"/>
                </a:solidFill>
                <a:latin typeface="BIZ UDPGothic"/>
                <a:ea typeface="BIZ UDPGothic"/>
                <a:cs typeface="BIZ UDPGothic"/>
              </a:rPr>
              <a:t>方位判定の完全自動化</a:t>
            </a:r>
            <a:endParaRPr lang="ja-JP" sz="1450"/>
          </a:p>
        </p:txBody>
      </p:sp>
      <p:sp>
        <p:nvSpPr>
          <p:cNvPr id="23" name="Plan rule 01"/>
          <p:cNvSpPr/>
          <p:nvPr/>
        </p:nvSpPr>
        <p:spPr>
          <a:xfrm>
            <a:off x="5212080" y="2651760"/>
            <a:ext cx="2826868" cy="9144"/>
          </a:xfrm>
          <a:prstGeom prst="rect">
            <a:avLst/>
          </a:prstGeom>
          <a:solidFill>
            <a:srgbClr val="D0D7E2"/>
          </a:solidFill>
          <a:ln>
            <a:noFill/>
          </a:ln>
        </p:spPr>
      </p:sp>
      <p:sp>
        <p:nvSpPr>
          <p:cNvPr id="24" name="Flow 座標"/>
          <p:cNvSpPr/>
          <p:nvPr/>
        </p:nvSpPr>
        <p:spPr>
          <a:xfrm>
            <a:off x="5212080" y="2788920"/>
            <a:ext cx="777240" cy="411480"/>
          </a:xfrm>
          <a:prstGeom prst="roundRect">
            <a:avLst/>
          </a:prstGeom>
          <a:solidFill>
            <a:srgbClr val="1F3A5F"/>
          </a:solidFill>
          <a:ln>
            <a:noFill/>
          </a:ln>
        </p:spPr>
        <p:txBody>
          <a:bodyPr wrap="square" lIns="0" tIns="0" rIns="0" bIns="0" anchor="ctr" rtlCol="0">
            <a:noAutofit/>
          </a:bodyPr>
          <a:lstStyle/>
          <a:p>
            <a:pPr algn="ctr"/>
            <a:r>
              <a:rPr lang="ja-JP" altLang="en-US" sz="1300" b="1" dirty="0">
                <a:solidFill>
                  <a:srgbClr val="FFFFFF"/>
                </a:solidFill>
                <a:latin typeface="BIZ UDPGothic"/>
                <a:ea typeface="BIZ UDPGothic"/>
                <a:cs typeface="BIZ UDPGothic"/>
              </a:rPr>
              <a:t>座標</a:t>
            </a:r>
            <a:endParaRPr lang="ja-JP" sz="1300"/>
          </a:p>
        </p:txBody>
      </p:sp>
      <p:sp>
        <p:nvSpPr>
          <p:cNvPr id="25" name="Flow arrow 0"/>
          <p:cNvSpPr/>
          <p:nvPr/>
        </p:nvSpPr>
        <p:spPr>
          <a:xfrm>
            <a:off x="6016752" y="2880360"/>
            <a:ext cx="173736" cy="228600"/>
          </a:xfrm>
          <a:prstGeom prst="rightArrow">
            <a:avLst/>
          </a:prstGeom>
          <a:solidFill>
            <a:srgbClr val="666666"/>
          </a:solidFill>
          <a:ln>
            <a:noFill/>
          </a:ln>
        </p:spPr>
      </p:sp>
      <p:sp>
        <p:nvSpPr>
          <p:cNvPr id="26" name="Flow 方位"/>
          <p:cNvSpPr/>
          <p:nvPr/>
        </p:nvSpPr>
        <p:spPr>
          <a:xfrm>
            <a:off x="6217920" y="2788920"/>
            <a:ext cx="777240" cy="411480"/>
          </a:xfrm>
          <a:prstGeom prst="roundRect">
            <a:avLst/>
          </a:prstGeom>
          <a:solidFill>
            <a:srgbClr val="1F3A5F"/>
          </a:solidFill>
          <a:ln>
            <a:noFill/>
          </a:ln>
        </p:spPr>
        <p:txBody>
          <a:bodyPr wrap="square" lIns="0" tIns="0" rIns="0" bIns="0" anchor="ctr" rtlCol="0">
            <a:noAutofit/>
          </a:bodyPr>
          <a:lstStyle/>
          <a:p>
            <a:pPr algn="ctr"/>
            <a:r>
              <a:rPr lang="ja-JP" altLang="en-US" sz="1300" b="1" dirty="0">
                <a:solidFill>
                  <a:srgbClr val="FFFFFF"/>
                </a:solidFill>
                <a:latin typeface="BIZ UDPGothic"/>
                <a:ea typeface="BIZ UDPGothic"/>
                <a:cs typeface="BIZ UDPGothic"/>
              </a:rPr>
              <a:t>方位</a:t>
            </a:r>
            <a:endParaRPr lang="ja-JP" sz="1300"/>
          </a:p>
        </p:txBody>
      </p:sp>
      <p:sp>
        <p:nvSpPr>
          <p:cNvPr id="27" name="Flow arrow 1"/>
          <p:cNvSpPr/>
          <p:nvPr/>
        </p:nvSpPr>
        <p:spPr>
          <a:xfrm>
            <a:off x="7022592" y="2880360"/>
            <a:ext cx="173736" cy="228600"/>
          </a:xfrm>
          <a:prstGeom prst="rightArrow">
            <a:avLst/>
          </a:prstGeom>
          <a:solidFill>
            <a:srgbClr val="666666"/>
          </a:solidFill>
          <a:ln>
            <a:noFill/>
          </a:ln>
        </p:spPr>
      </p:sp>
      <p:sp>
        <p:nvSpPr>
          <p:cNvPr id="28" name="Flow 吉凶"/>
          <p:cNvSpPr/>
          <p:nvPr/>
        </p:nvSpPr>
        <p:spPr>
          <a:xfrm>
            <a:off x="7223760" y="2788920"/>
            <a:ext cx="777240" cy="411480"/>
          </a:xfrm>
          <a:prstGeom prst="roundRect">
            <a:avLst/>
          </a:prstGeom>
          <a:solidFill>
            <a:srgbClr val="F28C28"/>
          </a:solidFill>
          <a:ln>
            <a:noFill/>
          </a:ln>
        </p:spPr>
        <p:txBody>
          <a:bodyPr wrap="square" lIns="0" tIns="0" rIns="0" bIns="0" anchor="ctr" rtlCol="0">
            <a:noAutofit/>
          </a:bodyPr>
          <a:lstStyle/>
          <a:p>
            <a:pPr algn="ctr"/>
            <a:r>
              <a:rPr lang="ja-JP" altLang="en-US" sz="1300" b="1" dirty="0">
                <a:solidFill>
                  <a:srgbClr val="FFFFFF"/>
                </a:solidFill>
                <a:latin typeface="BIZ UDPGothic"/>
                <a:ea typeface="BIZ UDPGothic"/>
                <a:cs typeface="BIZ UDPGothic"/>
              </a:rPr>
              <a:t>吉凶</a:t>
            </a:r>
            <a:endParaRPr lang="ja-JP" sz="1300"/>
          </a:p>
        </p:txBody>
      </p:sp>
      <p:sp>
        <p:nvSpPr>
          <p:cNvPr id="29" name="Plan body 01"/>
          <p:cNvSpPr/>
          <p:nvPr/>
        </p:nvSpPr>
        <p:spPr>
          <a:xfrm>
            <a:off x="5212080" y="3337560"/>
            <a:ext cx="2826868" cy="548640"/>
          </a:xfrm>
          <a:prstGeom prst="rect">
            <a:avLst/>
          </a:prstGeom>
          <a:noFill/>
          <a:ln>
            <a:noFill/>
          </a:ln>
        </p:spPr>
        <p:txBody>
          <a:bodyPr wrap="square" lIns="0" tIns="0" rIns="0" bIns="0" anchor="t" rtlCol="0">
            <a:noAutofit/>
          </a:bodyPr>
          <a:lstStyle/>
          <a:p>
            <a:pPr algn="l">
              <a:lnSpc>
                <a:spcPct val="105000"/>
              </a:lnSpc>
              <a:spcAft>
                <a:spcPts val="300"/>
              </a:spcAft>
            </a:pPr>
            <a:r>
              <a:rPr lang="ja-JP" altLang="en-US" sz="1250" b="0" dirty="0">
                <a:solidFill>
                  <a:srgbClr val="222222"/>
                </a:solidFill>
                <a:latin typeface="BIZ UDPGothic"/>
                <a:ea typeface="BIZ UDPGothic"/>
                <a:cs typeface="BIZ UDPGothic"/>
              </a:rPr>
              <a:t>・判定を手作業なしで回す</a:t>
            </a:r>
            <a:endParaRPr lang="ja-JP" sz="1250"/>
          </a:p>
        </p:txBody>
      </p:sp>
      <p:sp>
        <p:nvSpPr>
          <p:cNvPr id="30" name="Plan card 02"/>
          <p:cNvSpPr/>
          <p:nvPr/>
        </p:nvSpPr>
        <p:spPr>
          <a:xfrm>
            <a:off x="8450428" y="1874520"/>
            <a:ext cx="3192628" cy="2103120"/>
          </a:xfrm>
          <a:prstGeom prst="rect">
            <a:avLst/>
          </a:prstGeom>
          <a:solidFill>
            <a:srgbClr val="FFFFFF"/>
          </a:solidFill>
          <a:ln w="12700">
            <a:solidFill>
              <a:srgbClr val="D0D7E2"/>
            </a:solidFill>
          </a:ln>
        </p:spPr>
      </p:sp>
      <p:sp>
        <p:nvSpPr>
          <p:cNvPr id="31" name="Plan bar 02"/>
          <p:cNvSpPr/>
          <p:nvPr/>
        </p:nvSpPr>
        <p:spPr>
          <a:xfrm>
            <a:off x="8450428" y="1874520"/>
            <a:ext cx="3192628" cy="54864"/>
          </a:xfrm>
          <a:prstGeom prst="rect">
            <a:avLst/>
          </a:prstGeom>
          <a:solidFill>
            <a:srgbClr val="1F3A5F"/>
          </a:solidFill>
          <a:ln>
            <a:noFill/>
          </a:ln>
        </p:spPr>
      </p:sp>
      <p:sp>
        <p:nvSpPr>
          <p:cNvPr id="32" name="Plan num 02"/>
          <p:cNvSpPr/>
          <p:nvPr/>
        </p:nvSpPr>
        <p:spPr>
          <a:xfrm>
            <a:off x="8633308" y="2057400"/>
            <a:ext cx="640080" cy="502920"/>
          </a:xfrm>
          <a:prstGeom prst="rect">
            <a:avLst/>
          </a:prstGeom>
          <a:noFill/>
          <a:ln>
            <a:noFill/>
          </a:ln>
        </p:spPr>
        <p:txBody>
          <a:bodyPr wrap="square" lIns="0" tIns="0" rIns="0" bIns="0" anchor="ctr" rtlCol="0">
            <a:noAutofit/>
          </a:bodyPr>
          <a:lstStyle/>
          <a:p>
            <a:pPr algn="l"/>
            <a:r>
              <a:rPr lang="ja-JP" altLang="en-US" sz="2600" b="1" dirty="0">
                <a:solidFill>
                  <a:srgbClr val="F28C28"/>
                </a:solidFill>
                <a:latin typeface="BIZ UDPGothic"/>
                <a:ea typeface="BIZ UDPGothic"/>
                <a:cs typeface="BIZ UDPGothic"/>
              </a:rPr>
              <a:t>02</a:t>
            </a:r>
            <a:endParaRPr lang="ja-JP" sz="2600"/>
          </a:p>
        </p:txBody>
      </p:sp>
      <p:sp>
        <p:nvSpPr>
          <p:cNvPr id="33" name="Plan title 02"/>
          <p:cNvSpPr/>
          <p:nvPr/>
        </p:nvSpPr>
        <p:spPr>
          <a:xfrm>
            <a:off x="9319108" y="2057400"/>
            <a:ext cx="2232508" cy="502920"/>
          </a:xfrm>
          <a:prstGeom prst="rect">
            <a:avLst/>
          </a:prstGeom>
          <a:noFill/>
          <a:ln>
            <a:noFill/>
          </a:ln>
        </p:spPr>
        <p:txBody>
          <a:bodyPr wrap="square" lIns="0" tIns="0" rIns="0" bIns="0" anchor="ctr" rtlCol="0">
            <a:noAutofit/>
          </a:bodyPr>
          <a:lstStyle/>
          <a:p>
            <a:pPr algn="l"/>
            <a:r>
              <a:rPr lang="ja-JP" altLang="en-US" sz="1450" b="1" dirty="0">
                <a:solidFill>
                  <a:srgbClr val="1F3A5F"/>
                </a:solidFill>
                <a:latin typeface="BIZ UDPGothic"/>
                <a:ea typeface="BIZ UDPGothic"/>
                <a:cs typeface="BIZ UDPGothic"/>
              </a:rPr>
              <a:t>低予算でサイト運営</a:t>
            </a:r>
            <a:endParaRPr lang="ja-JP" sz="1450"/>
          </a:p>
        </p:txBody>
      </p:sp>
      <p:sp>
        <p:nvSpPr>
          <p:cNvPr id="34" name="Plan rule 02"/>
          <p:cNvSpPr/>
          <p:nvPr/>
        </p:nvSpPr>
        <p:spPr>
          <a:xfrm>
            <a:off x="8633308" y="2651760"/>
            <a:ext cx="2826868" cy="9144"/>
          </a:xfrm>
          <a:prstGeom prst="rect">
            <a:avLst/>
          </a:prstGeom>
          <a:solidFill>
            <a:srgbClr val="D0D7E2"/>
          </a:solidFill>
          <a:ln>
            <a:noFill/>
          </a:ln>
        </p:spPr>
      </p:sp>
      <p:sp>
        <p:nvSpPr>
          <p:cNvPr id="35" name="Plan body 02"/>
          <p:cNvSpPr/>
          <p:nvPr/>
        </p:nvSpPr>
        <p:spPr>
          <a:xfrm>
            <a:off x="8633308" y="2788920"/>
            <a:ext cx="2826868" cy="1097280"/>
          </a:xfrm>
          <a:prstGeom prst="rect">
            <a:avLst/>
          </a:prstGeom>
          <a:noFill/>
          <a:ln>
            <a:noFill/>
          </a:ln>
        </p:spPr>
        <p:txBody>
          <a:bodyPr wrap="square" lIns="0" tIns="0" rIns="0" bIns="0" anchor="t" rtlCol="0">
            <a:noAutofit/>
          </a:bodyPr>
          <a:lstStyle/>
          <a:p>
            <a:pPr algn="l">
              <a:lnSpc>
                <a:spcPct val="105000"/>
              </a:lnSpc>
              <a:spcAft>
                <a:spcPts val="300"/>
              </a:spcAft>
            </a:pPr>
            <a:r>
              <a:rPr lang="ja-JP" altLang="en-US" sz="1250" b="0" dirty="0">
                <a:solidFill>
                  <a:srgbClr val="222222"/>
                </a:solidFill>
                <a:latin typeface="BIZ UDPGothic"/>
                <a:ea typeface="BIZ UDPGothic"/>
                <a:cs typeface="BIZ UDPGothic"/>
              </a:rPr>
              <a:t>・月1,000円程度で運営を続ける</a:t>
            </a:r>
            <a:endParaRPr lang="ja-JP" sz="1250"/>
          </a:p>
        </p:txBody>
      </p:sp>
      <p:sp>
        <p:nvSpPr>
          <p:cNvPr id="36" name="Plan card 03"/>
          <p:cNvSpPr/>
          <p:nvPr/>
        </p:nvSpPr>
        <p:spPr>
          <a:xfrm>
            <a:off x="5029200" y="4133088"/>
            <a:ext cx="3192628" cy="2103120"/>
          </a:xfrm>
          <a:prstGeom prst="rect">
            <a:avLst/>
          </a:prstGeom>
          <a:solidFill>
            <a:srgbClr val="FFFFFF"/>
          </a:solidFill>
          <a:ln w="12700">
            <a:solidFill>
              <a:srgbClr val="D0D7E2"/>
            </a:solidFill>
          </a:ln>
        </p:spPr>
      </p:sp>
      <p:sp>
        <p:nvSpPr>
          <p:cNvPr id="37" name="Plan bar 03"/>
          <p:cNvSpPr/>
          <p:nvPr/>
        </p:nvSpPr>
        <p:spPr>
          <a:xfrm>
            <a:off x="5029200" y="4133088"/>
            <a:ext cx="3192628" cy="54864"/>
          </a:xfrm>
          <a:prstGeom prst="rect">
            <a:avLst/>
          </a:prstGeom>
          <a:solidFill>
            <a:srgbClr val="1F3A5F"/>
          </a:solidFill>
          <a:ln>
            <a:noFill/>
          </a:ln>
        </p:spPr>
      </p:sp>
      <p:sp>
        <p:nvSpPr>
          <p:cNvPr id="38" name="Plan num 03"/>
          <p:cNvSpPr/>
          <p:nvPr/>
        </p:nvSpPr>
        <p:spPr>
          <a:xfrm>
            <a:off x="5212080" y="4315968"/>
            <a:ext cx="640080" cy="502920"/>
          </a:xfrm>
          <a:prstGeom prst="rect">
            <a:avLst/>
          </a:prstGeom>
          <a:noFill/>
          <a:ln>
            <a:noFill/>
          </a:ln>
        </p:spPr>
        <p:txBody>
          <a:bodyPr wrap="square" lIns="0" tIns="0" rIns="0" bIns="0" anchor="ctr" rtlCol="0">
            <a:noAutofit/>
          </a:bodyPr>
          <a:lstStyle/>
          <a:p>
            <a:pPr algn="l"/>
            <a:r>
              <a:rPr lang="ja-JP" altLang="en-US" sz="2600" b="1" dirty="0">
                <a:solidFill>
                  <a:srgbClr val="F28C28"/>
                </a:solidFill>
                <a:latin typeface="BIZ UDPGothic"/>
                <a:ea typeface="BIZ UDPGothic"/>
                <a:cs typeface="BIZ UDPGothic"/>
              </a:rPr>
              <a:t>03</a:t>
            </a:r>
            <a:endParaRPr lang="ja-JP" sz="2600"/>
          </a:p>
        </p:txBody>
      </p:sp>
      <p:sp>
        <p:nvSpPr>
          <p:cNvPr id="39" name="Plan title 03"/>
          <p:cNvSpPr/>
          <p:nvPr/>
        </p:nvSpPr>
        <p:spPr>
          <a:xfrm>
            <a:off x="5897880" y="4315968"/>
            <a:ext cx="2232508" cy="502920"/>
          </a:xfrm>
          <a:prstGeom prst="rect">
            <a:avLst/>
          </a:prstGeom>
          <a:noFill/>
          <a:ln>
            <a:noFill/>
          </a:ln>
        </p:spPr>
        <p:txBody>
          <a:bodyPr wrap="square" lIns="0" tIns="0" rIns="0" bIns="0" anchor="ctr" rtlCol="0">
            <a:noAutofit/>
          </a:bodyPr>
          <a:lstStyle/>
          <a:p>
            <a:pPr algn="l"/>
            <a:r>
              <a:rPr lang="ja-JP" altLang="en-US" sz="1450" b="1" dirty="0">
                <a:solidFill>
                  <a:srgbClr val="1F3A5F"/>
                </a:solidFill>
                <a:latin typeface="BIZ UDPGothic"/>
                <a:ea typeface="BIZ UDPGothic"/>
                <a:cs typeface="BIZ UDPGothic"/>
              </a:rPr>
              <a:t>Cloud Paletteを育てる</a:t>
            </a:r>
            <a:endParaRPr lang="ja-JP" sz="1450"/>
          </a:p>
        </p:txBody>
      </p:sp>
      <p:sp>
        <p:nvSpPr>
          <p:cNvPr id="40" name="Plan rule 03"/>
          <p:cNvSpPr/>
          <p:nvPr/>
        </p:nvSpPr>
        <p:spPr>
          <a:xfrm>
            <a:off x="5212080" y="4910328"/>
            <a:ext cx="2826868" cy="9144"/>
          </a:xfrm>
          <a:prstGeom prst="rect">
            <a:avLst/>
          </a:prstGeom>
          <a:solidFill>
            <a:srgbClr val="D0D7E2"/>
          </a:solidFill>
          <a:ln>
            <a:noFill/>
          </a:ln>
        </p:spPr>
      </p:sp>
      <p:sp>
        <p:nvSpPr>
          <p:cNvPr id="41" name="Plan body 03"/>
          <p:cNvSpPr/>
          <p:nvPr/>
        </p:nvSpPr>
        <p:spPr>
          <a:xfrm>
            <a:off x="5212080" y="5047488"/>
            <a:ext cx="2826868" cy="1097280"/>
          </a:xfrm>
          <a:prstGeom prst="rect">
            <a:avLst/>
          </a:prstGeom>
          <a:noFill/>
          <a:ln>
            <a:noFill/>
          </a:ln>
        </p:spPr>
        <p:txBody>
          <a:bodyPr wrap="square" lIns="0" tIns="0" rIns="0" bIns="0" anchor="t" rtlCol="0">
            <a:noAutofit/>
          </a:bodyPr>
          <a:lstStyle/>
          <a:p>
            <a:pPr algn="l">
              <a:lnSpc>
                <a:spcPct val="105000"/>
              </a:lnSpc>
              <a:spcAft>
                <a:spcPts val="300"/>
              </a:spcAft>
            </a:pPr>
            <a:r>
              <a:rPr lang="ja-JP" altLang="en-US" sz="1250" b="0" dirty="0">
                <a:solidFill>
                  <a:srgbClr val="222222"/>
                </a:solidFill>
                <a:latin typeface="BIZ UDPGothic"/>
                <a:ea typeface="BIZ UDPGothic"/>
                <a:cs typeface="BIZ UDPGothic"/>
              </a:rPr>
              <a:t>・SEOを強化する</a:t>
            </a:r>
            <a:endParaRPr lang="ja-JP" sz="1250"/>
          </a:p>
          <a:p>
            <a:pPr algn="l">
              <a:lnSpc>
                <a:spcPct val="105000"/>
              </a:lnSpc>
              <a:spcAft>
                <a:spcPts val="300"/>
              </a:spcAft>
            </a:pPr>
            <a:r>
              <a:rPr lang="ja-JP" altLang="en-US" sz="1250" b="0" dirty="0">
                <a:solidFill>
                  <a:srgbClr val="222222"/>
                </a:solidFill>
                <a:latin typeface="BIZ UDPGothic"/>
                <a:ea typeface="BIZ UDPGothic"/>
                <a:cs typeface="BIZ UDPGothic"/>
              </a:rPr>
              <a:t>・ニュースページを充実させる</a:t>
            </a:r>
            <a:endParaRPr lang="ja-JP" sz="1250"/>
          </a:p>
        </p:txBody>
      </p:sp>
      <p:sp>
        <p:nvSpPr>
          <p:cNvPr id="42" name="Plan card 04"/>
          <p:cNvSpPr/>
          <p:nvPr/>
        </p:nvSpPr>
        <p:spPr>
          <a:xfrm>
            <a:off x="8450428" y="4133088"/>
            <a:ext cx="3192628" cy="2103120"/>
          </a:xfrm>
          <a:prstGeom prst="rect">
            <a:avLst/>
          </a:prstGeom>
          <a:solidFill>
            <a:srgbClr val="FFFFFF"/>
          </a:solidFill>
          <a:ln w="12700">
            <a:solidFill>
              <a:srgbClr val="D0D7E2"/>
            </a:solidFill>
          </a:ln>
        </p:spPr>
      </p:sp>
      <p:sp>
        <p:nvSpPr>
          <p:cNvPr id="43" name="Plan bar 04"/>
          <p:cNvSpPr/>
          <p:nvPr/>
        </p:nvSpPr>
        <p:spPr>
          <a:xfrm>
            <a:off x="8450428" y="4133088"/>
            <a:ext cx="3192628" cy="54864"/>
          </a:xfrm>
          <a:prstGeom prst="rect">
            <a:avLst/>
          </a:prstGeom>
          <a:solidFill>
            <a:srgbClr val="1F3A5F"/>
          </a:solidFill>
          <a:ln>
            <a:noFill/>
          </a:ln>
        </p:spPr>
      </p:sp>
      <p:sp>
        <p:nvSpPr>
          <p:cNvPr id="44" name="Plan num 04"/>
          <p:cNvSpPr/>
          <p:nvPr/>
        </p:nvSpPr>
        <p:spPr>
          <a:xfrm>
            <a:off x="8633308" y="4315968"/>
            <a:ext cx="640080" cy="502920"/>
          </a:xfrm>
          <a:prstGeom prst="rect">
            <a:avLst/>
          </a:prstGeom>
          <a:noFill/>
          <a:ln>
            <a:noFill/>
          </a:ln>
        </p:spPr>
        <p:txBody>
          <a:bodyPr wrap="square" lIns="0" tIns="0" rIns="0" bIns="0" anchor="ctr" rtlCol="0">
            <a:noAutofit/>
          </a:bodyPr>
          <a:lstStyle/>
          <a:p>
            <a:pPr algn="l"/>
            <a:r>
              <a:rPr lang="ja-JP" altLang="en-US" sz="2600" b="1" dirty="0">
                <a:solidFill>
                  <a:srgbClr val="F28C28"/>
                </a:solidFill>
                <a:latin typeface="BIZ UDPGothic"/>
                <a:ea typeface="BIZ UDPGothic"/>
                <a:cs typeface="BIZ UDPGothic"/>
              </a:rPr>
              <a:t>04</a:t>
            </a:r>
            <a:endParaRPr lang="ja-JP" sz="2600"/>
          </a:p>
        </p:txBody>
      </p:sp>
      <p:sp>
        <p:nvSpPr>
          <p:cNvPr id="45" name="Plan title 04"/>
          <p:cNvSpPr/>
          <p:nvPr/>
        </p:nvSpPr>
        <p:spPr>
          <a:xfrm>
            <a:off x="9319108" y="4315968"/>
            <a:ext cx="2232508" cy="502920"/>
          </a:xfrm>
          <a:prstGeom prst="rect">
            <a:avLst/>
          </a:prstGeom>
          <a:noFill/>
          <a:ln>
            <a:noFill/>
          </a:ln>
        </p:spPr>
        <p:txBody>
          <a:bodyPr wrap="square" lIns="0" tIns="0" rIns="0" bIns="0" anchor="ctr" rtlCol="0">
            <a:noAutofit/>
          </a:bodyPr>
          <a:lstStyle/>
          <a:p>
            <a:pPr algn="l"/>
            <a:r>
              <a:rPr lang="ja-JP" altLang="en-US" sz="1450" b="1" dirty="0">
                <a:solidFill>
                  <a:srgbClr val="1F3A5F"/>
                </a:solidFill>
                <a:latin typeface="BIZ UDPGothic"/>
                <a:ea typeface="BIZ UDPGothic"/>
                <a:cs typeface="BIZ UDPGothic"/>
              </a:rPr>
              <a:t>Xでの発信を続ける</a:t>
            </a:r>
            <a:endParaRPr lang="ja-JP" sz="1450"/>
          </a:p>
        </p:txBody>
      </p:sp>
      <p:sp>
        <p:nvSpPr>
          <p:cNvPr id="46" name="Plan rule 04"/>
          <p:cNvSpPr/>
          <p:nvPr/>
        </p:nvSpPr>
        <p:spPr>
          <a:xfrm>
            <a:off x="8633308" y="4910328"/>
            <a:ext cx="2826868" cy="9144"/>
          </a:xfrm>
          <a:prstGeom prst="rect">
            <a:avLst/>
          </a:prstGeom>
          <a:solidFill>
            <a:srgbClr val="D0D7E2"/>
          </a:solidFill>
          <a:ln>
            <a:noFill/>
          </a:ln>
        </p:spPr>
      </p:sp>
      <p:sp>
        <p:nvSpPr>
          <p:cNvPr id="47" name="Plan body 04"/>
          <p:cNvSpPr/>
          <p:nvPr/>
        </p:nvSpPr>
        <p:spPr>
          <a:xfrm>
            <a:off x="8633308" y="5047488"/>
            <a:ext cx="2826868" cy="1097280"/>
          </a:xfrm>
          <a:prstGeom prst="rect">
            <a:avLst/>
          </a:prstGeom>
          <a:noFill/>
          <a:ln>
            <a:noFill/>
          </a:ln>
        </p:spPr>
        <p:txBody>
          <a:bodyPr wrap="square" lIns="0" tIns="0" rIns="0" bIns="0" anchor="t" rtlCol="0">
            <a:noAutofit/>
          </a:bodyPr>
          <a:lstStyle/>
          <a:p>
            <a:pPr algn="l">
              <a:lnSpc>
                <a:spcPct val="105000"/>
              </a:lnSpc>
              <a:spcAft>
                <a:spcPts val="300"/>
              </a:spcAft>
            </a:pPr>
            <a:r>
              <a:rPr lang="ja-JP" altLang="en-US" sz="1250" b="0" dirty="0">
                <a:solidFill>
                  <a:srgbClr val="222222"/>
                </a:solidFill>
                <a:latin typeface="BIZ UDPGothic"/>
                <a:ea typeface="BIZ UDPGothic"/>
                <a:cs typeface="BIZ UDPGothic"/>
              </a:rPr>
              <a:t>・発信をコツコツ続ける</a:t>
            </a:r>
            <a:endParaRPr lang="ja-JP" sz="125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Credits">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FFFFF"/>
                </a:solidFill>
                <a:latin typeface="BIZ UDPGothic"/>
                <a:ea typeface="BIZ UDPGothic"/>
                <a:cs typeface="BIZ UDPGothic"/>
              </a:rPr>
              <a:t>写真クレジット</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この資料で使った写真と画面の出典です</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14 / 14</a:t>
            </a:r>
            <a:endParaRPr lang="ja-JP" sz="1000"/>
          </a:p>
        </p:txBody>
      </p:sp>
      <p:sp>
        <p:nvSpPr>
          <p:cNvPr id="11" name="Head スライド"/>
          <p:cNvSpPr/>
          <p:nvPr/>
        </p:nvSpPr>
        <p:spPr>
          <a:xfrm>
            <a:off x="548640" y="1828800"/>
            <a:ext cx="914400" cy="411480"/>
          </a:xfrm>
          <a:prstGeom prst="rect">
            <a:avLst/>
          </a:prstGeom>
          <a:solidFill>
            <a:srgbClr val="1F3A5F"/>
          </a:solidFill>
          <a:ln w="12700">
            <a:solidFill>
              <a:srgbClr val="FFFFFF"/>
            </a:solidFill>
          </a:ln>
        </p:spPr>
        <p:txBody>
          <a:bodyPr wrap="square" lIns="109728" tIns="0" rIns="109728" bIns="0" anchor="ctr" rtlCol="0">
            <a:noAutofit/>
          </a:bodyPr>
          <a:lstStyle/>
          <a:p>
            <a:pPr algn="l"/>
            <a:r>
              <a:rPr lang="ja-JP" altLang="en-US" sz="1300" b="1" dirty="0">
                <a:solidFill>
                  <a:srgbClr val="FFFFFF"/>
                </a:solidFill>
                <a:latin typeface="BIZ UDPGothic"/>
                <a:ea typeface="BIZ UDPGothic"/>
                <a:cs typeface="BIZ UDPGothic"/>
              </a:rPr>
              <a:t>スライド</a:t>
            </a:r>
            <a:endParaRPr lang="ja-JP" sz="1300"/>
          </a:p>
        </p:txBody>
      </p:sp>
      <p:sp>
        <p:nvSpPr>
          <p:cNvPr id="12" name="Head 写真・画面"/>
          <p:cNvSpPr/>
          <p:nvPr/>
        </p:nvSpPr>
        <p:spPr>
          <a:xfrm>
            <a:off x="1463040" y="1828800"/>
            <a:ext cx="2651760" cy="411480"/>
          </a:xfrm>
          <a:prstGeom prst="rect">
            <a:avLst/>
          </a:prstGeom>
          <a:solidFill>
            <a:srgbClr val="1F3A5F"/>
          </a:solidFill>
          <a:ln w="12700">
            <a:solidFill>
              <a:srgbClr val="FFFFFF"/>
            </a:solidFill>
          </a:ln>
        </p:spPr>
        <p:txBody>
          <a:bodyPr wrap="square" lIns="109728" tIns="0" rIns="109728" bIns="0" anchor="ctr" rtlCol="0">
            <a:noAutofit/>
          </a:bodyPr>
          <a:lstStyle/>
          <a:p>
            <a:pPr algn="l"/>
            <a:r>
              <a:rPr lang="ja-JP" altLang="en-US" sz="1300" b="1" dirty="0">
                <a:solidFill>
                  <a:srgbClr val="FFFFFF"/>
                </a:solidFill>
                <a:latin typeface="BIZ UDPGothic"/>
                <a:ea typeface="BIZ UDPGothic"/>
                <a:cs typeface="BIZ UDPGothic"/>
              </a:rPr>
              <a:t>写真・画面</a:t>
            </a:r>
            <a:endParaRPr lang="ja-JP" sz="1300"/>
          </a:p>
        </p:txBody>
      </p:sp>
      <p:sp>
        <p:nvSpPr>
          <p:cNvPr id="13" name="Head 作者・提供元"/>
          <p:cNvSpPr/>
          <p:nvPr/>
        </p:nvSpPr>
        <p:spPr>
          <a:xfrm>
            <a:off x="4114800" y="1828800"/>
            <a:ext cx="1828800" cy="411480"/>
          </a:xfrm>
          <a:prstGeom prst="rect">
            <a:avLst/>
          </a:prstGeom>
          <a:solidFill>
            <a:srgbClr val="1F3A5F"/>
          </a:solidFill>
          <a:ln w="12700">
            <a:solidFill>
              <a:srgbClr val="FFFFFF"/>
            </a:solidFill>
          </a:ln>
        </p:spPr>
        <p:txBody>
          <a:bodyPr wrap="square" lIns="109728" tIns="0" rIns="109728" bIns="0" anchor="ctr" rtlCol="0">
            <a:noAutofit/>
          </a:bodyPr>
          <a:lstStyle/>
          <a:p>
            <a:pPr algn="l"/>
            <a:r>
              <a:rPr lang="ja-JP" altLang="en-US" sz="1300" b="1" dirty="0">
                <a:solidFill>
                  <a:srgbClr val="FFFFFF"/>
                </a:solidFill>
                <a:latin typeface="BIZ UDPGothic"/>
                <a:ea typeface="BIZ UDPGothic"/>
                <a:cs typeface="BIZ UDPGothic"/>
              </a:rPr>
              <a:t>作者・提供元</a:t>
            </a:r>
            <a:endParaRPr lang="ja-JP" sz="1300"/>
          </a:p>
        </p:txBody>
      </p:sp>
      <p:sp>
        <p:nvSpPr>
          <p:cNvPr id="14" name="Head ライセンス"/>
          <p:cNvSpPr/>
          <p:nvPr/>
        </p:nvSpPr>
        <p:spPr>
          <a:xfrm>
            <a:off x="5943600" y="1828800"/>
            <a:ext cx="1600200" cy="411480"/>
          </a:xfrm>
          <a:prstGeom prst="rect">
            <a:avLst/>
          </a:prstGeom>
          <a:solidFill>
            <a:srgbClr val="1F3A5F"/>
          </a:solidFill>
          <a:ln w="12700">
            <a:solidFill>
              <a:srgbClr val="FFFFFF"/>
            </a:solidFill>
          </a:ln>
        </p:spPr>
        <p:txBody>
          <a:bodyPr wrap="square" lIns="109728" tIns="0" rIns="109728" bIns="0" anchor="ctr" rtlCol="0">
            <a:noAutofit/>
          </a:bodyPr>
          <a:lstStyle/>
          <a:p>
            <a:pPr algn="l"/>
            <a:r>
              <a:rPr lang="ja-JP" altLang="en-US" sz="1300" b="1" dirty="0">
                <a:solidFill>
                  <a:srgbClr val="FFFFFF"/>
                </a:solidFill>
                <a:latin typeface="BIZ UDPGothic"/>
                <a:ea typeface="BIZ UDPGothic"/>
                <a:cs typeface="BIZ UDPGothic"/>
              </a:rPr>
              <a:t>ライセンス</a:t>
            </a:r>
            <a:endParaRPr lang="ja-JP" sz="1300"/>
          </a:p>
        </p:txBody>
      </p:sp>
      <p:sp>
        <p:nvSpPr>
          <p:cNvPr id="15" name="Head 出典URL"/>
          <p:cNvSpPr/>
          <p:nvPr/>
        </p:nvSpPr>
        <p:spPr>
          <a:xfrm>
            <a:off x="7543800" y="1828800"/>
            <a:ext cx="4099255" cy="411480"/>
          </a:xfrm>
          <a:prstGeom prst="rect">
            <a:avLst/>
          </a:prstGeom>
          <a:solidFill>
            <a:srgbClr val="1F3A5F"/>
          </a:solidFill>
          <a:ln w="12700">
            <a:solidFill>
              <a:srgbClr val="FFFFFF"/>
            </a:solidFill>
          </a:ln>
        </p:spPr>
        <p:txBody>
          <a:bodyPr wrap="square" lIns="109728" tIns="0" rIns="109728" bIns="0" anchor="ctr" rtlCol="0">
            <a:noAutofit/>
          </a:bodyPr>
          <a:lstStyle/>
          <a:p>
            <a:pPr algn="l"/>
            <a:r>
              <a:rPr lang="ja-JP" altLang="en-US" sz="1300" b="1" dirty="0">
                <a:solidFill>
                  <a:srgbClr val="FFFFFF"/>
                </a:solidFill>
                <a:latin typeface="BIZ UDPGothic"/>
                <a:ea typeface="BIZ UDPGothic"/>
                <a:cs typeface="BIZ UDPGothic"/>
              </a:rPr>
              <a:t>出典URL</a:t>
            </a:r>
            <a:endParaRPr lang="ja-JP" sz="1300"/>
          </a:p>
        </p:txBody>
      </p:sp>
      <p:sp>
        <p:nvSpPr>
          <p:cNvPr id="16" name="Cell 0-0"/>
          <p:cNvSpPr/>
          <p:nvPr/>
        </p:nvSpPr>
        <p:spPr>
          <a:xfrm>
            <a:off x="548640" y="2240280"/>
            <a:ext cx="9144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ctr">
              <a:lnSpc>
                <a:spcPct val="100000"/>
              </a:lnSpc>
            </a:pPr>
            <a:r>
              <a:rPr lang="ja-JP" altLang="en-US" sz="1300" b="0" dirty="0">
                <a:solidFill>
                  <a:srgbClr val="1F3A5F"/>
                </a:solidFill>
                <a:latin typeface="BIZ UDPGothic"/>
                <a:ea typeface="BIZ UDPGothic"/>
                <a:cs typeface="BIZ UDPGothic"/>
              </a:rPr>
              <a:t>4</a:t>
            </a:r>
            <a:endParaRPr lang="ja-JP" sz="1300"/>
          </a:p>
        </p:txBody>
      </p:sp>
      <p:sp>
        <p:nvSpPr>
          <p:cNvPr id="17" name="Cell 0-1"/>
          <p:cNvSpPr/>
          <p:nvPr/>
        </p:nvSpPr>
        <p:spPr>
          <a:xfrm>
            <a:off x="1463040" y="2240280"/>
            <a:ext cx="265176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1" dirty="0">
                <a:solidFill>
                  <a:srgbClr val="1F3A5F"/>
                </a:solidFill>
                <a:latin typeface="BIZ UDPGothic"/>
                <a:ea typeface="BIZ UDPGothic"/>
                <a:cs typeface="BIZ UDPGothic"/>
              </a:rPr>
              <a:t>気比の松原と日本海</a:t>
            </a:r>
            <a:endParaRPr lang="ja-JP" sz="1300"/>
          </a:p>
        </p:txBody>
      </p:sp>
      <p:sp>
        <p:nvSpPr>
          <p:cNvPr id="18" name="Cell 0-2"/>
          <p:cNvSpPr/>
          <p:nvPr/>
        </p:nvSpPr>
        <p:spPr>
          <a:xfrm>
            <a:off x="4114800" y="2240280"/>
            <a:ext cx="18288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敦賀うまいもん</a:t>
            </a:r>
            <a:endParaRPr lang="ja-JP" sz="1300"/>
          </a:p>
        </p:txBody>
      </p:sp>
      <p:sp>
        <p:nvSpPr>
          <p:cNvPr id="19" name="Cell 0-3"/>
          <p:cNvSpPr/>
          <p:nvPr/>
        </p:nvSpPr>
        <p:spPr>
          <a:xfrm>
            <a:off x="5943600" y="2240280"/>
            <a:ext cx="16002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記載なし</a:t>
            </a:r>
            <a:endParaRPr lang="ja-JP" sz="1300"/>
          </a:p>
        </p:txBody>
      </p:sp>
      <p:sp>
        <p:nvSpPr>
          <p:cNvPr id="20" name="Cell 0-4"/>
          <p:cNvSpPr/>
          <p:nvPr/>
        </p:nvSpPr>
        <p:spPr>
          <a:xfrm>
            <a:off x="7543800" y="2240280"/>
            <a:ext cx="4099255"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950" b="0" dirty="0">
                <a:solidFill>
                  <a:srgbClr val="222222"/>
                </a:solidFill>
                <a:latin typeface="BIZ UDPGothic"/>
                <a:ea typeface="BIZ UDPGothic"/>
                <a:cs typeface="BIZ UDPGothic"/>
              </a:rPr>
              <a:t>http://tsuruga-umaimon.com/</a:t>
            </a:r>
            <a:endParaRPr lang="ja-JP" sz="950"/>
          </a:p>
        </p:txBody>
      </p:sp>
      <p:sp>
        <p:nvSpPr>
          <p:cNvPr id="21" name="Cell 1-0"/>
          <p:cNvSpPr/>
          <p:nvPr/>
        </p:nvSpPr>
        <p:spPr>
          <a:xfrm>
            <a:off x="548640" y="2862072"/>
            <a:ext cx="914400"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ctr">
              <a:lnSpc>
                <a:spcPct val="100000"/>
              </a:lnSpc>
            </a:pPr>
            <a:r>
              <a:rPr lang="ja-JP" altLang="en-US" sz="1300" b="0" dirty="0">
                <a:solidFill>
                  <a:srgbClr val="1F3A5F"/>
                </a:solidFill>
                <a:latin typeface="BIZ UDPGothic"/>
                <a:ea typeface="BIZ UDPGothic"/>
                <a:cs typeface="BIZ UDPGothic"/>
              </a:rPr>
              <a:t>5</a:t>
            </a:r>
            <a:endParaRPr lang="ja-JP" sz="1300"/>
          </a:p>
        </p:txBody>
      </p:sp>
      <p:sp>
        <p:nvSpPr>
          <p:cNvPr id="22" name="Cell 1-1"/>
          <p:cNvSpPr/>
          <p:nvPr/>
        </p:nvSpPr>
        <p:spPr>
          <a:xfrm>
            <a:off x="1463040" y="2862072"/>
            <a:ext cx="2651760"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l">
              <a:lnSpc>
                <a:spcPct val="100000"/>
              </a:lnSpc>
            </a:pPr>
            <a:r>
              <a:rPr lang="ja-JP" altLang="en-US" sz="1300" b="1" dirty="0">
                <a:solidFill>
                  <a:srgbClr val="1F3A5F"/>
                </a:solidFill>
                <a:latin typeface="BIZ UDPGothic"/>
                <a:ea typeface="BIZ UDPGothic"/>
                <a:cs typeface="BIZ UDPGothic"/>
              </a:rPr>
              <a:t>立石岬と日本原電 敦賀発電所</a:t>
            </a:r>
            <a:endParaRPr lang="ja-JP" sz="1300"/>
          </a:p>
        </p:txBody>
      </p:sp>
      <p:sp>
        <p:nvSpPr>
          <p:cNvPr id="23" name="Cell 1-2"/>
          <p:cNvSpPr/>
          <p:nvPr/>
        </p:nvSpPr>
        <p:spPr>
          <a:xfrm>
            <a:off x="4114800" y="2862072"/>
            <a:ext cx="1828800"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Alpsdake</a:t>
            </a:r>
            <a:endParaRPr lang="ja-JP" sz="1300"/>
          </a:p>
        </p:txBody>
      </p:sp>
      <p:sp>
        <p:nvSpPr>
          <p:cNvPr id="24" name="Cell 1-3"/>
          <p:cNvSpPr/>
          <p:nvPr/>
        </p:nvSpPr>
        <p:spPr>
          <a:xfrm>
            <a:off x="5943600" y="2862072"/>
            <a:ext cx="1600200"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CC BY-SA 4.0</a:t>
            </a:r>
            <a:endParaRPr lang="ja-JP" sz="1300"/>
          </a:p>
        </p:txBody>
      </p:sp>
      <p:sp>
        <p:nvSpPr>
          <p:cNvPr id="25" name="Cell 1-4"/>
          <p:cNvSpPr/>
          <p:nvPr/>
        </p:nvSpPr>
        <p:spPr>
          <a:xfrm>
            <a:off x="7543800" y="2862072"/>
            <a:ext cx="4099255"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l">
              <a:lnSpc>
                <a:spcPct val="100000"/>
              </a:lnSpc>
            </a:pPr>
            <a:r>
              <a:rPr lang="ja-JP" altLang="en-US" sz="950" b="0" dirty="0">
                <a:solidFill>
                  <a:srgbClr val="222222"/>
                </a:solidFill>
                <a:latin typeface="BIZ UDPGothic"/>
                <a:ea typeface="BIZ UDPGothic"/>
                <a:cs typeface="BIZ UDPGothic"/>
              </a:rPr>
              <a:t>https://commons.wikimedia.org/wiki/File:Tateishi_cape_and_Tsuruga_Nuclear_Power_Plant.jpg</a:t>
            </a:r>
            <a:endParaRPr lang="ja-JP" sz="950"/>
          </a:p>
        </p:txBody>
      </p:sp>
      <p:sp>
        <p:nvSpPr>
          <p:cNvPr id="26" name="Cell 2-0"/>
          <p:cNvSpPr/>
          <p:nvPr/>
        </p:nvSpPr>
        <p:spPr>
          <a:xfrm>
            <a:off x="548640" y="3483864"/>
            <a:ext cx="9144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ctr">
              <a:lnSpc>
                <a:spcPct val="100000"/>
              </a:lnSpc>
            </a:pPr>
            <a:r>
              <a:rPr lang="ja-JP" altLang="en-US" sz="1300" b="0" dirty="0">
                <a:solidFill>
                  <a:srgbClr val="1F3A5F"/>
                </a:solidFill>
                <a:latin typeface="BIZ UDPGothic"/>
                <a:ea typeface="BIZ UDPGothic"/>
                <a:cs typeface="BIZ UDPGothic"/>
              </a:rPr>
              <a:t>6</a:t>
            </a:r>
            <a:endParaRPr lang="ja-JP" sz="1300"/>
          </a:p>
        </p:txBody>
      </p:sp>
      <p:sp>
        <p:nvSpPr>
          <p:cNvPr id="27" name="Cell 2-1"/>
          <p:cNvSpPr/>
          <p:nvPr/>
        </p:nvSpPr>
        <p:spPr>
          <a:xfrm>
            <a:off x="1463040" y="3483864"/>
            <a:ext cx="265176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1" dirty="0">
                <a:solidFill>
                  <a:srgbClr val="1F3A5F"/>
                </a:solidFill>
                <a:latin typeface="BIZ UDPGothic"/>
                <a:ea typeface="BIZ UDPGothic"/>
                <a:cs typeface="BIZ UDPGothic"/>
              </a:rPr>
              <a:t>敦賀赤レンガ倉庫</a:t>
            </a:r>
            <a:endParaRPr lang="ja-JP" sz="1300"/>
          </a:p>
        </p:txBody>
      </p:sp>
      <p:sp>
        <p:nvSpPr>
          <p:cNvPr id="28" name="Cell 2-2"/>
          <p:cNvSpPr/>
          <p:nvPr/>
        </p:nvSpPr>
        <p:spPr>
          <a:xfrm>
            <a:off x="4114800" y="3483864"/>
            <a:ext cx="18288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Asturio Cantabrio</a:t>
            </a:r>
            <a:endParaRPr lang="ja-JP" sz="1300"/>
          </a:p>
        </p:txBody>
      </p:sp>
      <p:sp>
        <p:nvSpPr>
          <p:cNvPr id="29" name="Cell 2-3"/>
          <p:cNvSpPr/>
          <p:nvPr/>
        </p:nvSpPr>
        <p:spPr>
          <a:xfrm>
            <a:off x="5943600" y="3483864"/>
            <a:ext cx="16002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CC BY-SA 4.0</a:t>
            </a:r>
            <a:endParaRPr lang="ja-JP" sz="1300"/>
          </a:p>
        </p:txBody>
      </p:sp>
      <p:sp>
        <p:nvSpPr>
          <p:cNvPr id="30" name="Cell 2-4"/>
          <p:cNvSpPr/>
          <p:nvPr/>
        </p:nvSpPr>
        <p:spPr>
          <a:xfrm>
            <a:off x="7543800" y="3483864"/>
            <a:ext cx="4099255"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950" b="0" dirty="0">
                <a:solidFill>
                  <a:srgbClr val="222222"/>
                </a:solidFill>
                <a:latin typeface="BIZ UDPGothic"/>
                <a:ea typeface="BIZ UDPGothic"/>
                <a:cs typeface="BIZ UDPGothic"/>
              </a:rPr>
              <a:t>https://commons.wikimedia.org/wiki/File:Tsuruga_Red_Brick_Warehouce_ac_(1).jpg</a:t>
            </a:r>
            <a:endParaRPr lang="ja-JP" sz="950"/>
          </a:p>
        </p:txBody>
      </p:sp>
      <p:sp>
        <p:nvSpPr>
          <p:cNvPr id="31" name="Cell 3-0"/>
          <p:cNvSpPr/>
          <p:nvPr/>
        </p:nvSpPr>
        <p:spPr>
          <a:xfrm>
            <a:off x="548640" y="4105656"/>
            <a:ext cx="914400"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ctr">
              <a:lnSpc>
                <a:spcPct val="100000"/>
              </a:lnSpc>
            </a:pPr>
            <a:r>
              <a:rPr lang="ja-JP" altLang="en-US" sz="1300" b="0" dirty="0">
                <a:solidFill>
                  <a:srgbClr val="1F3A5F"/>
                </a:solidFill>
                <a:latin typeface="BIZ UDPGothic"/>
                <a:ea typeface="BIZ UDPGothic"/>
                <a:cs typeface="BIZ UDPGothic"/>
              </a:rPr>
              <a:t>6</a:t>
            </a:r>
            <a:endParaRPr lang="ja-JP" sz="1300"/>
          </a:p>
        </p:txBody>
      </p:sp>
      <p:sp>
        <p:nvSpPr>
          <p:cNvPr id="32" name="Cell 3-1"/>
          <p:cNvSpPr/>
          <p:nvPr/>
        </p:nvSpPr>
        <p:spPr>
          <a:xfrm>
            <a:off x="1463040" y="4105656"/>
            <a:ext cx="2651760"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l">
              <a:lnSpc>
                <a:spcPct val="100000"/>
              </a:lnSpc>
            </a:pPr>
            <a:r>
              <a:rPr lang="ja-JP" altLang="en-US" sz="1300" b="1" dirty="0">
                <a:solidFill>
                  <a:srgbClr val="1F3A5F"/>
                </a:solidFill>
                <a:latin typeface="BIZ UDPGothic"/>
                <a:ea typeface="BIZ UDPGothic"/>
                <a:cs typeface="BIZ UDPGothic"/>
              </a:rPr>
              <a:t>敦賀駅 北陸新幹線ホーム</a:t>
            </a:r>
            <a:endParaRPr lang="ja-JP" sz="1300"/>
          </a:p>
        </p:txBody>
      </p:sp>
      <p:sp>
        <p:nvSpPr>
          <p:cNvPr id="33" name="Cell 3-2"/>
          <p:cNvSpPr/>
          <p:nvPr/>
        </p:nvSpPr>
        <p:spPr>
          <a:xfrm>
            <a:off x="4114800" y="4105656"/>
            <a:ext cx="1828800"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Suikotei</a:t>
            </a:r>
            <a:endParaRPr lang="ja-JP" sz="1300"/>
          </a:p>
        </p:txBody>
      </p:sp>
      <p:sp>
        <p:nvSpPr>
          <p:cNvPr id="34" name="Cell 3-3"/>
          <p:cNvSpPr/>
          <p:nvPr/>
        </p:nvSpPr>
        <p:spPr>
          <a:xfrm>
            <a:off x="5943600" y="4105656"/>
            <a:ext cx="1600200"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CC BY 4.0</a:t>
            </a:r>
            <a:endParaRPr lang="ja-JP" sz="1300"/>
          </a:p>
        </p:txBody>
      </p:sp>
      <p:sp>
        <p:nvSpPr>
          <p:cNvPr id="35" name="Cell 3-4"/>
          <p:cNvSpPr/>
          <p:nvPr/>
        </p:nvSpPr>
        <p:spPr>
          <a:xfrm>
            <a:off x="7543800" y="4105656"/>
            <a:ext cx="4099255" cy="621792"/>
          </a:xfrm>
          <a:prstGeom prst="rect">
            <a:avLst/>
          </a:prstGeom>
          <a:solidFill>
            <a:srgbClr val="FFFFFF"/>
          </a:solidFill>
          <a:ln w="12700">
            <a:solidFill>
              <a:srgbClr val="D0D7E2"/>
            </a:solidFill>
          </a:ln>
        </p:spPr>
        <p:txBody>
          <a:bodyPr wrap="square" lIns="109728" tIns="36576" rIns="109728" bIns="36576" anchor="ctr" rtlCol="0">
            <a:noAutofit/>
          </a:bodyPr>
          <a:lstStyle/>
          <a:p>
            <a:pPr algn="l">
              <a:lnSpc>
                <a:spcPct val="100000"/>
              </a:lnSpc>
            </a:pPr>
            <a:r>
              <a:rPr lang="ja-JP" altLang="en-US" sz="950" b="0" dirty="0">
                <a:solidFill>
                  <a:srgbClr val="222222"/>
                </a:solidFill>
                <a:latin typeface="BIZ UDPGothic"/>
                <a:ea typeface="BIZ UDPGothic"/>
                <a:cs typeface="BIZ UDPGothic"/>
              </a:rPr>
              <a:t>https://commons.wikimedia.org/wiki/File:Tsuruga_Station_Hokuriku_Shinkansen_Platform_01.jpg</a:t>
            </a:r>
            <a:endParaRPr lang="ja-JP" sz="950"/>
          </a:p>
        </p:txBody>
      </p:sp>
      <p:sp>
        <p:nvSpPr>
          <p:cNvPr id="36" name="Cell 4-0"/>
          <p:cNvSpPr/>
          <p:nvPr/>
        </p:nvSpPr>
        <p:spPr>
          <a:xfrm>
            <a:off x="548640" y="4727448"/>
            <a:ext cx="9144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ctr">
              <a:lnSpc>
                <a:spcPct val="100000"/>
              </a:lnSpc>
            </a:pPr>
            <a:r>
              <a:rPr lang="ja-JP" altLang="en-US" sz="1300" b="0" dirty="0">
                <a:solidFill>
                  <a:srgbClr val="1F3A5F"/>
                </a:solidFill>
                <a:latin typeface="BIZ UDPGothic"/>
                <a:ea typeface="BIZ UDPGothic"/>
                <a:cs typeface="BIZ UDPGothic"/>
              </a:rPr>
              <a:t>10</a:t>
            </a:r>
            <a:endParaRPr lang="ja-JP" sz="1300"/>
          </a:p>
        </p:txBody>
      </p:sp>
      <p:sp>
        <p:nvSpPr>
          <p:cNvPr id="37" name="Cell 4-1"/>
          <p:cNvSpPr/>
          <p:nvPr/>
        </p:nvSpPr>
        <p:spPr>
          <a:xfrm>
            <a:off x="1463040" y="4727448"/>
            <a:ext cx="265176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1" dirty="0">
                <a:solidFill>
                  <a:srgbClr val="1F3A5F"/>
                </a:solidFill>
                <a:latin typeface="BIZ UDPGothic"/>
                <a:ea typeface="BIZ UDPGothic"/>
                <a:cs typeface="BIZ UDPGothic"/>
              </a:rPr>
              <a:t>Cloud Palette の画面</a:t>
            </a:r>
            <a:endParaRPr lang="ja-JP" sz="1300"/>
          </a:p>
        </p:txBody>
      </p:sp>
      <p:sp>
        <p:nvSpPr>
          <p:cNvPr id="38" name="Cell 4-2"/>
          <p:cNvSpPr/>
          <p:nvPr/>
        </p:nvSpPr>
        <p:spPr>
          <a:xfrm>
            <a:off x="4114800" y="4727448"/>
            <a:ext cx="18288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自作サイト</a:t>
            </a:r>
            <a:endParaRPr lang="ja-JP" sz="1300"/>
          </a:p>
        </p:txBody>
      </p:sp>
      <p:sp>
        <p:nvSpPr>
          <p:cNvPr id="39" name="Cell 4-3"/>
          <p:cNvSpPr/>
          <p:nvPr/>
        </p:nvSpPr>
        <p:spPr>
          <a:xfrm>
            <a:off x="5943600" y="4727448"/>
            <a:ext cx="1600200"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1300" b="0" dirty="0">
                <a:solidFill>
                  <a:srgbClr val="222222"/>
                </a:solidFill>
                <a:latin typeface="BIZ UDPGothic"/>
                <a:ea typeface="BIZ UDPGothic"/>
                <a:cs typeface="BIZ UDPGothic"/>
              </a:rPr>
              <a:t>—</a:t>
            </a:r>
            <a:endParaRPr lang="ja-JP" sz="1300"/>
          </a:p>
        </p:txBody>
      </p:sp>
      <p:sp>
        <p:nvSpPr>
          <p:cNvPr id="40" name="Cell 4-4"/>
          <p:cNvSpPr/>
          <p:nvPr/>
        </p:nvSpPr>
        <p:spPr>
          <a:xfrm>
            <a:off x="7543800" y="4727448"/>
            <a:ext cx="4099255" cy="621792"/>
          </a:xfrm>
          <a:prstGeom prst="rect">
            <a:avLst/>
          </a:prstGeom>
          <a:solidFill>
            <a:srgbClr val="F3F5F8"/>
          </a:solidFill>
          <a:ln w="12700">
            <a:solidFill>
              <a:srgbClr val="D0D7E2"/>
            </a:solidFill>
          </a:ln>
        </p:spPr>
        <p:txBody>
          <a:bodyPr wrap="square" lIns="109728" tIns="36576" rIns="109728" bIns="36576" anchor="ctr" rtlCol="0">
            <a:noAutofit/>
          </a:bodyPr>
          <a:lstStyle/>
          <a:p>
            <a:pPr algn="l">
              <a:lnSpc>
                <a:spcPct val="100000"/>
              </a:lnSpc>
            </a:pPr>
            <a:r>
              <a:rPr lang="ja-JP" altLang="en-US" sz="950" b="0" dirty="0">
                <a:solidFill>
                  <a:srgbClr val="222222"/>
                </a:solidFill>
                <a:latin typeface="BIZ UDPGothic"/>
                <a:ea typeface="BIZ UDPGothic"/>
                <a:cs typeface="BIZ UDPGothic"/>
              </a:rPr>
              <a:t>https://cloud-palette.com/</a:t>
            </a:r>
            <a:endParaRPr lang="ja-JP" sz="950"/>
          </a:p>
        </p:txBody>
      </p:sp>
      <p:sp>
        <p:nvSpPr>
          <p:cNvPr id="41" name="Credit note"/>
          <p:cNvSpPr/>
          <p:nvPr/>
        </p:nvSpPr>
        <p:spPr>
          <a:xfrm>
            <a:off x="548640" y="5486400"/>
            <a:ext cx="11094415" cy="777240"/>
          </a:xfrm>
          <a:prstGeom prst="rect">
            <a:avLst/>
          </a:prstGeom>
          <a:noFill/>
          <a:ln>
            <a:noFill/>
          </a:ln>
        </p:spPr>
        <p:txBody>
          <a:bodyPr wrap="square" lIns="0" tIns="0" rIns="0" bIns="0" anchor="t" rtlCol="0">
            <a:noAutofit/>
          </a:bodyPr>
          <a:lstStyle/>
          <a:p>
            <a:pPr algn="l">
              <a:lnSpc>
                <a:spcPct val="100000"/>
              </a:lnSpc>
              <a:spcAft>
                <a:spcPts val="300"/>
              </a:spcAft>
            </a:pPr>
            <a:r>
              <a:rPr lang="ja-JP" altLang="en-US" sz="1100" b="0" dirty="0">
                <a:solidFill>
                  <a:srgbClr val="666666"/>
                </a:solidFill>
                <a:latin typeface="BIZ UDPGothic"/>
                <a:ea typeface="BIZ UDPGothic"/>
                <a:cs typeface="BIZ UDPGothic"/>
              </a:rPr>
              <a:t>※ Wikimedia Commons の写真は、各ライセンス（CC BY / CC BY-SA）の条件に従って使用しています。</a:t>
            </a:r>
            <a:endParaRPr lang="ja-JP" sz="1100"/>
          </a:p>
          <a:p>
            <a:pPr algn="l">
              <a:lnSpc>
                <a:spcPct val="100000"/>
              </a:lnSpc>
              <a:spcAft>
                <a:spcPts val="300"/>
              </a:spcAft>
            </a:pPr>
            <a:r>
              <a:rPr lang="ja-JP" altLang="en-US" sz="1100" b="0" dirty="0">
                <a:solidFill>
                  <a:srgbClr val="666666"/>
                </a:solidFill>
                <a:latin typeface="BIZ UDPGothic"/>
                <a:ea typeface="BIZ UDPGothic"/>
                <a:cs typeface="BIZ UDPGothic"/>
              </a:rPr>
              <a:t>※ スライド4の写真は敦賀うまいもん（tsuruga-umaimon.com）のものです。出典元にライセンスの記載はありません。</a:t>
            </a:r>
            <a:endParaRPr lang="ja-JP" sz="1100"/>
          </a:p>
          <a:p>
            <a:pPr algn="l">
              <a:lnSpc>
                <a:spcPct val="100000"/>
              </a:lnSpc>
            </a:pPr>
            <a:r>
              <a:rPr lang="ja-JP" altLang="en-US" sz="1100" b="0" dirty="0">
                <a:solidFill>
                  <a:srgbClr val="666666"/>
                </a:solidFill>
                <a:latin typeface="BIZ UDPGothic"/>
                <a:ea typeface="BIZ UDPGothic"/>
                <a:cs typeface="BIZ UDPGothic"/>
              </a:rPr>
              <a:t>※ イラスト：AIで生成</a:t>
            </a:r>
            <a:endParaRPr lang="ja-JP"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Grok Bot">
    <p:bg>
      <p:bgPr>
        <a:solidFill>
          <a:srgbClr val="FFFFFF"/>
        </a:solidFill>
        <a:effectLst/>
      </p:bgPr>
    </p:bg>
    <p:spTree>
      <p:nvGrpSpPr>
        <p:cNvPr id="1" name=""/>
        <p:cNvGrpSpPr/>
        <p:nvPr/>
      </p:nvGrpSpPr>
      <p:grpSpPr>
        <a:xfrm>
          <a:off x="0" y="0"/>
          <a:ext cx="0" cy="0"/>
          <a:chOff x="0" y="0"/>
          <a:chExt cx="0" cy="0"/>
        </a:xfrm>
      </p:grpSpPr>
      <p:sp>
        <p:nvSpPr>
          <p:cNvPr id="3" name="Title bar"/>
          <p:cNvSpPr/>
          <p:nvPr/>
        </p:nvSpPr>
        <p:spPr>
          <a:xfrm>
            <a:off x="0" y="0"/>
            <a:ext cx="12191695" cy="868680"/>
          </a:xfrm>
          <a:prstGeom prst="rect">
            <a:avLst/>
          </a:prstGeom>
          <a:solidFill>
            <a:srgbClr val="1F3A5F"/>
          </a:solidFill>
          <a:ln>
            <a:noFill/>
          </a:ln>
        </p:spPr>
      </p:sp>
      <p:sp>
        <p:nvSpPr>
          <p:cNvPr id="4" name="Title"/>
          <p:cNvSpPr/>
          <p:nvPr/>
        </p:nvSpPr>
        <p:spPr>
          <a:xfrm>
            <a:off x="548640" y="0"/>
            <a:ext cx="11064240" cy="868680"/>
          </a:xfrm>
          <a:prstGeom prst="rect">
            <a:avLst/>
          </a:prstGeom>
          <a:noFill/>
          <a:ln>
            <a:noFill/>
          </a:ln>
        </p:spPr>
        <p:txBody>
          <a:bodyPr wrap="square" lIns="0" tIns="0" rIns="0" bIns="0" anchor="ctr" rtlCol="0">
            <a:noAutofit/>
          </a:bodyPr>
          <a:lstStyle/>
          <a:p>
            <a:pPr algn="l"/>
            <a:r>
              <a:rPr lang="ja-JP" altLang="en-US" sz="2800" b="1" dirty="0">
                <a:solidFill>
                  <a:srgbClr val="F28C28"/>
                </a:solidFill>
                <a:latin typeface="BIZ UDPGothic"/>
                <a:ea typeface="BIZ UDPGothic"/>
                <a:cs typeface="BIZ UDPGothic"/>
              </a:rPr>
              <a:t>②  </a:t>
            </a:r>
            <a:r>
              <a:rPr lang="ja-JP" altLang="en-US" sz="2800" b="1" dirty="0">
                <a:solidFill>
                  <a:srgbClr val="FFFFFF"/>
                </a:solidFill>
                <a:latin typeface="BIZ UDPGothic"/>
                <a:ea typeface="BIZ UDPGothic"/>
                <a:cs typeface="BIZ UDPGothic"/>
              </a:rPr>
              <a:t>Grok Botってなに？</a:t>
            </a:r>
            <a:endParaRPr lang="ja-JP" sz="2800"/>
          </a:p>
        </p:txBody>
      </p:sp>
      <p:sp>
        <p:nvSpPr>
          <p:cNvPr id="5" name="Accent line"/>
          <p:cNvSpPr/>
          <p:nvPr/>
        </p:nvSpPr>
        <p:spPr>
          <a:xfrm>
            <a:off x="0" y="868680"/>
            <a:ext cx="12191695" cy="54864"/>
          </a:xfrm>
          <a:prstGeom prst="rect">
            <a:avLst/>
          </a:prstGeom>
          <a:solidFill>
            <a:srgbClr val="F28C28"/>
          </a:solidFill>
          <a:ln>
            <a:noFill/>
          </a:ln>
        </p:spPr>
      </p:sp>
      <p:sp>
        <p:nvSpPr>
          <p:cNvPr id="6" name="Key bar"/>
          <p:cNvSpPr/>
          <p:nvPr/>
        </p:nvSpPr>
        <p:spPr>
          <a:xfrm>
            <a:off x="548640" y="1115568"/>
            <a:ext cx="73152" cy="457200"/>
          </a:xfrm>
          <a:prstGeom prst="rect">
            <a:avLst/>
          </a:prstGeom>
          <a:solidFill>
            <a:srgbClr val="F28C28"/>
          </a:solidFill>
          <a:ln>
            <a:noFill/>
          </a:ln>
        </p:spPr>
      </p:sp>
      <p:sp>
        <p:nvSpPr>
          <p:cNvPr id="7" name="Key message"/>
          <p:cNvSpPr/>
          <p:nvPr/>
        </p:nvSpPr>
        <p:spPr>
          <a:xfrm>
            <a:off x="731520" y="1069848"/>
            <a:ext cx="10881360" cy="548640"/>
          </a:xfrm>
          <a:prstGeom prst="rect">
            <a:avLst/>
          </a:prstGeom>
          <a:noFill/>
          <a:ln>
            <a:noFill/>
          </a:ln>
        </p:spPr>
        <p:txBody>
          <a:bodyPr wrap="square" lIns="45720" tIns="0" rIns="45720" bIns="0" anchor="ctr" rtlCol="0">
            <a:noAutofit/>
          </a:bodyPr>
          <a:lstStyle/>
          <a:p>
            <a:pPr algn="l"/>
            <a:r>
              <a:rPr lang="ja-JP" altLang="en-US" sz="1800" b="1" dirty="0">
                <a:solidFill>
                  <a:srgbClr val="1F3A5F"/>
                </a:solidFill>
                <a:latin typeface="BIZ UDPGothic"/>
                <a:ea typeface="BIZ UDPGothic"/>
                <a:cs typeface="BIZ UDPGothic"/>
              </a:rPr>
              <a:t>チャットで頼むと、調べ物・資料づくり・定期チェックなどを代わりにやってくれるAIアシスタント</a:t>
            </a:r>
            <a:endParaRPr lang="ja-JP" sz="1800"/>
          </a:p>
        </p:txBody>
      </p:sp>
      <p:sp>
        <p:nvSpPr>
          <p:cNvPr id="8" name="Footer rule"/>
          <p:cNvSpPr/>
          <p:nvPr/>
        </p:nvSpPr>
        <p:spPr>
          <a:xfrm>
            <a:off x="548640" y="6355080"/>
            <a:ext cx="11094415" cy="9144"/>
          </a:xfrm>
          <a:prstGeom prst="rect">
            <a:avLst/>
          </a:prstGeom>
          <a:solidFill>
            <a:srgbClr val="D0D7E2"/>
          </a:solidFill>
          <a:ln>
            <a:noFill/>
          </a:ln>
        </p:spPr>
      </p:sp>
      <p:sp>
        <p:nvSpPr>
          <p:cNvPr id="9" name="Footer"/>
          <p:cNvSpPr/>
          <p:nvPr/>
        </p:nvSpPr>
        <p:spPr>
          <a:xfrm>
            <a:off x="548640" y="6400800"/>
            <a:ext cx="7315200" cy="320040"/>
          </a:xfrm>
          <a:prstGeom prst="rect">
            <a:avLst/>
          </a:prstGeom>
          <a:noFill/>
          <a:ln>
            <a:noFill/>
          </a:ln>
        </p:spPr>
        <p:txBody>
          <a:bodyPr wrap="square" lIns="0" tIns="0" rIns="0" bIns="0" anchor="ctr" rtlCol="0">
            <a:noAutofit/>
          </a:bodyPr>
          <a:lstStyle/>
          <a:p>
            <a:pPr algn="l"/>
            <a:r>
              <a:rPr lang="ja-JP" altLang="en-US" sz="1000" b="0" dirty="0">
                <a:solidFill>
                  <a:srgbClr val="666666"/>
                </a:solidFill>
                <a:latin typeface="BIZ UDPGothic"/>
                <a:ea typeface="BIZ UDPGothic"/>
                <a:cs typeface="BIZ UDPGothic"/>
              </a:rPr>
              <a:t>石橋 真｜最近のあれこれ</a:t>
            </a:r>
            <a:endParaRPr lang="ja-JP" sz="1000"/>
          </a:p>
        </p:txBody>
      </p:sp>
      <p:sp>
        <p:nvSpPr>
          <p:cNvPr id="10" name="Page number"/>
          <p:cNvSpPr/>
          <p:nvPr/>
        </p:nvSpPr>
        <p:spPr>
          <a:xfrm>
            <a:off x="9814255" y="6400800"/>
            <a:ext cx="1828800" cy="320040"/>
          </a:xfrm>
          <a:prstGeom prst="rect">
            <a:avLst/>
          </a:prstGeom>
          <a:noFill/>
          <a:ln>
            <a:noFill/>
          </a:ln>
        </p:spPr>
        <p:txBody>
          <a:bodyPr wrap="square" lIns="0" tIns="0" rIns="0" bIns="0" anchor="ctr" rtlCol="0">
            <a:noAutofit/>
          </a:bodyPr>
          <a:lstStyle/>
          <a:p>
            <a:pPr algn="r"/>
            <a:r>
              <a:rPr lang="ja-JP" altLang="en-US" sz="1000" b="0" dirty="0">
                <a:solidFill>
                  <a:srgbClr val="666666"/>
                </a:solidFill>
                <a:latin typeface="BIZ UDPGothic"/>
                <a:ea typeface="BIZ UDPGothic"/>
                <a:cs typeface="BIZ UDPGothic"/>
              </a:rPr>
              <a:t>7 / 14</a:t>
            </a:r>
            <a:endParaRPr lang="ja-JP" sz="1000"/>
          </a:p>
        </p:txBody>
      </p:sp>
      <p:sp>
        <p:nvSpPr>
          <p:cNvPr id="11" name="Can head"/>
          <p:cNvSpPr/>
          <p:nvPr/>
        </p:nvSpPr>
        <p:spPr>
          <a:xfrm>
            <a:off x="548640" y="1874520"/>
            <a:ext cx="5486400" cy="329184"/>
          </a:xfrm>
          <a:prstGeom prst="rect">
            <a:avLst/>
          </a:prstGeom>
          <a:noFill/>
          <a:ln>
            <a:noFill/>
          </a:ln>
        </p:spPr>
        <p:txBody>
          <a:bodyPr wrap="square" lIns="0" tIns="0" rIns="0" bIns="0" anchor="ctr" rtlCol="0">
            <a:noAutofit/>
          </a:bodyPr>
          <a:lstStyle/>
          <a:p>
            <a:pPr algn="l"/>
            <a:r>
              <a:rPr lang="ja-JP" altLang="en-US" sz="1400" b="1" dirty="0">
                <a:solidFill>
                  <a:srgbClr val="1F3A5F"/>
                </a:solidFill>
                <a:latin typeface="BIZ UDPGothic"/>
                <a:ea typeface="BIZ UDPGothic"/>
                <a:cs typeface="BIZ UDPGothic"/>
              </a:rPr>
              <a:t>頼めること（たとえば）</a:t>
            </a:r>
            <a:endParaRPr lang="ja-JP" sz="1400"/>
          </a:p>
        </p:txBody>
      </p:sp>
      <p:sp>
        <p:nvSpPr>
          <p:cNvPr id="12" name="Can tile 0"/>
          <p:cNvSpPr/>
          <p:nvPr/>
        </p:nvSpPr>
        <p:spPr>
          <a:xfrm>
            <a:off x="548640" y="2286000"/>
            <a:ext cx="1737360" cy="1005840"/>
          </a:xfrm>
          <a:prstGeom prst="rect">
            <a:avLst/>
          </a:prstGeom>
          <a:solidFill>
            <a:srgbClr val="1F3A5F"/>
          </a:solidFill>
          <a:ln>
            <a:noFill/>
          </a:ln>
        </p:spPr>
      </p:sp>
      <p:sp>
        <p:nvSpPr>
          <p:cNvPr id="13" name="Can bar 0"/>
          <p:cNvSpPr/>
          <p:nvPr/>
        </p:nvSpPr>
        <p:spPr>
          <a:xfrm>
            <a:off x="548640" y="2286000"/>
            <a:ext cx="1737360" cy="54864"/>
          </a:xfrm>
          <a:prstGeom prst="rect">
            <a:avLst/>
          </a:prstGeom>
          <a:solidFill>
            <a:srgbClr val="F28C28"/>
          </a:solidFill>
          <a:ln>
            <a:noFill/>
          </a:ln>
        </p:spPr>
      </p:sp>
      <p:sp>
        <p:nvSpPr>
          <p:cNvPr id="14" name="Can text 0"/>
          <p:cNvSpPr/>
          <p:nvPr/>
        </p:nvSpPr>
        <p:spPr>
          <a:xfrm>
            <a:off x="548640" y="2340864"/>
            <a:ext cx="1737360" cy="950976"/>
          </a:xfrm>
          <a:prstGeom prst="rect">
            <a:avLst/>
          </a:prstGeom>
          <a:noFill/>
          <a:ln>
            <a:noFill/>
          </a:ln>
        </p:spPr>
        <p:txBody>
          <a:bodyPr wrap="square" lIns="45720" tIns="0" rIns="45720" bIns="0" anchor="ctr" rtlCol="0">
            <a:noAutofit/>
          </a:bodyPr>
          <a:lstStyle/>
          <a:p>
            <a:pPr algn="ctr"/>
            <a:r>
              <a:rPr lang="ja-JP" altLang="en-US" sz="2000" b="1" dirty="0">
                <a:solidFill>
                  <a:srgbClr val="FFFFFF"/>
                </a:solidFill>
                <a:latin typeface="BIZ UDPGothic"/>
                <a:ea typeface="BIZ UDPGothic"/>
                <a:cs typeface="BIZ UDPGothic"/>
              </a:rPr>
              <a:t>調べ物</a:t>
            </a:r>
            <a:endParaRPr lang="ja-JP" sz="2000"/>
          </a:p>
        </p:txBody>
      </p:sp>
      <p:sp>
        <p:nvSpPr>
          <p:cNvPr id="15" name="Can tile 1"/>
          <p:cNvSpPr/>
          <p:nvPr/>
        </p:nvSpPr>
        <p:spPr>
          <a:xfrm>
            <a:off x="2423160" y="2286000"/>
            <a:ext cx="1737360" cy="1005840"/>
          </a:xfrm>
          <a:prstGeom prst="rect">
            <a:avLst/>
          </a:prstGeom>
          <a:solidFill>
            <a:srgbClr val="1F3A5F"/>
          </a:solidFill>
          <a:ln>
            <a:noFill/>
          </a:ln>
        </p:spPr>
      </p:sp>
      <p:sp>
        <p:nvSpPr>
          <p:cNvPr id="16" name="Can bar 1"/>
          <p:cNvSpPr/>
          <p:nvPr/>
        </p:nvSpPr>
        <p:spPr>
          <a:xfrm>
            <a:off x="2423160" y="2286000"/>
            <a:ext cx="1737360" cy="54864"/>
          </a:xfrm>
          <a:prstGeom prst="rect">
            <a:avLst/>
          </a:prstGeom>
          <a:solidFill>
            <a:srgbClr val="F28C28"/>
          </a:solidFill>
          <a:ln>
            <a:noFill/>
          </a:ln>
        </p:spPr>
      </p:sp>
      <p:sp>
        <p:nvSpPr>
          <p:cNvPr id="17" name="Can text 1"/>
          <p:cNvSpPr/>
          <p:nvPr/>
        </p:nvSpPr>
        <p:spPr>
          <a:xfrm>
            <a:off x="2423160" y="2340864"/>
            <a:ext cx="1737360" cy="950976"/>
          </a:xfrm>
          <a:prstGeom prst="rect">
            <a:avLst/>
          </a:prstGeom>
          <a:noFill/>
          <a:ln>
            <a:noFill/>
          </a:ln>
        </p:spPr>
        <p:txBody>
          <a:bodyPr wrap="square" lIns="45720" tIns="0" rIns="45720" bIns="0" anchor="ctr" rtlCol="0">
            <a:noAutofit/>
          </a:bodyPr>
          <a:lstStyle/>
          <a:p>
            <a:pPr algn="ctr"/>
            <a:r>
              <a:rPr lang="ja-JP" altLang="en-US" sz="2000" b="1" dirty="0">
                <a:solidFill>
                  <a:srgbClr val="FFFFFF"/>
                </a:solidFill>
                <a:latin typeface="BIZ UDPGothic"/>
                <a:ea typeface="BIZ UDPGothic"/>
                <a:cs typeface="BIZ UDPGothic"/>
              </a:rPr>
              <a:t>資料づくり</a:t>
            </a:r>
            <a:endParaRPr lang="ja-JP" sz="2000"/>
          </a:p>
        </p:txBody>
      </p:sp>
      <p:sp>
        <p:nvSpPr>
          <p:cNvPr id="18" name="Can tile 2"/>
          <p:cNvSpPr/>
          <p:nvPr/>
        </p:nvSpPr>
        <p:spPr>
          <a:xfrm>
            <a:off x="4297680" y="2286000"/>
            <a:ext cx="1737360" cy="1005840"/>
          </a:xfrm>
          <a:prstGeom prst="rect">
            <a:avLst/>
          </a:prstGeom>
          <a:solidFill>
            <a:srgbClr val="1F3A5F"/>
          </a:solidFill>
          <a:ln>
            <a:noFill/>
          </a:ln>
        </p:spPr>
      </p:sp>
      <p:sp>
        <p:nvSpPr>
          <p:cNvPr id="19" name="Can bar 2"/>
          <p:cNvSpPr/>
          <p:nvPr/>
        </p:nvSpPr>
        <p:spPr>
          <a:xfrm>
            <a:off x="4297680" y="2286000"/>
            <a:ext cx="1737360" cy="54864"/>
          </a:xfrm>
          <a:prstGeom prst="rect">
            <a:avLst/>
          </a:prstGeom>
          <a:solidFill>
            <a:srgbClr val="F28C28"/>
          </a:solidFill>
          <a:ln>
            <a:noFill/>
          </a:ln>
        </p:spPr>
      </p:sp>
      <p:sp>
        <p:nvSpPr>
          <p:cNvPr id="20" name="Can text 2"/>
          <p:cNvSpPr/>
          <p:nvPr/>
        </p:nvSpPr>
        <p:spPr>
          <a:xfrm>
            <a:off x="4297680" y="2340864"/>
            <a:ext cx="1737360" cy="950976"/>
          </a:xfrm>
          <a:prstGeom prst="rect">
            <a:avLst/>
          </a:prstGeom>
          <a:noFill/>
          <a:ln>
            <a:noFill/>
          </a:ln>
        </p:spPr>
        <p:txBody>
          <a:bodyPr wrap="square" lIns="45720" tIns="0" rIns="45720" bIns="0" anchor="ctr" rtlCol="0">
            <a:noAutofit/>
          </a:bodyPr>
          <a:lstStyle/>
          <a:p>
            <a:pPr algn="ctr"/>
            <a:r>
              <a:rPr lang="ja-JP" altLang="en-US" sz="2000" b="1" dirty="0">
                <a:solidFill>
                  <a:srgbClr val="FFFFFF"/>
                </a:solidFill>
                <a:latin typeface="BIZ UDPGothic"/>
                <a:ea typeface="BIZ UDPGothic"/>
                <a:cs typeface="BIZ UDPGothic"/>
              </a:rPr>
              <a:t>定期チェック</a:t>
            </a:r>
            <a:endParaRPr lang="ja-JP" sz="2000"/>
          </a:p>
        </p:txBody>
      </p:sp>
      <p:sp>
        <p:nvSpPr>
          <p:cNvPr id="21" name="Feat head"/>
          <p:cNvSpPr/>
          <p:nvPr/>
        </p:nvSpPr>
        <p:spPr>
          <a:xfrm>
            <a:off x="548640" y="3520440"/>
            <a:ext cx="5486400" cy="329184"/>
          </a:xfrm>
          <a:prstGeom prst="rect">
            <a:avLst/>
          </a:prstGeom>
          <a:noFill/>
          <a:ln>
            <a:noFill/>
          </a:ln>
        </p:spPr>
        <p:txBody>
          <a:bodyPr wrap="square" lIns="0" tIns="0" rIns="0" bIns="0" anchor="ctr" rtlCol="0">
            <a:noAutofit/>
          </a:bodyPr>
          <a:lstStyle/>
          <a:p>
            <a:pPr algn="l"/>
            <a:r>
              <a:rPr lang="ja-JP" altLang="en-US" sz="1400" b="1" dirty="0">
                <a:solidFill>
                  <a:srgbClr val="1F3A5F"/>
                </a:solidFill>
                <a:latin typeface="BIZ UDPGothic"/>
                <a:ea typeface="BIZ UDPGothic"/>
                <a:cs typeface="BIZ UDPGothic"/>
              </a:rPr>
              <a:t>ここがポイント</a:t>
            </a:r>
            <a:endParaRPr lang="ja-JP" sz="1400"/>
          </a:p>
        </p:txBody>
      </p:sp>
      <p:sp>
        <p:nvSpPr>
          <p:cNvPr id="22" name="Feat box 0"/>
          <p:cNvSpPr/>
          <p:nvPr/>
        </p:nvSpPr>
        <p:spPr>
          <a:xfrm>
            <a:off x="548640" y="3931920"/>
            <a:ext cx="5486400" cy="640080"/>
          </a:xfrm>
          <a:prstGeom prst="rect">
            <a:avLst/>
          </a:prstGeom>
          <a:solidFill>
            <a:srgbClr val="F3F5F8"/>
          </a:solidFill>
          <a:ln>
            <a:noFill/>
          </a:ln>
        </p:spPr>
      </p:sp>
      <p:sp>
        <p:nvSpPr>
          <p:cNvPr id="23" name="Feat bar 0"/>
          <p:cNvSpPr/>
          <p:nvPr/>
        </p:nvSpPr>
        <p:spPr>
          <a:xfrm>
            <a:off x="548640" y="3931920"/>
            <a:ext cx="54864" cy="640080"/>
          </a:xfrm>
          <a:prstGeom prst="rect">
            <a:avLst/>
          </a:prstGeom>
          <a:solidFill>
            <a:srgbClr val="F28C28"/>
          </a:solidFill>
          <a:ln>
            <a:noFill/>
          </a:ln>
        </p:spPr>
      </p:sp>
      <p:sp>
        <p:nvSpPr>
          <p:cNvPr id="24" name="Feat text 0"/>
          <p:cNvSpPr/>
          <p:nvPr/>
        </p:nvSpPr>
        <p:spPr>
          <a:xfrm>
            <a:off x="777240" y="3931920"/>
            <a:ext cx="5166360" cy="640080"/>
          </a:xfrm>
          <a:prstGeom prst="rect">
            <a:avLst/>
          </a:prstGeom>
          <a:noFill/>
          <a:ln>
            <a:noFill/>
          </a:ln>
        </p:spPr>
        <p:txBody>
          <a:bodyPr wrap="square" lIns="0" tIns="0" rIns="0" bIns="0" anchor="ctr" rtlCol="0">
            <a:noAutofit/>
          </a:bodyPr>
          <a:lstStyle/>
          <a:p>
            <a:pPr algn="l"/>
            <a:r>
              <a:rPr lang="ja-JP" altLang="en-US" sz="1500" b="1" dirty="0">
                <a:solidFill>
                  <a:srgbClr val="222222"/>
                </a:solidFill>
                <a:latin typeface="BIZ UDPGothic"/>
                <a:ea typeface="BIZ UDPGothic"/>
                <a:cs typeface="BIZ UDPGothic"/>
              </a:rPr>
              <a:t>チャットで頼むだけで、作業を進めてくれる</a:t>
            </a:r>
            <a:endParaRPr lang="ja-JP" sz="1500"/>
          </a:p>
        </p:txBody>
      </p:sp>
      <p:sp>
        <p:nvSpPr>
          <p:cNvPr id="25" name="Feat box 1"/>
          <p:cNvSpPr/>
          <p:nvPr/>
        </p:nvSpPr>
        <p:spPr>
          <a:xfrm>
            <a:off x="548640" y="4681728"/>
            <a:ext cx="5486400" cy="640080"/>
          </a:xfrm>
          <a:prstGeom prst="rect">
            <a:avLst/>
          </a:prstGeom>
          <a:solidFill>
            <a:srgbClr val="F3F5F8"/>
          </a:solidFill>
          <a:ln>
            <a:noFill/>
          </a:ln>
        </p:spPr>
      </p:sp>
      <p:sp>
        <p:nvSpPr>
          <p:cNvPr id="26" name="Feat bar 1"/>
          <p:cNvSpPr/>
          <p:nvPr/>
        </p:nvSpPr>
        <p:spPr>
          <a:xfrm>
            <a:off x="548640" y="4681728"/>
            <a:ext cx="54864" cy="640080"/>
          </a:xfrm>
          <a:prstGeom prst="rect">
            <a:avLst/>
          </a:prstGeom>
          <a:solidFill>
            <a:srgbClr val="F28C28"/>
          </a:solidFill>
          <a:ln>
            <a:noFill/>
          </a:ln>
        </p:spPr>
      </p:sp>
      <p:sp>
        <p:nvSpPr>
          <p:cNvPr id="27" name="Feat text 1"/>
          <p:cNvSpPr/>
          <p:nvPr/>
        </p:nvSpPr>
        <p:spPr>
          <a:xfrm>
            <a:off x="777240" y="4681728"/>
            <a:ext cx="5166360" cy="640080"/>
          </a:xfrm>
          <a:prstGeom prst="rect">
            <a:avLst/>
          </a:prstGeom>
          <a:noFill/>
          <a:ln>
            <a:noFill/>
          </a:ln>
        </p:spPr>
        <p:txBody>
          <a:bodyPr wrap="square" lIns="0" tIns="0" rIns="0" bIns="0" anchor="ctr" rtlCol="0">
            <a:noAutofit/>
          </a:bodyPr>
          <a:lstStyle/>
          <a:p>
            <a:pPr algn="l"/>
            <a:r>
              <a:rPr lang="ja-JP" altLang="en-US" sz="1500" b="1" dirty="0">
                <a:solidFill>
                  <a:srgbClr val="222222"/>
                </a:solidFill>
                <a:latin typeface="BIZ UDPGothic"/>
                <a:ea typeface="BIZ UDPGothic"/>
                <a:cs typeface="BIZ UDPGothic"/>
              </a:rPr>
              <a:t>自分専用のコンピューターとブラウザを持っている</a:t>
            </a:r>
            <a:endParaRPr lang="ja-JP" sz="1500"/>
          </a:p>
        </p:txBody>
      </p:sp>
      <p:sp>
        <p:nvSpPr>
          <p:cNvPr id="28" name="Feat box 2"/>
          <p:cNvSpPr/>
          <p:nvPr/>
        </p:nvSpPr>
        <p:spPr>
          <a:xfrm>
            <a:off x="548640" y="5431536"/>
            <a:ext cx="5486400" cy="640080"/>
          </a:xfrm>
          <a:prstGeom prst="rect">
            <a:avLst/>
          </a:prstGeom>
          <a:solidFill>
            <a:srgbClr val="F3F5F8"/>
          </a:solidFill>
          <a:ln>
            <a:noFill/>
          </a:ln>
        </p:spPr>
      </p:sp>
      <p:sp>
        <p:nvSpPr>
          <p:cNvPr id="29" name="Feat bar 2"/>
          <p:cNvSpPr/>
          <p:nvPr/>
        </p:nvSpPr>
        <p:spPr>
          <a:xfrm>
            <a:off x="548640" y="5431536"/>
            <a:ext cx="54864" cy="640080"/>
          </a:xfrm>
          <a:prstGeom prst="rect">
            <a:avLst/>
          </a:prstGeom>
          <a:solidFill>
            <a:srgbClr val="F28C28"/>
          </a:solidFill>
          <a:ln>
            <a:noFill/>
          </a:ln>
        </p:spPr>
      </p:sp>
      <p:sp>
        <p:nvSpPr>
          <p:cNvPr id="30" name="Feat text 2"/>
          <p:cNvSpPr/>
          <p:nvPr/>
        </p:nvSpPr>
        <p:spPr>
          <a:xfrm>
            <a:off x="777240" y="5431536"/>
            <a:ext cx="5166360" cy="640080"/>
          </a:xfrm>
          <a:prstGeom prst="rect">
            <a:avLst/>
          </a:prstGeom>
          <a:noFill/>
          <a:ln>
            <a:noFill/>
          </a:ln>
        </p:spPr>
        <p:txBody>
          <a:bodyPr wrap="square" lIns="0" tIns="0" rIns="0" bIns="0" anchor="ctr" rtlCol="0">
            <a:noAutofit/>
          </a:bodyPr>
          <a:lstStyle/>
          <a:p>
            <a:pPr algn="l"/>
            <a:r>
              <a:rPr lang="ja-JP" altLang="en-US" sz="1500" b="1" dirty="0">
                <a:solidFill>
                  <a:srgbClr val="222222"/>
                </a:solidFill>
                <a:latin typeface="BIZ UDPGothic"/>
                <a:ea typeface="BIZ UDPGothic"/>
                <a:cs typeface="BIZ UDPGothic"/>
              </a:rPr>
              <a:t>GmailやGitHubなどともつながる</a:t>
            </a:r>
            <a:endParaRPr lang="ja-JP" sz="1500"/>
          </a:p>
        </p:txBody>
      </p:sp>
      <p:pic>
        <p:nvPicPr>
          <p:cNvPr id="31" name="Photo illust_grokbot.jpg" descr="Grok Botのイラスト"/>
          <p:cNvPicPr>
            <a:picLocks noChangeAspect="1"/>
          </p:cNvPicPr>
          <p:nvPr/>
        </p:nvPicPr>
        <p:blipFill>
          <a:blip r:embed="rIdG3Bot"/>
          <a:srcRect l="0" t="0" r="0" b="0"/>
          <a:stretch>
            <a:fillRect/>
          </a:stretch>
        </p:blipFill>
        <p:spPr>
          <a:xfrm>
            <a:off x="6309360" y="1874520"/>
            <a:ext cx="5333695" cy="3000204"/>
          </a:xfrm>
          <a:prstGeom prst="rect">
            <a:avLst/>
          </a:prstGeom>
          <a:ln w="9525">
            <a:solidFill>
              <a:srgbClr val="D0D7E2"/>
            </a:solidFill>
          </a:ln>
        </p:spPr>
      </p:pic>
      <p:sp>
        <p:nvSpPr>
          <p:cNvPr id="32" name="KPI box"/>
          <p:cNvSpPr/>
          <p:nvPr/>
        </p:nvSpPr>
        <p:spPr>
          <a:xfrm>
            <a:off x="6309360" y="5057604"/>
            <a:ext cx="5333695" cy="1123740"/>
          </a:xfrm>
          <a:prstGeom prst="rect">
            <a:avLst/>
          </a:prstGeom>
          <a:solidFill>
            <a:srgbClr val="F3F5F8"/>
          </a:solidFill>
          <a:ln>
            <a:noFill/>
          </a:ln>
        </p:spPr>
      </p:sp>
      <p:sp>
        <p:nvSpPr>
          <p:cNvPr id="33" name="KPI bar"/>
          <p:cNvSpPr/>
          <p:nvPr/>
        </p:nvSpPr>
        <p:spPr>
          <a:xfrm>
            <a:off x="6309360" y="5057604"/>
            <a:ext cx="73152" cy="1123740"/>
          </a:xfrm>
          <a:prstGeom prst="rect">
            <a:avLst/>
          </a:prstGeom>
          <a:solidFill>
            <a:srgbClr val="F28C28"/>
          </a:solidFill>
          <a:ln>
            <a:noFill/>
          </a:ln>
        </p:spPr>
      </p:sp>
      <p:sp>
        <p:nvSpPr>
          <p:cNvPr id="34" name="KPI num"/>
          <p:cNvSpPr/>
          <p:nvPr/>
        </p:nvSpPr>
        <p:spPr>
          <a:xfrm>
            <a:off x="6583680" y="5057604"/>
            <a:ext cx="2926080" cy="1123740"/>
          </a:xfrm>
          <a:prstGeom prst="rect">
            <a:avLst/>
          </a:prstGeom>
          <a:noFill/>
          <a:ln>
            <a:noFill/>
          </a:ln>
        </p:spPr>
        <p:txBody>
          <a:bodyPr wrap="square" lIns="0" tIns="0" rIns="0" bIns="0" anchor="ctr" rtlCol="0">
            <a:noAutofit/>
          </a:bodyPr>
          <a:lstStyle/>
          <a:p>
            <a:pPr algn="l"/>
            <a:r>
              <a:rPr lang="ja-JP" altLang="en-US" sz="3000" b="1" dirty="0">
                <a:solidFill>
                  <a:srgbClr val="F28C28"/>
                </a:solidFill>
                <a:latin typeface="BIZ UDPGothic"/>
                <a:ea typeface="BIZ UDPGothic"/>
                <a:cs typeface="BIZ UDPGothic"/>
              </a:rPr>
              <a:t>2026年9月</a:t>
            </a:r>
            <a:endParaRPr lang="ja-JP" sz="3000"/>
          </a:p>
        </p:txBody>
      </p:sp>
      <p:sp>
        <p:nvSpPr>
          <p:cNvPr id="35" name="KPI label"/>
          <p:cNvSpPr/>
          <p:nvPr/>
        </p:nvSpPr>
        <p:spPr>
          <a:xfrm>
            <a:off x="9509760" y="5057604"/>
            <a:ext cx="2041855" cy="1123740"/>
          </a:xfrm>
          <a:prstGeom prst="rect">
            <a:avLst/>
          </a:prstGeom>
          <a:noFill/>
          <a:ln>
            <a:noFill/>
          </a:ln>
        </p:spPr>
        <p:txBody>
          <a:bodyPr wrap="square" lIns="0" tIns="0" rIns="0" bIns="0" anchor="ctr" rtlCol="0">
            <a:noAutofit/>
          </a:bodyPr>
          <a:lstStyle/>
          <a:p>
            <a:pPr algn="l"/>
            <a:r>
              <a:rPr lang="ja-JP" altLang="en-US" sz="1600" b="1" dirty="0">
                <a:solidFill>
                  <a:srgbClr val="1F3A5F"/>
                </a:solidFill>
                <a:latin typeface="BIZ UDPGothic"/>
                <a:ea typeface="BIZ UDPGothic"/>
                <a:cs typeface="BIZ UDPGothic"/>
              </a:rPr>
              <a:t>から使い始めました</a:t>
            </a:r>
            <a:endParaRPr lang="ja-JP" sz="1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A5F"/>
      </a:dk2>
      <a:lt2>
        <a:srgbClr val="E7E6E6"/>
      </a:lt2>
      <a:accent1>
        <a:srgbClr val="1F3A5F"/>
      </a:accent1>
      <a:accent2>
        <a:srgbClr val="F28C28"/>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Gothic"/>
        <a:ea typeface="BIZ UDPGothic"/>
        <a:cs typeface=""/>
        <a:font script="Jpan" typeface="BIZ UDPGothic"/>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BIZ UDPGothic"/>
        <a:cs typeface=""/>
        <a:font script="Jpan" typeface="BIZ UDP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最近のあれこれ</dc:title>
  <dc:subject>最近のあれこれ</dc:subject>
  <dc:creator>石橋 真</dc:creator>
  <cp:lastModifiedBy>石橋 真</cp:lastModifiedBy>
  <cp:revision>1</cp:revision>
  <dcterms:created xsi:type="dcterms:W3CDTF">2026-10-12T19:55:00Z</dcterms:created>
  <dcterms:modified xsi:type="dcterms:W3CDTF">2026-10-12T19:55:00Z</dcterms:modified>
</cp:coreProperties>
</file>