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4" r:id="rId10"/>
    <p:sldId id="257" r:id="rId3"/>
    <p:sldId id="270" r:id="rId16"/>
    <p:sldId id="265" r:id="rId11"/>
    <p:sldId id="258" r:id="rId4"/>
    <p:sldId id="280" r:id="rId31"/>
    <p:sldId id="277" r:id="rId28"/>
    <p:sldId id="262" r:id="rId8"/>
    <p:sldId id="276" r:id="rId27"/>
    <p:sldId id="267" r:id="rId13"/>
    <p:sldId id="278" r:id="rId29"/>
    <p:sldId id="275" r:id="rId21"/>
    <p:sldId id="279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6" Type="http://schemas.openxmlformats.org/officeDocument/2006/relationships/slide" Target="slides/slide15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皆さん、お疲れさまです。石橋です。今日は少しだけお時間をいただいて、最近のあれこれをゆるっとお話ししようと思います。堅い話ではないので、気楽に聞いていただければうれしいです。</a:t>
            </a:r>
          </a:p>
          <a:p>
            <a:r>
              <a:rPr lang="ja-JP"/>
              <a:t>テーマは二つあります。一つは私の出身地である福井県の敦賀の話、もう一つは最近使っているGrok BotというAIの話です。</a:t>
            </a:r>
          </a:p>
          <a:p>
            <a:r>
              <a:rPr lang="ja-JP"/>
              <a:t>表紙の右側に数字が並んだ図がありますが、これは九星の方位盤です。一から九までの数字が、三つずつ縦横に並んでいます。ちょっと変わった趣味なんですが、実はこれが、あとで出てくる個人開発のネタにも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まずはざっくりプロフィールです。といっても、皆さんご存じのことが多いと思うので、さらっといきます。</a:t>
            </a:r>
          </a:p>
          <a:p>
            <a:r>
              <a:rPr lang="ja-JP"/>
              <a:t>仕事では、SQLサーバーを使ったデータ業務を担当しています。出身は福井県敦賀市で、このあと少しだけ紹介します。</a:t>
            </a:r>
          </a:p>
          <a:p>
            <a:r>
              <a:rPr lang="ja-JP"/>
              <a:t>好きなことは三つあって、九星気学や方位、AIエージェント、それからガジェットやインテリアです。スライドでは、方位、AI、モノ、とまとめています。</a:t>
            </a:r>
          </a:p>
          <a:p>
            <a:r>
              <a:rPr lang="ja-JP"/>
              <a:t>個人開発では、Cloud Paletteという、九星気学や方位、暦をテーマにしたサイトを作っています。Web開発は独学で始めて、AIに聞きながら学んで、最近はMCPまで触るようになりました。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敦賀について、もう少しだけ豆知識を紹介します。港の歴史、鉄道、名産という三つの顔があります。</a:t>
            </a:r>
          </a:p>
          <a:p>
            <a:r>
              <a:rPr lang="ja-JP"/>
              <a:t>一つ目は、人道の港です。1920年から21年にかけて、ポーランドの孤児たちが敦賀に上陸しました。また1940年には、杉原千畝の命のビザを持ったユダヤ難民が、敦賀港に上陸しています。写真は敦賀赤レンガ倉庫です。</a:t>
            </a:r>
          </a:p>
          <a:p>
            <a:r>
              <a:rPr lang="ja-JP"/>
              <a:t>二つ目は鉄道です。敦賀は1912年から、欧亜国際連絡列車の日本側の玄関口でした。そして今は、先ほどお話しした北陸新幹線の終着駅になっています。</a:t>
            </a:r>
          </a:p>
          <a:p>
            <a:r>
              <a:rPr lang="ja-JP"/>
              <a:t>三つ目は名産です。おぼろ昆布やとろろ昆布などの昆布加工では、全国の80%以上を敦賀で生産しています。おぼろ昆布の製造技術は、2025年3月28日に国の登録無形民俗文化財になりました。ほかにも、へしこや、屋台の敦賀ラーメンが名物です。</a:t>
            </a:r>
          </a:p>
          <a:p>
            <a:r>
              <a:rPr lang="ja-JP"/>
              <a:t/>
            </a:r>
          </a:p>
          <a:p>
            <a:r>
              <a:rPr lang="ja-JP"/>
              <a:t>参考（読まない）：出典 https://ja.wikipedia.org/wiki/敦賀市 ／ 写真 https://commons.wikimedia.org/wiki/File:Tsuruga_Red_Brick_Warehouce_ac_(1).jpg（Asturio Cantabrio, CC BY-SA 4.0）／ https://commons.wikimedia.org/wiki/File:Tsuruga_Station_Hokuriku_Shinkansen_Platform_01.jpg（Suikotei, CC BY 4.0）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次は、開発スタイルの話です。キーワードは、学ぶから任せるへ、です。</a:t>
            </a:r>
          </a:p>
          <a:p>
            <a:r>
              <a:rPr lang="ja-JP"/>
              <a:t>これまでは、自分でコードを書いて、わからないところをAIに聞く、というやり方でした。それが2026年8月ごろから、実装そのものをAIエージェントに任せるようになりました。今はGrok Bot、Claude Code、Codexが実装担当で、コードを書いたり動かしたりしてくれます。</a:t>
            </a:r>
          </a:p>
          <a:p>
            <a:r>
              <a:rPr lang="ja-JP"/>
              <a:t>私の役割は、レビューと方向決めです。何を作るか、結果がOKかどうかを判断します。</a:t>
            </a:r>
          </a:p>
          <a:p>
            <a:r>
              <a:rPr lang="ja-JP"/>
              <a:t>指示の出し方もとても短くて、進めて、とか、はい、くらいです。AIが番号つきの選択肢を出してくれるので、その中から選ぶだけで作業が進んでいきます。細かい実装はAIに任せて、自分は結果を見て判断する、という分担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今日の流れです。大きく二つのテーマでお話しします。</a:t>
            </a:r>
          </a:p>
          <a:p>
            <a:r>
              <a:rPr lang="ja-JP"/>
              <a:t>一つ目は出身地の敦賀です。気比の松原、原発、それから港や鉄道、名産の話を少しずつ紹介します。</a:t>
            </a:r>
          </a:p>
          <a:p>
            <a:r>
              <a:rPr lang="ja-JP"/>
              <a:t>二つ目は、Grok Botと、AIに任せる開発の話です。Grok Botがどんなものか、私がどう使っているか、最近の開発スタイル、それから個人で作っているCloud Paletteというサイトと、second brainという仕組みについてお話しします。</a:t>
            </a:r>
          </a:p>
          <a:p>
            <a:r>
              <a:rPr lang="ja-JP"/>
              <a:t>その前に、最初にざっくりしたプロフィールを、最後にはこれからやりたいことも少しだけ話します。全体で15分くらいの予定です。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続いて、敦賀と原発についてです。ここは事実だけを簡単に紹介します。</a:t>
            </a:r>
          </a:p>
          <a:p>
            <a:r>
              <a:rPr lang="ja-JP"/>
              <a:t>1970年3月に、日本原子力発電の敦賀発電所1号機が運転を始めました。沸騰水型軽水炉という種類の原子炉で、大阪万博の会場へ送電したそうです。</a:t>
            </a:r>
          </a:p>
          <a:p>
            <a:r>
              <a:rPr lang="ja-JP"/>
              <a:t>また、市内には高速増殖炉のもんじゅがあって、1994年に初臨界を迎えています。ほかにも、旧ふげんなどの施設があります。</a:t>
            </a:r>
          </a:p>
          <a:p>
            <a:r>
              <a:rPr lang="ja-JP"/>
              <a:t>写真は、立石岬と敦賀発電所の様子です。敦賀と原子力のあゆみとしては、こういった経緯がある、というところまでの紹介にして、次に進みます。</a:t>
            </a:r>
          </a:p>
          <a:p>
            <a:r>
              <a:rPr lang="ja-JP"/>
              <a:t/>
            </a:r>
          </a:p>
          <a:p>
            <a:r>
              <a:rPr lang="ja-JP"/>
              <a:t>参考（読まない）：出典 https://ja.wikipedia.org/wiki/敦賀市 ／ 写真 https://commons.wikimedia.org/wiki/File:Tateishi_cape_and_Tsuruga_Nuclear_Power_Plant.jpg（Alpsdake, CC BY-SA 4.0）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もう一つ、最近作ったのがsecond brain、第二の脳です。</a:t>
            </a:r>
          </a:p>
          <a:p>
            <a:r>
              <a:rPr lang="ja-JP"/>
              <a:t>Grok Bot、Claude、Gemini、AI Studio、ChatGPTなどで、AIとの会話が約800件たまっていました。それをObsidianに集約して、ひとつの場所にまとめました。</a:t>
            </a:r>
          </a:p>
          <a:p>
            <a:r>
              <a:rPr lang="ja-JP"/>
              <a:t>流れとしては、まず会話を集めて、トピックごとに自動で分類します。次に、それぞれの会話をAIが要約します。最後に、検索用のMCPを用意して、AIからも過去の会話を探せるようにしました。</a:t>
            </a:r>
          </a:p>
          <a:p>
            <a:r>
              <a:rPr lang="ja-JP"/>
              <a:t>前にどんなやり取りをしたかを、AIに聞けば探してもらえるので、なかなか便利です。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ここから一つ目のテーマ、出身地の敦賀です。</a:t>
            </a:r>
          </a:p>
          <a:p>
            <a:r>
              <a:rPr lang="ja-JP"/>
              <a:t>敦賀市は福井県の嶺南地方にあって、日本海の敦賀湾に面した港町です。嶺南地方では人口が一番多い市で、2026年9月1日の推計人口は59,913人です。だいたい6万人のまち、というイメージです。</a:t>
            </a:r>
          </a:p>
          <a:p>
            <a:r>
              <a:rPr lang="ja-JP"/>
              <a:t>写真は気比の松原です。敦賀湾に臨む松原で、日本三大松原の一つに数えられていて、国の名勝にもなっています。写真のとおり、海のすぐそばに松林が続いている景色です。</a:t>
            </a:r>
          </a:p>
          <a:p>
            <a:r>
              <a:rPr lang="ja-JP"/>
              <a:t>それから、2024年3月16日には、北陸新幹線の金沢から敦賀までの区間が延伸開業して、敦賀駅が終着駅になりました。</a:t>
            </a:r>
          </a:p>
          <a:p>
            <a:r>
              <a:rPr lang="ja-JP"/>
              <a:t/>
            </a:r>
          </a:p>
          <a:p>
            <a:r>
              <a:rPr lang="ja-JP"/>
              <a:t>参考（読まない）：出典 https://ja.wikipedia.org/wiki/敦賀市 ／ 写真 敦賀うまいもん http://tsuruga-umaimon.com/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というわけで、出身地の敦賀の話と、Grok Botの話でした。</a:t>
            </a:r>
          </a:p>
          <a:p>
            <a:r>
              <a:rPr lang="ja-JP"/>
              <a:t>振り返ると、敦賀は港と鉄道と昆布のまち、Grok Botは頼むと代わりに動いてくれる相棒、という感じです。</a:t>
            </a:r>
          </a:p>
          <a:p>
            <a:r>
              <a:rPr lang="ja-JP"/>
              <a:t>少しでも面白いと思っていただけたら、うれしいです。前半は敦賀の歴史や名産、後半はGrok Botの使い方と、AIに任せる開発、Cloud Palette、second brainの話をしました。今日のこのスライドもGrok Botと一緒に作ったものなので、資料づくりの一つの例としても見ていただけたらと思います。</a:t>
            </a:r>
          </a:p>
          <a:p>
            <a:r>
              <a:rPr lang="ja-JP"/>
              <a:t>聞いてくださって、ありがとうございました。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その開発スタイルで作っているのが、Cloud Paletteというサイトです。キャッチコピーは、引越しの方位とタイミングを決める、です。九星気学や方位、暦をWebで扱える、個人開発のサイトです。</a:t>
            </a:r>
          </a:p>
          <a:p>
            <a:r>
              <a:rPr lang="ja-JP"/>
              <a:t>主な機能は四つあります。方位で街を探す機能、引越し先を試算する機能、本命星と吉方位を調べる機能、それから風水の八宅です。</a:t>
            </a:r>
          </a:p>
          <a:p>
            <a:r>
              <a:rPr lang="ja-JP"/>
              <a:t>最近は、AIから使えるMCPサーバーと、ニュースのページを追加しました。</a:t>
            </a:r>
          </a:p>
          <a:p>
            <a:r>
              <a:rPr lang="ja-JP"/>
              <a:t>技術的には、Next.js、React、TypeScript、Supabase、Vercel、Google Cloudを使っています。URLはスライドに載せているので、よかったらのぞいてみてください。</a:t>
            </a:r>
          </a:p>
          <a:p>
            <a:r>
              <a:rPr lang="ja-JP"/>
              <a:t/>
            </a:r>
          </a:p>
          <a:p>
            <a:r>
              <a:rPr lang="ja-JP"/>
              <a:t>参考（読まない）：画面 自分のサイト https://cloud-palette.com/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では、実際にどう使っているかです。私は、用途ごとにボットを分けて使っています。</a:t>
            </a:r>
          </a:p>
          <a:p>
            <a:r>
              <a:rPr lang="ja-JP"/>
              <a:t>スライドに並んでいるのが、今使っているボットです。SEOのボット、X投稿のボット、YouTubeのボット、検索のボット、物件情報のボット、Second Brainのボット、そしてスライド作成のボットです。</a:t>
            </a:r>
          </a:p>
          <a:p>
            <a:r>
              <a:rPr lang="ja-JP"/>
              <a:t>役割ごとに分けておくと、どれに何を頼めばいいかがはっきりするので、使いやすいです。</a:t>
            </a:r>
          </a:p>
          <a:p>
            <a:r>
              <a:rPr lang="ja-JP"/>
              <a:t>そして実は、今日のこのスライドも、Grok Botに作ってもらいました。構成を考えるところから、写真集め、イラスト、デザインまでお願いしています。右下にある紺色のタイルが、そのスライド作成のボットです。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最後に、これからやりたいことです。四つあります。スライドの左側には、その四つを順番に並べています。</a:t>
            </a:r>
          </a:p>
          <a:p>
            <a:r>
              <a:rPr lang="ja-JP"/>
              <a:t>一つ目は、方位判定の完全自動化です。座標から方位を出して、吉凶まで、手作業なしで判定を回せるようにしたいと思っています。</a:t>
            </a:r>
          </a:p>
          <a:p>
            <a:r>
              <a:rPr lang="ja-JP"/>
              <a:t>二つ目は、低予算でのサイト運営です。月1,000円程度で運営を続けられる形を目指しています。</a:t>
            </a:r>
          </a:p>
          <a:p>
            <a:r>
              <a:rPr lang="ja-JP"/>
              <a:t>三つ目は、Cloud Paletteを育てることです。SEOを強化して、ニュースページも充実させていきたいです。</a:t>
            </a:r>
          </a:p>
          <a:p>
            <a:r>
              <a:rPr lang="ja-JP"/>
              <a:t>四つ目は、Xでの発信です。これからもコツコツ続けていきます。</a:t>
            </a:r>
          </a:p>
          <a:p>
            <a:r>
              <a:rPr lang="ja-JP"/>
              <a:t>どれも一気には進まないので、ひとつずつ、少しずつやっていくつもりです。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最後のスライドは、資料で使わせてもらった写真と画面の出典です。</a:t>
            </a:r>
          </a:p>
          <a:p>
            <a:r>
              <a:rPr lang="ja-JP"/>
              <a:t>Wikimedia Commonsの写真は、それぞれのライセンスの条件に従って使っています。気比の松原の写真は、敦賀うまいもんさんのものです。Cloud Paletteの画面は私のサイトのもので、イラストはAIで生成しました。</a:t>
            </a:r>
          </a:p>
          <a:p>
            <a:r>
              <a:rPr lang="ja-JP"/>
              <a:t>以上です。ありがとうございました。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ここから二つ目のテーマ、Grok Botの話です。</a:t>
            </a:r>
          </a:p>
          <a:p>
            <a:r>
              <a:rPr lang="ja-JP"/>
              <a:t>Grok Botは、チャットで頼むと、調べ物や資料づくり、定期チェックなどを代わりにやってくれるAIアシスタントです。</a:t>
            </a:r>
          </a:p>
          <a:p>
            <a:r>
              <a:rPr lang="ja-JP"/>
              <a:t>ポイントは三つあります。まず、チャットで頼むだけで作業を進めてくれること。次に、自分専用のコンピューターとブラウザを持っていること。そして、GmailやGitHubなどのサービスともつながることです。スライドの上に並べた調べ物、資料づくり、定期チェックは、頼めることのあくまで一例です。</a:t>
            </a:r>
          </a:p>
          <a:p>
            <a:r>
              <a:rPr lang="ja-JP"/>
              <a:t>私は2026年9月から使い始めました。使い始めてまだ間もないのですが、今ではすっかり毎日の相棒になっています。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G1Img" Type="http://schemas.openxmlformats.org/officeDocument/2006/relationships/image" Target="../media/g1_illust_database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G2P2" Type="http://schemas.openxmlformats.org/officeDocument/2006/relationships/image" Target="../media/g2_tsuruga_red_brick_warehouse.jpeg"/><Relationship Id="rIdG2P3" Type="http://schemas.openxmlformats.org/officeDocument/2006/relationships/image" Target="../media/g2_tsuruga_station_shinkansen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G4Img1" Type="http://schemas.openxmlformats.org/officeDocument/2006/relationships/image" Target="../media/g4_illust_ai_dev.jpe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Ag0" Type="http://schemas.openxmlformats.org/officeDocument/2006/relationships/image" Target="../media/g1_kehi_matsubara_user.jpeg"/><Relationship Id="rIdAg1" Type="http://schemas.openxmlformats.org/officeDocument/2006/relationships/image" Target="../media/g1_illust_grokbot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G2NP" Type="http://schemas.openxmlformats.org/officeDocument/2006/relationships/image" Target="../media/g2_tsuruga_nuclear_power_plant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G4Img2" Type="http://schemas.openxmlformats.org/officeDocument/2006/relationships/image" Target="../media/g4_illust_second_brain.jpe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G2Hero2" Type="http://schemas.openxmlformats.org/officeDocument/2006/relationships/image" Target="../media/g2_kehi_matsubara_user.jpe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CPLink" Type="http://schemas.openxmlformats.org/officeDocument/2006/relationships/hyperlink" Target="https://cloud-palette.com/" TargetMode="External"/><Relationship Id="rIdCPTop" Type="http://schemas.openxmlformats.org/officeDocument/2006/relationships/image" Target="../media/g4_cp_top.png"/><Relationship Id="rIdCPF1" Type="http://schemas.openxmlformats.org/officeDocument/2006/relationships/image" Target="../media/g4_cp_feature1.png"/><Relationship Id="rIdCPF2" Type="http://schemas.openxmlformats.org/officeDocument/2006/relationships/image" Target="../media/g4_cp_feature2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G3Slides" Type="http://schemas.openxmlformats.org/officeDocument/2006/relationships/image" Target="../media/g3_illust_bot_slides.jpe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G4Img3" Type="http://schemas.openxmlformats.org/officeDocument/2006/relationships/image" Target="../media/g4_illust_roadmap.jpe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G3Bot" Type="http://schemas.openxmlformats.org/officeDocument/2006/relationships/image" Target="../media/g3_illust_grokbot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vy panel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Orange edge"/>
          <p:cNvSpPr/>
          <p:nvPr/>
        </p:nvSpPr>
        <p:spPr>
          <a:xfrm>
            <a:off x="7790688" y="0"/>
            <a:ext cx="73152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5" name="Top line"/>
          <p:cNvSpPr/>
          <p:nvPr/>
        </p:nvSpPr>
        <p:spPr>
          <a:xfrm>
            <a:off x="0" y="0"/>
            <a:ext cx="7790688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6" name="Kicker bar"/>
          <p:cNvSpPr/>
          <p:nvPr/>
        </p:nvSpPr>
        <p:spPr>
          <a:xfrm>
            <a:off x="731520" y="1600200"/>
            <a:ext cx="82296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icker"/>
          <p:cNvSpPr/>
          <p:nvPr/>
        </p:nvSpPr>
        <p:spPr>
          <a:xfrm>
            <a:off x="731520" y="10972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ちょっと雑談</a:t>
            </a:r>
            <a:endParaRPr lang="ja-JP" sz="1400"/>
          </a:p>
        </p:txBody>
      </p:sp>
      <p:sp>
        <p:nvSpPr>
          <p:cNvPr id="8" name="Cover title"/>
          <p:cNvSpPr/>
          <p:nvPr/>
        </p:nvSpPr>
        <p:spPr>
          <a:xfrm>
            <a:off x="731520" y="1920240"/>
            <a:ext cx="6766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5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最近のあれこれ</a:t>
            </a:r>
            <a:endParaRPr lang="ja-JP" sz="5600"/>
          </a:p>
        </p:txBody>
      </p:sp>
      <p:sp>
        <p:nvSpPr>
          <p:cNvPr id="9" name="Subtitle"/>
          <p:cNvSpPr/>
          <p:nvPr/>
        </p:nvSpPr>
        <p:spPr>
          <a:xfrm>
            <a:off x="731520" y="329184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2400" b="1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敦賀の話と、Grok Botの話</a:t>
            </a:r>
            <a:endParaRPr lang="ja-JP" sz="2400"/>
          </a:p>
        </p:txBody>
      </p:sp>
      <p:sp>
        <p:nvSpPr>
          <p:cNvPr id="10" name="Subtitle note"/>
          <p:cNvSpPr/>
          <p:nvPr/>
        </p:nvSpPr>
        <p:spPr>
          <a:xfrm>
            <a:off x="731520" y="393192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4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気楽に聞いてもらえればうれしいです</a:t>
            </a:r>
            <a:endParaRPr lang="ja-JP" sz="1400"/>
          </a:p>
        </p:txBody>
      </p:sp>
      <p:sp>
        <p:nvSpPr>
          <p:cNvPr id="11" name="Presenter rule"/>
          <p:cNvSpPr/>
          <p:nvPr/>
        </p:nvSpPr>
        <p:spPr>
          <a:xfrm>
            <a:off x="731520" y="5074920"/>
            <a:ext cx="6217920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2" name="Presenter label"/>
          <p:cNvSpPr/>
          <p:nvPr/>
        </p:nvSpPr>
        <p:spPr>
          <a:xfrm>
            <a:off x="731520" y="52120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発表者</a:t>
            </a:r>
            <a:endParaRPr lang="ja-JP" sz="1400"/>
          </a:p>
        </p:txBody>
      </p:sp>
      <p:sp>
        <p:nvSpPr>
          <p:cNvPr id="13" name="Presenter"/>
          <p:cNvSpPr/>
          <p:nvPr/>
        </p:nvSpPr>
        <p:spPr>
          <a:xfrm>
            <a:off x="1828800" y="516636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石橋 真</a:t>
            </a:r>
            <a:r>
              <a:rPr lang="ja-JP" altLang="en-US" sz="14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（いしばし まこと）</a:t>
            </a:r>
            <a:endParaRPr lang="ja-JP" sz="2800"/>
          </a:p>
        </p:txBody>
      </p:sp>
      <p:sp>
        <p:nvSpPr>
          <p:cNvPr id="14" name="Kyusei 4"/>
          <p:cNvSpPr/>
          <p:nvPr/>
        </p:nvSpPr>
        <p:spPr>
          <a:xfrm>
            <a:off x="8613648" y="1691640"/>
            <a:ext cx="868680" cy="868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4</a:t>
            </a:r>
            <a:endParaRPr lang="ja-JP" sz="2600"/>
          </a:p>
        </p:txBody>
      </p:sp>
      <p:sp>
        <p:nvSpPr>
          <p:cNvPr id="15" name="Kyusei 9"/>
          <p:cNvSpPr/>
          <p:nvPr/>
        </p:nvSpPr>
        <p:spPr>
          <a:xfrm>
            <a:off x="9619488" y="1691640"/>
            <a:ext cx="868680" cy="868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9</a:t>
            </a:r>
            <a:endParaRPr lang="ja-JP" sz="2600"/>
          </a:p>
        </p:txBody>
      </p:sp>
      <p:sp>
        <p:nvSpPr>
          <p:cNvPr id="16" name="Kyusei 2"/>
          <p:cNvSpPr/>
          <p:nvPr/>
        </p:nvSpPr>
        <p:spPr>
          <a:xfrm>
            <a:off x="10625328" y="1691640"/>
            <a:ext cx="868680" cy="868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  <a:endParaRPr lang="ja-JP" sz="2600"/>
          </a:p>
        </p:txBody>
      </p:sp>
      <p:sp>
        <p:nvSpPr>
          <p:cNvPr id="17" name="Kyusei 3"/>
          <p:cNvSpPr/>
          <p:nvPr/>
        </p:nvSpPr>
        <p:spPr>
          <a:xfrm>
            <a:off x="8613648" y="2697480"/>
            <a:ext cx="868680" cy="868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  <a:endParaRPr lang="ja-JP" sz="2600"/>
          </a:p>
        </p:txBody>
      </p:sp>
      <p:sp>
        <p:nvSpPr>
          <p:cNvPr id="18" name="Kyusei 5"/>
          <p:cNvSpPr/>
          <p:nvPr/>
        </p:nvSpPr>
        <p:spPr>
          <a:xfrm>
            <a:off x="9619488" y="2697480"/>
            <a:ext cx="868680" cy="8686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5</a:t>
            </a:r>
            <a:endParaRPr lang="ja-JP" sz="2600"/>
          </a:p>
        </p:txBody>
      </p:sp>
      <p:sp>
        <p:nvSpPr>
          <p:cNvPr id="19" name="Kyusei 7"/>
          <p:cNvSpPr/>
          <p:nvPr/>
        </p:nvSpPr>
        <p:spPr>
          <a:xfrm>
            <a:off x="10625328" y="2697480"/>
            <a:ext cx="868680" cy="868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7</a:t>
            </a:r>
            <a:endParaRPr lang="ja-JP" sz="2600"/>
          </a:p>
        </p:txBody>
      </p:sp>
      <p:sp>
        <p:nvSpPr>
          <p:cNvPr id="20" name="Kyusei 8"/>
          <p:cNvSpPr/>
          <p:nvPr/>
        </p:nvSpPr>
        <p:spPr>
          <a:xfrm>
            <a:off x="8613648" y="3703320"/>
            <a:ext cx="868680" cy="868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8</a:t>
            </a:r>
            <a:endParaRPr lang="ja-JP" sz="2600"/>
          </a:p>
        </p:txBody>
      </p:sp>
      <p:sp>
        <p:nvSpPr>
          <p:cNvPr id="21" name="Kyusei 1"/>
          <p:cNvSpPr/>
          <p:nvPr/>
        </p:nvSpPr>
        <p:spPr>
          <a:xfrm>
            <a:off x="9619488" y="3703320"/>
            <a:ext cx="868680" cy="868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  <a:endParaRPr lang="ja-JP" sz="2600"/>
          </a:p>
        </p:txBody>
      </p:sp>
      <p:sp>
        <p:nvSpPr>
          <p:cNvPr id="22" name="Kyusei 6"/>
          <p:cNvSpPr/>
          <p:nvPr/>
        </p:nvSpPr>
        <p:spPr>
          <a:xfrm>
            <a:off x="10625328" y="3703320"/>
            <a:ext cx="868680" cy="868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6</a:t>
            </a:r>
            <a:endParaRPr lang="ja-JP" sz="2600"/>
          </a:p>
        </p:txBody>
      </p:sp>
      <p:sp>
        <p:nvSpPr>
          <p:cNvPr id="23" name="Kyusei caption"/>
          <p:cNvSpPr/>
          <p:nvPr/>
        </p:nvSpPr>
        <p:spPr>
          <a:xfrm>
            <a:off x="8412480" y="48006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九星の方位盤</a:t>
            </a:r>
            <a:endParaRPr lang="ja-JP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ざっくりプロフィール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仕事はSQLサーバーのデータ業務。好きな九星気学とAIを、個人開発につなげています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3 / 14</a:t>
            </a:r>
            <a:endParaRPr lang="ja-JP" sz="1000"/>
          </a:p>
        </p:txBody>
      </p:sp>
      <p:sp>
        <p:nvSpPr>
          <p:cNvPr id="11" name="Label 名前"/>
          <p:cNvSpPr/>
          <p:nvPr/>
        </p:nvSpPr>
        <p:spPr>
          <a:xfrm>
            <a:off x="548640" y="1874520"/>
            <a:ext cx="1463040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名前</a:t>
            </a:r>
            <a:endParaRPr lang="ja-JP" sz="1400"/>
          </a:p>
        </p:txBody>
      </p:sp>
      <p:sp>
        <p:nvSpPr>
          <p:cNvPr id="12" name="Value 名前"/>
          <p:cNvSpPr/>
          <p:nvPr/>
        </p:nvSpPr>
        <p:spPr>
          <a:xfrm>
            <a:off x="2084832" y="1874520"/>
            <a:ext cx="4681728" cy="548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wrap="square" lIns="182880" tIns="45720" rIns="182880" bIns="45720" anchor="ctr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石橋 真</a:t>
            </a:r>
            <a:r>
              <a:rPr lang="ja-JP" altLang="en-US" sz="13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（いしばし まこと）</a:t>
            </a:r>
            <a:endParaRPr lang="ja-JP" sz="1800"/>
          </a:p>
        </p:txBody>
      </p:sp>
      <p:sp>
        <p:nvSpPr>
          <p:cNvPr id="13" name="Label 担当業務"/>
          <p:cNvSpPr/>
          <p:nvPr/>
        </p:nvSpPr>
        <p:spPr>
          <a:xfrm>
            <a:off x="548640" y="2496312"/>
            <a:ext cx="1463040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担当業務</a:t>
            </a:r>
            <a:endParaRPr lang="ja-JP" sz="1400"/>
          </a:p>
        </p:txBody>
      </p:sp>
      <p:sp>
        <p:nvSpPr>
          <p:cNvPr id="14" name="Value 担当業務"/>
          <p:cNvSpPr/>
          <p:nvPr/>
        </p:nvSpPr>
        <p:spPr>
          <a:xfrm>
            <a:off x="2084832" y="2496312"/>
            <a:ext cx="4681728" cy="594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wrap="square" lIns="182880" tIns="45720" rIns="182880" bIns="45720" anchor="ctr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6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SQLサーバーを使ったデータ業務</a:t>
            </a:r>
            <a:endParaRPr lang="ja-JP" sz="1600"/>
          </a:p>
        </p:txBody>
      </p:sp>
      <p:sp>
        <p:nvSpPr>
          <p:cNvPr id="15" name="Label 出身"/>
          <p:cNvSpPr/>
          <p:nvPr/>
        </p:nvSpPr>
        <p:spPr>
          <a:xfrm>
            <a:off x="548640" y="3163824"/>
            <a:ext cx="1463040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出身</a:t>
            </a:r>
            <a:endParaRPr lang="ja-JP" sz="1400"/>
          </a:p>
        </p:txBody>
      </p:sp>
      <p:sp>
        <p:nvSpPr>
          <p:cNvPr id="16" name="Value 出身"/>
          <p:cNvSpPr/>
          <p:nvPr/>
        </p:nvSpPr>
        <p:spPr>
          <a:xfrm>
            <a:off x="2084832" y="3163824"/>
            <a:ext cx="4681728" cy="548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wrap="square" lIns="182880" tIns="45720" rIns="182880" bIns="45720" anchor="ctr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6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福井県敦賀市</a:t>
            </a:r>
            <a:r>
              <a:rPr lang="ja-JP" altLang="en-US" sz="12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（このあと少しだけ紹介）</a:t>
            </a:r>
            <a:endParaRPr lang="ja-JP" sz="1600"/>
          </a:p>
        </p:txBody>
      </p:sp>
      <p:sp>
        <p:nvSpPr>
          <p:cNvPr id="17" name="Label 好きなこと"/>
          <p:cNvSpPr/>
          <p:nvPr/>
        </p:nvSpPr>
        <p:spPr>
          <a:xfrm>
            <a:off x="548640" y="3785616"/>
            <a:ext cx="1463040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好きなこと</a:t>
            </a:r>
            <a:endParaRPr lang="ja-JP" sz="1400"/>
          </a:p>
        </p:txBody>
      </p:sp>
      <p:sp>
        <p:nvSpPr>
          <p:cNvPr id="18" name="Value 好きなこと"/>
          <p:cNvSpPr/>
          <p:nvPr/>
        </p:nvSpPr>
        <p:spPr>
          <a:xfrm>
            <a:off x="2084832" y="3785616"/>
            <a:ext cx="4681728" cy="1234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wrap="square" lIns="182880" tIns="45720" rIns="182880" bIns="45720" anchor="ctr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5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・九星気学・方位</a:t>
            </a:r>
            <a:endParaRPr lang="ja-JP" sz="1500"/>
          </a:p>
          <a:p>
            <a:pPr algn="l">
              <a:lnSpc>
                <a:spcPct val="105000"/>
              </a:lnSpc>
            </a:pPr>
            <a:r>
              <a:rPr lang="ja-JP" altLang="en-US" sz="15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・AIエージェント</a:t>
            </a:r>
            <a:endParaRPr lang="ja-JP" sz="1500"/>
          </a:p>
          <a:p>
            <a:pPr algn="l">
              <a:lnSpc>
                <a:spcPct val="105000"/>
              </a:lnSpc>
            </a:pPr>
            <a:r>
              <a:rPr lang="ja-JP" altLang="en-US" sz="15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・ガジェットやインテリア</a:t>
            </a:r>
            <a:endParaRPr lang="ja-JP" sz="1500"/>
          </a:p>
        </p:txBody>
      </p:sp>
      <p:sp>
        <p:nvSpPr>
          <p:cNvPr id="19" name="Label 個人開発"/>
          <p:cNvSpPr/>
          <p:nvPr/>
        </p:nvSpPr>
        <p:spPr>
          <a:xfrm>
            <a:off x="548640" y="5093208"/>
            <a:ext cx="1463040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個人開発</a:t>
            </a:r>
            <a:endParaRPr lang="ja-JP" sz="1400"/>
          </a:p>
        </p:txBody>
      </p:sp>
      <p:sp>
        <p:nvSpPr>
          <p:cNvPr id="20" name="Value 個人開発"/>
          <p:cNvSpPr/>
          <p:nvPr/>
        </p:nvSpPr>
        <p:spPr>
          <a:xfrm>
            <a:off x="2084832" y="5093208"/>
            <a:ext cx="4681728" cy="1051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wrap="square" lIns="182880" tIns="45720" rIns="182880" bIns="45720" anchor="ctr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Cloud Palette</a:t>
            </a:r>
            <a:r>
              <a:rPr lang="ja-JP" altLang="en-US" sz="12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（cloud-palette.com）</a:t>
            </a:r>
            <a:endParaRPr lang="ja-JP" sz="1600"/>
          </a:p>
          <a:p>
            <a:pPr algn="l">
              <a:lnSpc>
                <a:spcPct val="105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九星気学・方位・暦をテーマにしたサイト</a:t>
            </a:r>
            <a:endParaRPr lang="ja-JP" sz="1300"/>
          </a:p>
          <a:p>
            <a:pPr algn="l">
              <a:lnSpc>
                <a:spcPct val="105000"/>
              </a:lnSpc>
            </a:pPr>
            <a:r>
              <a:rPr lang="ja-JP" altLang="en-US" sz="12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独学：Web開発 → AIに聞きながら学ぶ → MCP</a:t>
            </a:r>
            <a:endParaRPr lang="ja-JP" sz="1200"/>
          </a:p>
        </p:txBody>
      </p:sp>
      <p:pic>
        <p:nvPicPr>
          <p:cNvPr id="21" name="Illust database" descr="データベースのイラスト"/>
          <p:cNvPicPr>
            <a:picLocks noChangeAspect="1"/>
          </p:cNvPicPr>
          <p:nvPr/>
        </p:nvPicPr>
        <p:blipFill>
          <a:blip r:embed="rIdG1Img"/>
          <a:stretch>
            <a:fillRect/>
          </a:stretch>
        </p:blipFill>
        <p:spPr>
          <a:xfrm>
            <a:off x="7086600" y="1874520"/>
            <a:ext cx="4556455" cy="2563006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22" name="Likes heading"/>
          <p:cNvSpPr/>
          <p:nvPr/>
        </p:nvSpPr>
        <p:spPr>
          <a:xfrm>
            <a:off x="7086600" y="4526280"/>
            <a:ext cx="455645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好きなこと 3つ</a:t>
            </a:r>
            <a:endParaRPr lang="ja-JP" sz="1300"/>
          </a:p>
        </p:txBody>
      </p:sp>
      <p:sp>
        <p:nvSpPr>
          <p:cNvPr id="23" name="Like box 0"/>
          <p:cNvSpPr/>
          <p:nvPr/>
        </p:nvSpPr>
        <p:spPr>
          <a:xfrm>
            <a:off x="7086600" y="4892040"/>
            <a:ext cx="1427378" cy="1252728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</p:sp>
      <p:sp>
        <p:nvSpPr>
          <p:cNvPr id="24" name="Like icon 0"/>
          <p:cNvSpPr/>
          <p:nvPr/>
        </p:nvSpPr>
        <p:spPr>
          <a:xfrm>
            <a:off x="7516825" y="4956048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方位</a:t>
            </a:r>
            <a:endParaRPr lang="ja-JP" sz="1300"/>
          </a:p>
        </p:txBody>
      </p:sp>
      <p:sp>
        <p:nvSpPr>
          <p:cNvPr id="25" name="Like cap 0"/>
          <p:cNvSpPr/>
          <p:nvPr/>
        </p:nvSpPr>
        <p:spPr>
          <a:xfrm>
            <a:off x="7132320" y="5577840"/>
            <a:ext cx="133593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2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九星気学</a:t>
            </a:r>
            <a:endParaRPr lang="ja-JP" sz="1200"/>
          </a:p>
          <a:p>
            <a:pPr algn="ctr">
              <a:lnSpc>
                <a:spcPct val="100000"/>
              </a:lnSpc>
            </a:pPr>
            <a:r>
              <a:rPr lang="ja-JP" altLang="en-US" sz="12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方位</a:t>
            </a:r>
            <a:endParaRPr lang="ja-JP" sz="1200"/>
          </a:p>
        </p:txBody>
      </p:sp>
      <p:sp>
        <p:nvSpPr>
          <p:cNvPr id="26" name="Like box 1"/>
          <p:cNvSpPr/>
          <p:nvPr/>
        </p:nvSpPr>
        <p:spPr>
          <a:xfrm>
            <a:off x="8651138" y="4892040"/>
            <a:ext cx="1427378" cy="1252728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</p:sp>
      <p:sp>
        <p:nvSpPr>
          <p:cNvPr id="27" name="Like icon 1"/>
          <p:cNvSpPr/>
          <p:nvPr/>
        </p:nvSpPr>
        <p:spPr>
          <a:xfrm>
            <a:off x="9081364" y="4956048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AI</a:t>
            </a:r>
            <a:endParaRPr lang="ja-JP" sz="1300"/>
          </a:p>
        </p:txBody>
      </p:sp>
      <p:sp>
        <p:nvSpPr>
          <p:cNvPr id="28" name="Like cap 1"/>
          <p:cNvSpPr/>
          <p:nvPr/>
        </p:nvSpPr>
        <p:spPr>
          <a:xfrm>
            <a:off x="8696858" y="5577840"/>
            <a:ext cx="133593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2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AI</a:t>
            </a:r>
            <a:endParaRPr lang="ja-JP" sz="1200"/>
          </a:p>
          <a:p>
            <a:pPr algn="ctr">
              <a:lnSpc>
                <a:spcPct val="100000"/>
              </a:lnSpc>
            </a:pPr>
            <a:r>
              <a:rPr lang="ja-JP" altLang="en-US" sz="12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エージェント</a:t>
            </a:r>
            <a:endParaRPr lang="ja-JP" sz="1200"/>
          </a:p>
        </p:txBody>
      </p:sp>
      <p:sp>
        <p:nvSpPr>
          <p:cNvPr id="29" name="Like box 2"/>
          <p:cNvSpPr/>
          <p:nvPr/>
        </p:nvSpPr>
        <p:spPr>
          <a:xfrm>
            <a:off x="10215677" y="4892040"/>
            <a:ext cx="1427378" cy="1252728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</p:sp>
      <p:sp>
        <p:nvSpPr>
          <p:cNvPr id="30" name="Like icon 2"/>
          <p:cNvSpPr/>
          <p:nvPr/>
        </p:nvSpPr>
        <p:spPr>
          <a:xfrm>
            <a:off x="10645902" y="4956048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モノ</a:t>
            </a:r>
            <a:endParaRPr lang="ja-JP" sz="1300"/>
          </a:p>
        </p:txBody>
      </p:sp>
      <p:sp>
        <p:nvSpPr>
          <p:cNvPr id="31" name="Like cap 2"/>
          <p:cNvSpPr/>
          <p:nvPr/>
        </p:nvSpPr>
        <p:spPr>
          <a:xfrm>
            <a:off x="10261397" y="5577840"/>
            <a:ext cx="133593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2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ガジェット</a:t>
            </a:r>
            <a:endParaRPr lang="ja-JP" sz="1200"/>
          </a:p>
          <a:p>
            <a:pPr algn="ctr">
              <a:lnSpc>
                <a:spcPct val="100000"/>
              </a:lnSpc>
            </a:pPr>
            <a:r>
              <a:rPr lang="ja-JP" altLang="en-US" sz="12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インテリア</a:t>
            </a:r>
            <a:endParaRPr lang="ja-JP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suruga mo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①  </a:t>
            </a:r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敦賀のあれこれ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港の歴史、鉄道、そして名産。敦賀にはいくつもの顔があります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6 / 14</a:t>
            </a:r>
            <a:endParaRPr lang="ja-JP" sz="1000"/>
          </a:p>
        </p:txBody>
      </p:sp>
      <p:pic>
        <p:nvPicPr>
          <p:cNvPr id="11" name="Photo tsuruga_red_brick_warehouse.jpg" descr="敦賀赤レンガ倉庫"/>
          <p:cNvPicPr>
            <a:picLocks noChangeAspect="1"/>
          </p:cNvPicPr>
          <p:nvPr/>
        </p:nvPicPr>
        <p:blipFill>
          <a:blip r:embed="rIdG2P2"/>
          <a:srcRect l="0" t="7315" r="0" b="7315"/>
          <a:stretch>
            <a:fillRect/>
          </a:stretch>
        </p:blipFill>
        <p:spPr>
          <a:xfrm>
            <a:off x="548640" y="1828800"/>
            <a:ext cx="3545738" cy="2011680"/>
          </a:xfrm>
          <a:prstGeom prst="rect">
            <a:avLst/>
          </a:prstGeom>
        </p:spPr>
      </p:pic>
      <p:sp>
        <p:nvSpPr>
          <p:cNvPr id="12" name="Credit"/>
          <p:cNvSpPr/>
          <p:nvPr/>
        </p:nvSpPr>
        <p:spPr>
          <a:xfrm>
            <a:off x="548640" y="3867912"/>
            <a:ext cx="354573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写真：敦賀赤レンガ倉庫｜Asturio Cantabrio / CC BY-SA 4.0 / Wikimedia Commons</a:t>
            </a:r>
            <a:endParaRPr lang="ja-JP" sz="900"/>
          </a:p>
        </p:txBody>
      </p:sp>
      <p:sp>
        <p:nvSpPr>
          <p:cNvPr id="13" name="Col bar 0"/>
          <p:cNvSpPr/>
          <p:nvPr/>
        </p:nvSpPr>
        <p:spPr>
          <a:xfrm>
            <a:off x="548640" y="4251960"/>
            <a:ext cx="73152" cy="38404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4" name="Col head 0"/>
          <p:cNvSpPr/>
          <p:nvPr/>
        </p:nvSpPr>
        <p:spPr>
          <a:xfrm>
            <a:off x="731520" y="4251960"/>
            <a:ext cx="33628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7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人道の港</a:t>
            </a:r>
            <a:endParaRPr lang="ja-JP" sz="1700"/>
          </a:p>
        </p:txBody>
      </p:sp>
      <p:sp>
        <p:nvSpPr>
          <p:cNvPr id="15" name="Col rule 0"/>
          <p:cNvSpPr/>
          <p:nvPr/>
        </p:nvSpPr>
        <p:spPr>
          <a:xfrm>
            <a:off x="548640" y="4709160"/>
            <a:ext cx="3545738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6" name="Col body 0"/>
          <p:cNvSpPr/>
          <p:nvPr/>
        </p:nvSpPr>
        <p:spPr>
          <a:xfrm>
            <a:off x="548640" y="4800600"/>
            <a:ext cx="354573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・1920–21年、ポーランド孤児が敦賀に上陸</a:t>
            </a:r>
            <a:endParaRPr lang="ja-JP" sz="1300"/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・1940年、杉原千畝「命のビザ」のユダヤ難民が敦賀港へ上陸</a:t>
            </a:r>
            <a:endParaRPr lang="ja-JP" sz="1300"/>
          </a:p>
        </p:txBody>
      </p:sp>
      <p:pic>
        <p:nvPicPr>
          <p:cNvPr id="17" name="Photo tsuruga_station_shinkansen.jpg" descr="敦賀駅 北陸新幹線ホーム"/>
          <p:cNvPicPr>
            <a:picLocks noChangeAspect="1"/>
          </p:cNvPicPr>
          <p:nvPr/>
        </p:nvPicPr>
        <p:blipFill>
          <a:blip r:embed="rIdG2P3"/>
          <a:srcRect l="0" t="12229" r="0" b="12229"/>
          <a:stretch>
            <a:fillRect/>
          </a:stretch>
        </p:blipFill>
        <p:spPr>
          <a:xfrm>
            <a:off x="4322978" y="1828800"/>
            <a:ext cx="3545738" cy="2011680"/>
          </a:xfrm>
          <a:prstGeom prst="rect">
            <a:avLst/>
          </a:prstGeom>
        </p:spPr>
      </p:pic>
      <p:sp>
        <p:nvSpPr>
          <p:cNvPr id="18" name="Credit"/>
          <p:cNvSpPr/>
          <p:nvPr/>
        </p:nvSpPr>
        <p:spPr>
          <a:xfrm>
            <a:off x="4322978" y="3867912"/>
            <a:ext cx="354573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写真：敦賀駅 北陸新幹線ホーム｜Suikotei / CC BY 4.0 / Wikimedia Commons</a:t>
            </a:r>
            <a:endParaRPr lang="ja-JP" sz="900"/>
          </a:p>
        </p:txBody>
      </p:sp>
      <p:sp>
        <p:nvSpPr>
          <p:cNvPr id="19" name="Col bar 1"/>
          <p:cNvSpPr/>
          <p:nvPr/>
        </p:nvSpPr>
        <p:spPr>
          <a:xfrm>
            <a:off x="4322978" y="4251960"/>
            <a:ext cx="73152" cy="38404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0" name="Col head 1"/>
          <p:cNvSpPr/>
          <p:nvPr/>
        </p:nvSpPr>
        <p:spPr>
          <a:xfrm>
            <a:off x="4505858" y="4251960"/>
            <a:ext cx="33628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7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鉄道と新幹線</a:t>
            </a:r>
            <a:endParaRPr lang="ja-JP" sz="1700"/>
          </a:p>
        </p:txBody>
      </p:sp>
      <p:sp>
        <p:nvSpPr>
          <p:cNvPr id="21" name="Col rule 1"/>
          <p:cNvSpPr/>
          <p:nvPr/>
        </p:nvSpPr>
        <p:spPr>
          <a:xfrm>
            <a:off x="4322978" y="4709160"/>
            <a:ext cx="3545738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2" name="Col body 1"/>
          <p:cNvSpPr/>
          <p:nvPr/>
        </p:nvSpPr>
        <p:spPr>
          <a:xfrm>
            <a:off x="4322978" y="4800600"/>
            <a:ext cx="354573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・1912年から欧亜国際連絡列車の日本側の玄関口</a:t>
            </a:r>
            <a:endParaRPr lang="ja-JP" sz="1300"/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・2024年3月16日、北陸新幹線 金沢–敦賀間が延伸開業。敦賀駅が終着駅に</a:t>
            </a:r>
            <a:endParaRPr lang="ja-JP" sz="1300"/>
          </a:p>
        </p:txBody>
      </p:sp>
      <p:sp>
        <p:nvSpPr>
          <p:cNvPr id="23" name="Kombu tile"/>
          <p:cNvSpPr/>
          <p:nvPr/>
        </p:nvSpPr>
        <p:spPr>
          <a:xfrm>
            <a:off x="8097317" y="1828800"/>
            <a:ext cx="3545738" cy="2011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4" name="Kombu big"/>
          <p:cNvSpPr/>
          <p:nvPr/>
        </p:nvSpPr>
        <p:spPr>
          <a:xfrm>
            <a:off x="8371637" y="2011680"/>
            <a:ext cx="2997098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60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80</a:t>
            </a:r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%以上</a:t>
            </a:r>
            <a:endParaRPr lang="ja-JP" sz="6000"/>
          </a:p>
        </p:txBody>
      </p:sp>
      <p:sp>
        <p:nvSpPr>
          <p:cNvPr id="25" name="Kombu rule"/>
          <p:cNvSpPr/>
          <p:nvPr/>
        </p:nvSpPr>
        <p:spPr>
          <a:xfrm>
            <a:off x="8371637" y="3063240"/>
            <a:ext cx="2997098" cy="1828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6" name="Kombu label"/>
          <p:cNvSpPr/>
          <p:nvPr/>
        </p:nvSpPr>
        <p:spPr>
          <a:xfrm>
            <a:off x="8371637" y="3154680"/>
            <a:ext cx="299709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昆布加工の全国生産シェア</a:t>
            </a:r>
            <a:endParaRPr lang="ja-JP" sz="1500"/>
          </a:p>
        </p:txBody>
      </p:sp>
      <p:sp>
        <p:nvSpPr>
          <p:cNvPr id="27" name="Kombu src"/>
          <p:cNvSpPr/>
          <p:nvPr/>
        </p:nvSpPr>
        <p:spPr>
          <a:xfrm>
            <a:off x="8097317" y="3867912"/>
            <a:ext cx="354573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出典：Wikipedia「敦賀市」（2026年10月13日参照）</a:t>
            </a:r>
            <a:endParaRPr lang="ja-JP" sz="900"/>
          </a:p>
        </p:txBody>
      </p:sp>
      <p:sp>
        <p:nvSpPr>
          <p:cNvPr id="28" name="Col bar 2"/>
          <p:cNvSpPr/>
          <p:nvPr/>
        </p:nvSpPr>
        <p:spPr>
          <a:xfrm>
            <a:off x="8097317" y="4251960"/>
            <a:ext cx="73152" cy="38404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9" name="Col head 2"/>
          <p:cNvSpPr/>
          <p:nvPr/>
        </p:nvSpPr>
        <p:spPr>
          <a:xfrm>
            <a:off x="8280197" y="4251960"/>
            <a:ext cx="336285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7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名産</a:t>
            </a:r>
            <a:endParaRPr lang="ja-JP" sz="1700"/>
          </a:p>
        </p:txBody>
      </p:sp>
      <p:sp>
        <p:nvSpPr>
          <p:cNvPr id="30" name="Col rule 2"/>
          <p:cNvSpPr/>
          <p:nvPr/>
        </p:nvSpPr>
        <p:spPr>
          <a:xfrm>
            <a:off x="8097317" y="4709160"/>
            <a:ext cx="3545738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1" name="Col body 2"/>
          <p:cNvSpPr/>
          <p:nvPr/>
        </p:nvSpPr>
        <p:spPr>
          <a:xfrm>
            <a:off x="8097317" y="4800600"/>
            <a:ext cx="354573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・おぼろ昆布・とろろ昆布など、昆布加工で全国の80%以上を生産</a:t>
            </a:r>
            <a:endParaRPr lang="ja-JP" sz="1300"/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・おぼろ昆布製造技術は2025年3月28日、国の登録無形民俗文化財に</a:t>
            </a:r>
            <a:endParaRPr lang="ja-JP" sz="1300"/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・へしこ、屋台の「敦賀ラーメン」も</a:t>
            </a:r>
            <a:endParaRPr lang="ja-JP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v 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②  </a:t>
            </a:r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開発スタイル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「学ぶ」から「任せる」へ ― 2026年8月ごろから、実装はAIエージェントに任せています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9 / 14</a:t>
            </a:r>
            <a:endParaRPr lang="ja-JP" sz="1000"/>
          </a:p>
        </p:txBody>
      </p:sp>
      <p:sp>
        <p:nvSpPr>
          <p:cNvPr id="11" name="Role AI"/>
          <p:cNvSpPr/>
          <p:nvPr/>
        </p:nvSpPr>
        <p:spPr>
          <a:xfrm>
            <a:off x="548640" y="1874520"/>
            <a:ext cx="2651760" cy="214884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2" name="Role AI tag"/>
          <p:cNvSpPr/>
          <p:nvPr/>
        </p:nvSpPr>
        <p:spPr>
          <a:xfrm>
            <a:off x="731520" y="2011680"/>
            <a:ext cx="1280160" cy="292608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AIエージェント</a:t>
            </a:r>
            <a:endParaRPr lang="ja-JP" sz="1100"/>
          </a:p>
        </p:txBody>
      </p:sp>
      <p:sp>
        <p:nvSpPr>
          <p:cNvPr id="13" name="Role AI name"/>
          <p:cNvSpPr/>
          <p:nvPr/>
        </p:nvSpPr>
        <p:spPr>
          <a:xfrm>
            <a:off x="731520" y="23774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5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Grok Bot</a:t>
            </a:r>
            <a:endParaRPr lang="ja-JP" sz="1500"/>
          </a:p>
          <a:p>
            <a:pPr algn="l">
              <a:lnSpc>
                <a:spcPct val="100000"/>
              </a:lnSpc>
            </a:pPr>
            <a:r>
              <a:rPr lang="ja-JP" altLang="en-US" sz="15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Claude Code</a:t>
            </a:r>
            <a:endParaRPr lang="ja-JP" sz="1500"/>
          </a:p>
          <a:p>
            <a:pPr algn="l">
              <a:lnSpc>
                <a:spcPct val="100000"/>
              </a:lnSpc>
            </a:pPr>
            <a:r>
              <a:rPr lang="ja-JP" altLang="en-US" sz="15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Codex</a:t>
            </a:r>
            <a:endParaRPr lang="ja-JP" sz="1500"/>
          </a:p>
        </p:txBody>
      </p:sp>
      <p:sp>
        <p:nvSpPr>
          <p:cNvPr id="14" name="Role AI rule"/>
          <p:cNvSpPr/>
          <p:nvPr/>
        </p:nvSpPr>
        <p:spPr>
          <a:xfrm>
            <a:off x="731520" y="3246120"/>
            <a:ext cx="2286000" cy="914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5" name="Role AI job"/>
          <p:cNvSpPr/>
          <p:nvPr/>
        </p:nvSpPr>
        <p:spPr>
          <a:xfrm>
            <a:off x="731520" y="3319272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担当：実装</a:t>
            </a:r>
            <a:endParaRPr lang="ja-JP" sz="1500"/>
          </a:p>
          <a:p>
            <a:pPr algn="l"/>
            <a:r>
              <a:rPr lang="ja-JP" altLang="en-US" sz="1200" b="0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コードを書く・動かす</a:t>
            </a:r>
            <a:endParaRPr lang="ja-JP" sz="1200"/>
          </a:p>
        </p:txBody>
      </p:sp>
      <p:sp>
        <p:nvSpPr>
          <p:cNvPr id="16" name="Arrow to AI"/>
          <p:cNvSpPr/>
          <p:nvPr/>
        </p:nvSpPr>
        <p:spPr>
          <a:xfrm>
            <a:off x="3291840" y="2331720"/>
            <a:ext cx="914400" cy="365760"/>
          </a:xfrm>
          <a:prstGeom prst="leftArrow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7" name="Arrow to AI label"/>
          <p:cNvSpPr/>
          <p:nvPr/>
        </p:nvSpPr>
        <p:spPr>
          <a:xfrm>
            <a:off x="3200400" y="19659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短い指示</a:t>
            </a:r>
            <a:endParaRPr lang="ja-JP" sz="1100"/>
          </a:p>
        </p:txBody>
      </p:sp>
      <p:sp>
        <p:nvSpPr>
          <p:cNvPr id="18" name="Arrow to me"/>
          <p:cNvSpPr/>
          <p:nvPr/>
        </p:nvSpPr>
        <p:spPr>
          <a:xfrm>
            <a:off x="3291840" y="3154680"/>
            <a:ext cx="914400" cy="36576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9" name="Arrow to me label"/>
          <p:cNvSpPr/>
          <p:nvPr/>
        </p:nvSpPr>
        <p:spPr>
          <a:xfrm>
            <a:off x="3200400" y="35661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結果・選択肢</a:t>
            </a:r>
            <a:endParaRPr lang="ja-JP" sz="1100"/>
          </a:p>
        </p:txBody>
      </p:sp>
      <p:sp>
        <p:nvSpPr>
          <p:cNvPr id="20" name="Role me"/>
          <p:cNvSpPr/>
          <p:nvPr/>
        </p:nvSpPr>
        <p:spPr>
          <a:xfrm>
            <a:off x="4297680" y="1874520"/>
            <a:ext cx="2377440" cy="2148840"/>
          </a:xfrm>
          <a:prstGeom prst="rect">
            <a:avLst/>
          </a:prstGeom>
          <a:solidFill>
            <a:srgbClr val="F3F5F8"/>
          </a:solidFill>
          <a:ln w="19050">
            <a:solidFill>
              <a:srgbClr val="1F3A5F"/>
            </a:solidFill>
          </a:ln>
        </p:spPr>
      </p:sp>
      <p:sp>
        <p:nvSpPr>
          <p:cNvPr id="21" name="Role me tag"/>
          <p:cNvSpPr/>
          <p:nvPr/>
        </p:nvSpPr>
        <p:spPr>
          <a:xfrm>
            <a:off x="4480560" y="2011680"/>
            <a:ext cx="822960" cy="292608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自分</a:t>
            </a:r>
            <a:endParaRPr lang="ja-JP" sz="1100"/>
          </a:p>
        </p:txBody>
      </p:sp>
      <p:sp>
        <p:nvSpPr>
          <p:cNvPr id="22" name="Role me name"/>
          <p:cNvSpPr/>
          <p:nvPr/>
        </p:nvSpPr>
        <p:spPr>
          <a:xfrm>
            <a:off x="4480560" y="2395728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7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レビュー</a:t>
            </a:r>
            <a:endParaRPr lang="ja-JP" sz="1700"/>
          </a:p>
          <a:p>
            <a:pPr algn="l">
              <a:lnSpc>
                <a:spcPct val="100000"/>
              </a:lnSpc>
            </a:pPr>
            <a:r>
              <a:rPr lang="ja-JP" altLang="en-US" sz="17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方向決め</a:t>
            </a:r>
            <a:endParaRPr lang="ja-JP" sz="1700"/>
          </a:p>
        </p:txBody>
      </p:sp>
      <p:sp>
        <p:nvSpPr>
          <p:cNvPr id="23" name="Role me rule"/>
          <p:cNvSpPr/>
          <p:nvPr/>
        </p:nvSpPr>
        <p:spPr>
          <a:xfrm>
            <a:off x="4480560" y="3246120"/>
            <a:ext cx="2011680" cy="914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4" name="Role me job"/>
          <p:cNvSpPr/>
          <p:nvPr/>
        </p:nvSpPr>
        <p:spPr>
          <a:xfrm>
            <a:off x="4480560" y="331927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担当：判断</a:t>
            </a:r>
            <a:endParaRPr lang="ja-JP" sz="1500"/>
          </a:p>
          <a:p>
            <a:pPr algn="l"/>
            <a:r>
              <a:rPr lang="ja-JP" altLang="en-US" sz="12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何を作るか・OKかを決める</a:t>
            </a:r>
            <a:endParaRPr lang="ja-JP" sz="1200"/>
          </a:p>
        </p:txBody>
      </p:sp>
      <p:sp>
        <p:nvSpPr>
          <p:cNvPr id="25" name="Howto head"/>
          <p:cNvSpPr/>
          <p:nvPr/>
        </p:nvSpPr>
        <p:spPr>
          <a:xfrm>
            <a:off x="548640" y="4206240"/>
            <a:ext cx="6126480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0" rIns="182880" bIns="0" anchor="ctr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指示の出し方</a:t>
            </a:r>
            <a:endParaRPr lang="ja-JP" sz="1400"/>
          </a:p>
        </p:txBody>
      </p:sp>
      <p:sp>
        <p:nvSpPr>
          <p:cNvPr id="26" name="Howto box"/>
          <p:cNvSpPr/>
          <p:nvPr/>
        </p:nvSpPr>
        <p:spPr>
          <a:xfrm>
            <a:off x="548640" y="4590288"/>
            <a:ext cx="6126480" cy="164592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</p:sp>
      <p:sp>
        <p:nvSpPr>
          <p:cNvPr id="27" name="Chip 0"/>
          <p:cNvSpPr/>
          <p:nvPr/>
        </p:nvSpPr>
        <p:spPr>
          <a:xfrm>
            <a:off x="777240" y="4754880"/>
            <a:ext cx="12801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5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「進めて」</a:t>
            </a:r>
            <a:endParaRPr lang="ja-JP" sz="1500"/>
          </a:p>
        </p:txBody>
      </p:sp>
      <p:sp>
        <p:nvSpPr>
          <p:cNvPr id="28" name="Chip 1"/>
          <p:cNvSpPr/>
          <p:nvPr/>
        </p:nvSpPr>
        <p:spPr>
          <a:xfrm>
            <a:off x="2194560" y="4754880"/>
            <a:ext cx="128016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5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「はい」</a:t>
            </a:r>
            <a:endParaRPr lang="ja-JP" sz="1500"/>
          </a:p>
        </p:txBody>
      </p:sp>
      <p:sp>
        <p:nvSpPr>
          <p:cNvPr id="29" name="Chip note"/>
          <p:cNvSpPr/>
          <p:nvPr/>
        </p:nvSpPr>
        <p:spPr>
          <a:xfrm>
            <a:off x="3657600" y="47548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指示は短く、ひとことで</a:t>
            </a:r>
            <a:endParaRPr lang="ja-JP" sz="1300"/>
          </a:p>
        </p:txBody>
      </p:sp>
      <p:sp>
        <p:nvSpPr>
          <p:cNvPr id="30" name="Howto body"/>
          <p:cNvSpPr/>
          <p:nvPr/>
        </p:nvSpPr>
        <p:spPr>
          <a:xfrm>
            <a:off x="777240" y="5303520"/>
            <a:ext cx="5760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・AIが出す番号つきの選択肢から選ぶだけで進む</a:t>
            </a:r>
            <a:endParaRPr lang="ja-JP" sz="1250"/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・細かい実装はAIに任せ、自分は結果を見て判断する</a:t>
            </a:r>
            <a:endParaRPr lang="ja-JP" sz="1250"/>
          </a:p>
        </p:txBody>
      </p:sp>
      <p:pic>
        <p:nvPicPr>
          <p:cNvPr id="31" name="Illust ai dev" descr="AIと開発するイラスト"/>
          <p:cNvPicPr>
            <a:picLocks noChangeAspect="1"/>
          </p:cNvPicPr>
          <p:nvPr/>
        </p:nvPicPr>
        <p:blipFill>
          <a:blip r:embed="rIdG4Img1"/>
          <a:stretch>
            <a:fillRect/>
          </a:stretch>
        </p:blipFill>
        <p:spPr>
          <a:xfrm>
            <a:off x="6949440" y="1874520"/>
            <a:ext cx="4693615" cy="2640159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32" name="TL before"/>
          <p:cNvSpPr/>
          <p:nvPr/>
        </p:nvSpPr>
        <p:spPr>
          <a:xfrm>
            <a:off x="6949440" y="4697559"/>
            <a:ext cx="2103120" cy="150876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33" name="TL before t"/>
          <p:cNvSpPr/>
          <p:nvPr/>
        </p:nvSpPr>
        <p:spPr>
          <a:xfrm>
            <a:off x="7086600" y="4807287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100" b="1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これまで</a:t>
            </a:r>
            <a:endParaRPr lang="ja-JP" sz="1100"/>
          </a:p>
          <a:p>
            <a:pPr algn="l"/>
            <a:r>
              <a:rPr lang="ja-JP" altLang="en-US" sz="20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学ぶ</a:t>
            </a:r>
            <a:endParaRPr lang="ja-JP" sz="2000"/>
          </a:p>
          <a:p>
            <a:pPr algn="l">
              <a:lnSpc>
                <a:spcPct val="100000"/>
              </a:lnSpc>
            </a:pPr>
            <a:r>
              <a:rPr lang="ja-JP" altLang="en-US" sz="11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自分で書き、AIに聞く</a:t>
            </a:r>
            <a:endParaRPr lang="ja-JP" sz="1150"/>
          </a:p>
        </p:txBody>
      </p:sp>
      <p:sp>
        <p:nvSpPr>
          <p:cNvPr id="34" name="TL arrow"/>
          <p:cNvSpPr/>
          <p:nvPr/>
        </p:nvSpPr>
        <p:spPr>
          <a:xfrm>
            <a:off x="9125712" y="5246199"/>
            <a:ext cx="347472" cy="41148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35" name="TL after"/>
          <p:cNvSpPr/>
          <p:nvPr/>
        </p:nvSpPr>
        <p:spPr>
          <a:xfrm>
            <a:off x="9539935" y="4697559"/>
            <a:ext cx="2103120" cy="150876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6" name="TL after t"/>
          <p:cNvSpPr/>
          <p:nvPr/>
        </p:nvSpPr>
        <p:spPr>
          <a:xfrm>
            <a:off x="9677095" y="4807287"/>
            <a:ext cx="18288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1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2026年8月ごろから</a:t>
            </a:r>
            <a:endParaRPr lang="ja-JP" sz="1100"/>
          </a:p>
          <a:p>
            <a:pPr algn="l"/>
            <a:r>
              <a:rPr lang="ja-JP" altLang="en-US" sz="20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任せる</a:t>
            </a:r>
            <a:endParaRPr lang="ja-JP" sz="2000"/>
          </a:p>
          <a:p>
            <a:pPr algn="l">
              <a:lnSpc>
                <a:spcPct val="100000"/>
              </a:lnSpc>
            </a:pPr>
            <a:r>
              <a:rPr lang="ja-JP" altLang="en-US" sz="1150" b="0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AIが実装、自分はレビュー</a:t>
            </a:r>
            <a:endParaRPr lang="ja-JP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今日話すこと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今日のテーマは2つ。出身地の敦賀と、Grok BotとAIに任せる開発の話です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2 / 14</a:t>
            </a:r>
            <a:endParaRPr lang="ja-JP" sz="1000"/>
          </a:p>
        </p:txBody>
      </p:sp>
      <p:sp>
        <p:nvSpPr>
          <p:cNvPr id="11" name="Theme card 0"/>
          <p:cNvSpPr/>
          <p:nvPr/>
        </p:nvSpPr>
        <p:spPr>
          <a:xfrm>
            <a:off x="548640" y="1874520"/>
            <a:ext cx="5440680" cy="365760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2" name="Theme top 0"/>
          <p:cNvSpPr/>
          <p:nvPr/>
        </p:nvSpPr>
        <p:spPr>
          <a:xfrm>
            <a:off x="548640" y="1874520"/>
            <a:ext cx="544068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pic>
        <p:nvPicPr>
          <p:cNvPr id="13" name="Photo kehi_matsubara_user.jpg" descr="気比の松原"/>
          <p:cNvPicPr>
            <a:picLocks noChangeAspect="1"/>
          </p:cNvPicPr>
          <p:nvPr/>
        </p:nvPicPr>
        <p:blipFill>
          <a:blip r:embed="rIdAg0"/>
          <a:srcRect l="0" t="39" r="0" b="39"/>
          <a:stretch>
            <a:fillRect/>
          </a:stretch>
        </p:blipFill>
        <p:spPr>
          <a:xfrm>
            <a:off x="822960" y="2194560"/>
            <a:ext cx="2194560" cy="1463040"/>
          </a:xfrm>
          <a:prstGeom prst="rect">
            <a:avLst/>
          </a:prstGeom>
        </p:spPr>
      </p:pic>
      <p:sp>
        <p:nvSpPr>
          <p:cNvPr id="14" name="Theme num 0"/>
          <p:cNvSpPr/>
          <p:nvPr/>
        </p:nvSpPr>
        <p:spPr>
          <a:xfrm>
            <a:off x="3246120" y="214884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3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①</a:t>
            </a:r>
            <a:endParaRPr lang="ja-JP" sz="3600"/>
          </a:p>
        </p:txBody>
      </p:sp>
      <p:sp>
        <p:nvSpPr>
          <p:cNvPr id="15" name="Theme title 0"/>
          <p:cNvSpPr/>
          <p:nvPr/>
        </p:nvSpPr>
        <p:spPr>
          <a:xfrm>
            <a:off x="3246120" y="27432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9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出身地・敦賀</a:t>
            </a:r>
            <a:endParaRPr lang="ja-JP" sz="1900"/>
          </a:p>
        </p:txBody>
      </p:sp>
      <p:sp>
        <p:nvSpPr>
          <p:cNvPr id="16" name="Theme sub 0"/>
          <p:cNvSpPr/>
          <p:nvPr/>
        </p:nvSpPr>
        <p:spPr>
          <a:xfrm>
            <a:off x="3246120" y="350215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福井県・日本海に面した港町</a:t>
            </a:r>
            <a:endParaRPr lang="ja-JP" sz="1250"/>
          </a:p>
        </p:txBody>
      </p:sp>
      <p:sp>
        <p:nvSpPr>
          <p:cNvPr id="17" name="Theme rule 0"/>
          <p:cNvSpPr/>
          <p:nvPr/>
        </p:nvSpPr>
        <p:spPr>
          <a:xfrm>
            <a:off x="822960" y="3886200"/>
            <a:ext cx="4892040" cy="1828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8" name="Chip 0-0"/>
          <p:cNvSpPr/>
          <p:nvPr/>
        </p:nvSpPr>
        <p:spPr>
          <a:xfrm>
            <a:off x="822960" y="4069080"/>
            <a:ext cx="23545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気比の松原</a:t>
            </a:r>
            <a:endParaRPr lang="ja-JP" sz="1400"/>
          </a:p>
        </p:txBody>
      </p:sp>
      <p:sp>
        <p:nvSpPr>
          <p:cNvPr id="19" name="Chip 0-1"/>
          <p:cNvSpPr/>
          <p:nvPr/>
        </p:nvSpPr>
        <p:spPr>
          <a:xfrm>
            <a:off x="3360420" y="4069080"/>
            <a:ext cx="23545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原発</a:t>
            </a:r>
            <a:endParaRPr lang="ja-JP" sz="1400"/>
          </a:p>
        </p:txBody>
      </p:sp>
      <p:sp>
        <p:nvSpPr>
          <p:cNvPr id="20" name="Chip 0-2"/>
          <p:cNvSpPr/>
          <p:nvPr/>
        </p:nvSpPr>
        <p:spPr>
          <a:xfrm>
            <a:off x="822960" y="4544568"/>
            <a:ext cx="23545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港・鉄道・名産</a:t>
            </a:r>
            <a:endParaRPr lang="ja-JP" sz="1400"/>
          </a:p>
        </p:txBody>
      </p:sp>
      <p:sp>
        <p:nvSpPr>
          <p:cNvPr id="21" name="Theme card 1"/>
          <p:cNvSpPr/>
          <p:nvPr/>
        </p:nvSpPr>
        <p:spPr>
          <a:xfrm>
            <a:off x="6202375" y="1874520"/>
            <a:ext cx="5440680" cy="365760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2" name="Theme top 1"/>
          <p:cNvSpPr/>
          <p:nvPr/>
        </p:nvSpPr>
        <p:spPr>
          <a:xfrm>
            <a:off x="6202375" y="1874520"/>
            <a:ext cx="544068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pic>
        <p:nvPicPr>
          <p:cNvPr id="23" name="Photo illust_grokbot.jpg" descr="Grok Botのイラスト"/>
          <p:cNvPicPr>
            <a:picLocks noChangeAspect="1"/>
          </p:cNvPicPr>
          <p:nvPr/>
        </p:nvPicPr>
        <p:blipFill>
          <a:blip r:embed="rIdAg1"/>
          <a:srcRect l="7812" t="0" r="7812" b="0"/>
          <a:stretch>
            <a:fillRect/>
          </a:stretch>
        </p:blipFill>
        <p:spPr>
          <a:xfrm>
            <a:off x="6476695" y="2194560"/>
            <a:ext cx="2194560" cy="1463040"/>
          </a:xfrm>
          <a:prstGeom prst="rect">
            <a:avLst/>
          </a:prstGeom>
        </p:spPr>
      </p:pic>
      <p:sp>
        <p:nvSpPr>
          <p:cNvPr id="24" name="Theme num 1"/>
          <p:cNvSpPr/>
          <p:nvPr/>
        </p:nvSpPr>
        <p:spPr>
          <a:xfrm>
            <a:off x="8899855" y="214884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3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②</a:t>
            </a:r>
            <a:endParaRPr lang="ja-JP" sz="3600"/>
          </a:p>
        </p:txBody>
      </p:sp>
      <p:sp>
        <p:nvSpPr>
          <p:cNvPr id="25" name="Theme title 1"/>
          <p:cNvSpPr/>
          <p:nvPr/>
        </p:nvSpPr>
        <p:spPr>
          <a:xfrm>
            <a:off x="8899855" y="27432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9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Grok Botと、AIに任せる開発</a:t>
            </a:r>
            <a:endParaRPr lang="ja-JP" sz="1900"/>
          </a:p>
        </p:txBody>
      </p:sp>
      <p:sp>
        <p:nvSpPr>
          <p:cNvPr id="26" name="Theme sub 1"/>
          <p:cNvSpPr/>
          <p:nvPr/>
        </p:nvSpPr>
        <p:spPr>
          <a:xfrm>
            <a:off x="8899855" y="350215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チャットで頼めるAIアシスタント</a:t>
            </a:r>
            <a:endParaRPr lang="ja-JP" sz="1250"/>
          </a:p>
        </p:txBody>
      </p:sp>
      <p:sp>
        <p:nvSpPr>
          <p:cNvPr id="27" name="Theme rule 1"/>
          <p:cNvSpPr/>
          <p:nvPr/>
        </p:nvSpPr>
        <p:spPr>
          <a:xfrm>
            <a:off x="6476695" y="3886200"/>
            <a:ext cx="4892040" cy="1828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8" name="Chip 1-0"/>
          <p:cNvSpPr/>
          <p:nvPr/>
        </p:nvSpPr>
        <p:spPr>
          <a:xfrm>
            <a:off x="6476695" y="4069080"/>
            <a:ext cx="23545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Grok Bot</a:t>
            </a:r>
            <a:endParaRPr lang="ja-JP" sz="1400"/>
          </a:p>
        </p:txBody>
      </p:sp>
      <p:sp>
        <p:nvSpPr>
          <p:cNvPr id="29" name="Chip 1-1"/>
          <p:cNvSpPr/>
          <p:nvPr/>
        </p:nvSpPr>
        <p:spPr>
          <a:xfrm>
            <a:off x="9014155" y="4069080"/>
            <a:ext cx="23545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使い方</a:t>
            </a:r>
            <a:endParaRPr lang="ja-JP" sz="1400"/>
          </a:p>
        </p:txBody>
      </p:sp>
      <p:sp>
        <p:nvSpPr>
          <p:cNvPr id="30" name="Chip 1-2"/>
          <p:cNvSpPr/>
          <p:nvPr/>
        </p:nvSpPr>
        <p:spPr>
          <a:xfrm>
            <a:off x="6476695" y="4544568"/>
            <a:ext cx="23545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開発スタイル</a:t>
            </a:r>
            <a:endParaRPr lang="ja-JP" sz="1400"/>
          </a:p>
        </p:txBody>
      </p:sp>
      <p:sp>
        <p:nvSpPr>
          <p:cNvPr id="31" name="Chip 1-3"/>
          <p:cNvSpPr/>
          <p:nvPr/>
        </p:nvSpPr>
        <p:spPr>
          <a:xfrm>
            <a:off x="9014155" y="4544568"/>
            <a:ext cx="23545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Cloud Palette</a:t>
            </a:r>
            <a:endParaRPr lang="ja-JP" sz="1400"/>
          </a:p>
        </p:txBody>
      </p:sp>
      <p:sp>
        <p:nvSpPr>
          <p:cNvPr id="32" name="Chip 1-4"/>
          <p:cNvSpPr/>
          <p:nvPr/>
        </p:nvSpPr>
        <p:spPr>
          <a:xfrm>
            <a:off x="6476695" y="5020056"/>
            <a:ext cx="23545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second brain</a:t>
            </a:r>
            <a:endParaRPr lang="ja-JP" sz="1400"/>
          </a:p>
        </p:txBody>
      </p:sp>
      <p:sp>
        <p:nvSpPr>
          <p:cNvPr id="33" name="Bookends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  <p:txBody>
          <a:bodyPr wrap="square" lIns="91440" tIns="0" rIns="9144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最初に</a:t>
            </a:r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  ざっくりプロフィール</a:t>
            </a:r>
            <a:r>
              <a:rPr lang="ja-JP" altLang="en-US" sz="12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　　／　　</a:t>
            </a:r>
            <a:r>
              <a:rPr lang="ja-JP" altLang="en-US" sz="12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最後に</a:t>
            </a:r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  これからやりたいこと</a:t>
            </a:r>
            <a:endParaRPr lang="ja-JP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suruga nucle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①  </a:t>
            </a:r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敦賀と原発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1970年に敦賀発電所1号機が運転開始。市内には「もんじゅ」や旧「ふげん」などの施設もあります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5 / 14</a:t>
            </a:r>
            <a:endParaRPr lang="ja-JP" sz="1000"/>
          </a:p>
        </p:txBody>
      </p:sp>
      <p:pic>
        <p:nvPicPr>
          <p:cNvPr id="11" name="Photo tsuruga_nuclear_power_plant.jpg" descr="立石岬と日本原電 敦賀発電所"/>
          <p:cNvPicPr>
            <a:picLocks noChangeAspect="1"/>
          </p:cNvPicPr>
          <p:nvPr/>
        </p:nvPicPr>
        <p:blipFill>
          <a:blip r:embed="rIdG2NP"/>
          <a:srcRect l="0" t="4280" r="0" b="4280"/>
          <a:stretch>
            <a:fillRect/>
          </a:stretch>
        </p:blipFill>
        <p:spPr>
          <a:xfrm>
            <a:off x="548640" y="1874520"/>
            <a:ext cx="6675120" cy="4069080"/>
          </a:xfrm>
          <a:prstGeom prst="rect">
            <a:avLst/>
          </a:prstGeom>
        </p:spPr>
      </p:pic>
      <p:sp>
        <p:nvSpPr>
          <p:cNvPr id="12" name="Photo label"/>
          <p:cNvSpPr/>
          <p:nvPr/>
        </p:nvSpPr>
        <p:spPr>
          <a:xfrm>
            <a:off x="548640" y="5532120"/>
            <a:ext cx="329184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立石岬と日本原電 敦賀発電所</a:t>
            </a:r>
            <a:endParaRPr lang="ja-JP" sz="1300"/>
          </a:p>
        </p:txBody>
      </p:sp>
      <p:sp>
        <p:nvSpPr>
          <p:cNvPr id="13" name="Credit"/>
          <p:cNvSpPr/>
          <p:nvPr/>
        </p:nvSpPr>
        <p:spPr>
          <a:xfrm>
            <a:off x="548640" y="5989320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写真：立石岬と日本原電 敦賀発電所｜Alpsdake / CC BY-SA 4.0 / Wikimedia Commons</a:t>
            </a:r>
            <a:endParaRPr lang="ja-JP" sz="900"/>
          </a:p>
        </p:txBody>
      </p:sp>
      <p:sp>
        <p:nvSpPr>
          <p:cNvPr id="14" name="TL head"/>
          <p:cNvSpPr/>
          <p:nvPr/>
        </p:nvSpPr>
        <p:spPr>
          <a:xfrm>
            <a:off x="7589520" y="1874520"/>
            <a:ext cx="4053535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82880" tIns="0" rIns="182880" bIns="0" anchor="ctr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敦賀と原子力のあゆみ</a:t>
            </a:r>
            <a:endParaRPr lang="ja-JP" sz="1400"/>
          </a:p>
        </p:txBody>
      </p:sp>
      <p:sp>
        <p:nvSpPr>
          <p:cNvPr id="15" name="TL line"/>
          <p:cNvSpPr/>
          <p:nvPr/>
        </p:nvSpPr>
        <p:spPr>
          <a:xfrm>
            <a:off x="7836408" y="2606040"/>
            <a:ext cx="36576" cy="2834640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6" name="TL dot 0"/>
          <p:cNvSpPr/>
          <p:nvPr/>
        </p:nvSpPr>
        <p:spPr>
          <a:xfrm>
            <a:off x="7717536" y="2542032"/>
            <a:ext cx="274320" cy="27432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7" name="TL when 0"/>
          <p:cNvSpPr/>
          <p:nvPr/>
        </p:nvSpPr>
        <p:spPr>
          <a:xfrm>
            <a:off x="8138160" y="2468880"/>
            <a:ext cx="350489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1970年3月</a:t>
            </a:r>
            <a:endParaRPr lang="ja-JP" sz="1800"/>
          </a:p>
        </p:txBody>
      </p:sp>
      <p:sp>
        <p:nvSpPr>
          <p:cNvPr id="18" name="TL title 0"/>
          <p:cNvSpPr/>
          <p:nvPr/>
        </p:nvSpPr>
        <p:spPr>
          <a:xfrm>
            <a:off x="8138160" y="2880360"/>
            <a:ext cx="350489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敦賀発電所1号機 運転開始</a:t>
            </a:r>
            <a:endParaRPr lang="ja-JP" sz="1500"/>
          </a:p>
        </p:txBody>
      </p:sp>
      <p:sp>
        <p:nvSpPr>
          <p:cNvPr id="19" name="TL sub 0"/>
          <p:cNvSpPr/>
          <p:nvPr/>
        </p:nvSpPr>
        <p:spPr>
          <a:xfrm>
            <a:off x="8138160" y="3227832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2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日本原子力発電／沸騰水型軽水炉</a:t>
            </a:r>
            <a:endParaRPr lang="ja-JP" sz="1200"/>
          </a:p>
          <a:p>
            <a:pPr algn="l">
              <a:lnSpc>
                <a:spcPct val="100000"/>
              </a:lnSpc>
            </a:pPr>
            <a:r>
              <a:rPr lang="ja-JP" altLang="en-US" sz="12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大阪万博の会場へ送電</a:t>
            </a:r>
            <a:endParaRPr lang="ja-JP" sz="1200"/>
          </a:p>
        </p:txBody>
      </p:sp>
      <p:sp>
        <p:nvSpPr>
          <p:cNvPr id="20" name="TL dot 1"/>
          <p:cNvSpPr/>
          <p:nvPr/>
        </p:nvSpPr>
        <p:spPr>
          <a:xfrm>
            <a:off x="7717536" y="3749040"/>
            <a:ext cx="274320" cy="2743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1" name="TL when 1"/>
          <p:cNvSpPr/>
          <p:nvPr/>
        </p:nvSpPr>
        <p:spPr>
          <a:xfrm>
            <a:off x="8138160" y="3675888"/>
            <a:ext cx="350489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1994年</a:t>
            </a:r>
            <a:endParaRPr lang="ja-JP" sz="1800"/>
          </a:p>
        </p:txBody>
      </p:sp>
      <p:sp>
        <p:nvSpPr>
          <p:cNvPr id="22" name="TL title 1"/>
          <p:cNvSpPr/>
          <p:nvPr/>
        </p:nvSpPr>
        <p:spPr>
          <a:xfrm>
            <a:off x="8138160" y="4087368"/>
            <a:ext cx="350489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高速増殖炉「もんじゅ」初臨界</a:t>
            </a:r>
            <a:endParaRPr lang="ja-JP" sz="1500"/>
          </a:p>
        </p:txBody>
      </p:sp>
      <p:sp>
        <p:nvSpPr>
          <p:cNvPr id="23" name="TL sub 1"/>
          <p:cNvSpPr/>
          <p:nvPr/>
        </p:nvSpPr>
        <p:spPr>
          <a:xfrm>
            <a:off x="8138160" y="4434840"/>
            <a:ext cx="350489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2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敦賀市内にある施設</a:t>
            </a:r>
            <a:endParaRPr lang="ja-JP" sz="1200"/>
          </a:p>
        </p:txBody>
      </p:sp>
      <p:sp>
        <p:nvSpPr>
          <p:cNvPr id="24" name="TL dot 2"/>
          <p:cNvSpPr/>
          <p:nvPr/>
        </p:nvSpPr>
        <p:spPr>
          <a:xfrm>
            <a:off x="7717536" y="4956048"/>
            <a:ext cx="274320" cy="2743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5" name="TL when 2"/>
          <p:cNvSpPr/>
          <p:nvPr/>
        </p:nvSpPr>
        <p:spPr>
          <a:xfrm>
            <a:off x="8138160" y="4882896"/>
            <a:ext cx="350489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ほかにも</a:t>
            </a:r>
            <a:endParaRPr lang="ja-JP" sz="1800"/>
          </a:p>
        </p:txBody>
      </p:sp>
      <p:sp>
        <p:nvSpPr>
          <p:cNvPr id="26" name="TL title 2"/>
          <p:cNvSpPr/>
          <p:nvPr/>
        </p:nvSpPr>
        <p:spPr>
          <a:xfrm>
            <a:off x="8138160" y="5294376"/>
            <a:ext cx="350489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旧「ふげん」などの施設も</a:t>
            </a:r>
            <a:endParaRPr lang="ja-JP" sz="1500"/>
          </a:p>
        </p:txBody>
      </p:sp>
      <p:sp>
        <p:nvSpPr>
          <p:cNvPr id="27" name="Source note"/>
          <p:cNvSpPr/>
          <p:nvPr/>
        </p:nvSpPr>
        <p:spPr>
          <a:xfrm>
            <a:off x="7589520" y="6035040"/>
            <a:ext cx="405353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ja-JP" altLang="en-US" sz="9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出典：Wikipedia「敦賀市」（2026年10月13日参照）</a:t>
            </a:r>
            <a:endParaRPr lang="ja-JP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ond br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②  </a:t>
            </a:r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second brain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約800件のAIとの会話をObsidianに集約し、AIからも探せるようにしました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11 / 14</a:t>
            </a:r>
            <a:endParaRPr lang="ja-JP" sz="1000"/>
          </a:p>
        </p:txBody>
      </p:sp>
      <p:sp>
        <p:nvSpPr>
          <p:cNvPr id="11" name="Step box 0"/>
          <p:cNvSpPr/>
          <p:nvPr/>
        </p:nvSpPr>
        <p:spPr>
          <a:xfrm>
            <a:off x="548640" y="1874520"/>
            <a:ext cx="6400800" cy="86868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2" name="Step lab 0"/>
          <p:cNvSpPr/>
          <p:nvPr/>
        </p:nvSpPr>
        <p:spPr>
          <a:xfrm>
            <a:off x="548640" y="1874520"/>
            <a:ext cx="1737360" cy="8686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集約</a:t>
            </a:r>
            <a:endParaRPr lang="ja-JP" sz="1600"/>
          </a:p>
        </p:txBody>
      </p:sp>
      <p:sp>
        <p:nvSpPr>
          <p:cNvPr id="13" name="Step text 0"/>
          <p:cNvSpPr/>
          <p:nvPr/>
        </p:nvSpPr>
        <p:spPr>
          <a:xfrm>
            <a:off x="2514600" y="187452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6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約800件のAIとの会話をObsidianに集約</a:t>
            </a:r>
            <a:endParaRPr lang="ja-JP" sz="1600"/>
          </a:p>
        </p:txBody>
      </p:sp>
      <p:sp>
        <p:nvSpPr>
          <p:cNvPr id="14" name="Step arrow 0"/>
          <p:cNvSpPr/>
          <p:nvPr/>
        </p:nvSpPr>
        <p:spPr>
          <a:xfrm>
            <a:off x="1280160" y="2761488"/>
            <a:ext cx="27432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15" name="Step box 1"/>
          <p:cNvSpPr/>
          <p:nvPr/>
        </p:nvSpPr>
        <p:spPr>
          <a:xfrm>
            <a:off x="548640" y="2962656"/>
            <a:ext cx="6400800" cy="86868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6" name="Step lab 1"/>
          <p:cNvSpPr/>
          <p:nvPr/>
        </p:nvSpPr>
        <p:spPr>
          <a:xfrm>
            <a:off x="548640" y="2962656"/>
            <a:ext cx="173736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自動分類</a:t>
            </a:r>
            <a:endParaRPr lang="ja-JP" sz="1600"/>
          </a:p>
        </p:txBody>
      </p:sp>
      <p:sp>
        <p:nvSpPr>
          <p:cNvPr id="17" name="Step text 1"/>
          <p:cNvSpPr/>
          <p:nvPr/>
        </p:nvSpPr>
        <p:spPr>
          <a:xfrm>
            <a:off x="2514600" y="2962656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6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トピックごとに、自動で分類する</a:t>
            </a:r>
            <a:endParaRPr lang="ja-JP" sz="1600"/>
          </a:p>
        </p:txBody>
      </p:sp>
      <p:sp>
        <p:nvSpPr>
          <p:cNvPr id="18" name="Step arrow 1"/>
          <p:cNvSpPr/>
          <p:nvPr/>
        </p:nvSpPr>
        <p:spPr>
          <a:xfrm>
            <a:off x="1280160" y="3849624"/>
            <a:ext cx="27432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19" name="Step box 2"/>
          <p:cNvSpPr/>
          <p:nvPr/>
        </p:nvSpPr>
        <p:spPr>
          <a:xfrm>
            <a:off x="548640" y="4050792"/>
            <a:ext cx="6400800" cy="86868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0" name="Step lab 2"/>
          <p:cNvSpPr/>
          <p:nvPr/>
        </p:nvSpPr>
        <p:spPr>
          <a:xfrm>
            <a:off x="548640" y="4050792"/>
            <a:ext cx="173736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AI要約</a:t>
            </a:r>
            <a:endParaRPr lang="ja-JP" sz="1600"/>
          </a:p>
        </p:txBody>
      </p:sp>
      <p:sp>
        <p:nvSpPr>
          <p:cNvPr id="21" name="Step text 2"/>
          <p:cNvSpPr/>
          <p:nvPr/>
        </p:nvSpPr>
        <p:spPr>
          <a:xfrm>
            <a:off x="2514600" y="4050792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6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それぞれの会話を、AIが要約する</a:t>
            </a:r>
            <a:endParaRPr lang="ja-JP" sz="1600"/>
          </a:p>
        </p:txBody>
      </p:sp>
      <p:sp>
        <p:nvSpPr>
          <p:cNvPr id="22" name="Step arrow 2"/>
          <p:cNvSpPr/>
          <p:nvPr/>
        </p:nvSpPr>
        <p:spPr>
          <a:xfrm>
            <a:off x="1280160" y="4937760"/>
            <a:ext cx="27432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23" name="Step box 3"/>
          <p:cNvSpPr/>
          <p:nvPr/>
        </p:nvSpPr>
        <p:spPr>
          <a:xfrm>
            <a:off x="548640" y="5138928"/>
            <a:ext cx="6400800" cy="86868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4" name="Step lab 3"/>
          <p:cNvSpPr/>
          <p:nvPr/>
        </p:nvSpPr>
        <p:spPr>
          <a:xfrm>
            <a:off x="548640" y="5138928"/>
            <a:ext cx="173736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検索用MCP</a:t>
            </a:r>
            <a:endParaRPr lang="ja-JP" sz="1600"/>
          </a:p>
        </p:txBody>
      </p:sp>
      <p:sp>
        <p:nvSpPr>
          <p:cNvPr id="25" name="Step text 3"/>
          <p:cNvSpPr/>
          <p:nvPr/>
        </p:nvSpPr>
        <p:spPr>
          <a:xfrm>
            <a:off x="2514600" y="5138928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6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AIからも、過去の会話を検索できる</a:t>
            </a:r>
            <a:endParaRPr lang="ja-JP" sz="1600"/>
          </a:p>
        </p:txBody>
      </p:sp>
      <p:pic>
        <p:nvPicPr>
          <p:cNvPr id="26" name="Illust second brain" descr="second brainのイラスト"/>
          <p:cNvPicPr>
            <a:picLocks noChangeAspect="1"/>
          </p:cNvPicPr>
          <p:nvPr/>
        </p:nvPicPr>
        <p:blipFill>
          <a:blip r:embed="rIdG4Img2"/>
          <a:stretch>
            <a:fillRect/>
          </a:stretch>
        </p:blipFill>
        <p:spPr>
          <a:xfrm>
            <a:off x="7269480" y="1874520"/>
            <a:ext cx="4373575" cy="2460136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27" name="Metric box"/>
          <p:cNvSpPr/>
          <p:nvPr/>
        </p:nvSpPr>
        <p:spPr>
          <a:xfrm>
            <a:off x="7269480" y="4517536"/>
            <a:ext cx="4373575" cy="1718672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8" name="Metric num"/>
          <p:cNvSpPr/>
          <p:nvPr/>
        </p:nvSpPr>
        <p:spPr>
          <a:xfrm>
            <a:off x="7498080" y="465469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40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約800</a:t>
            </a:r>
            <a:r>
              <a:rPr lang="ja-JP" altLang="en-US" sz="1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件</a:t>
            </a:r>
            <a:endParaRPr lang="ja-JP" sz="4000"/>
          </a:p>
        </p:txBody>
      </p:sp>
      <p:sp>
        <p:nvSpPr>
          <p:cNvPr id="29" name="Metric label"/>
          <p:cNvSpPr/>
          <p:nvPr/>
        </p:nvSpPr>
        <p:spPr>
          <a:xfrm>
            <a:off x="10287000" y="4654696"/>
            <a:ext cx="12188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AIとの会話を</a:t>
            </a:r>
            <a:endParaRPr lang="ja-JP" sz="1300"/>
          </a:p>
          <a:p>
            <a:pPr algn="l">
              <a:lnSpc>
                <a:spcPct val="100000"/>
              </a:lnSpc>
            </a:pPr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ひとつの場所に</a:t>
            </a:r>
            <a:endParaRPr lang="ja-JP" sz="1300"/>
          </a:p>
        </p:txBody>
      </p:sp>
      <p:sp>
        <p:nvSpPr>
          <p:cNvPr id="30" name="Metric rule"/>
          <p:cNvSpPr/>
          <p:nvPr/>
        </p:nvSpPr>
        <p:spPr>
          <a:xfrm>
            <a:off x="7498080" y="5660536"/>
            <a:ext cx="3916375" cy="914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31" name="Metric sub"/>
          <p:cNvSpPr/>
          <p:nvPr/>
        </p:nvSpPr>
        <p:spPr>
          <a:xfrm>
            <a:off x="7498080" y="5724544"/>
            <a:ext cx="391637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15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Grok Bot・Claude・Gemini・AI Studio・ChatGPT</a:t>
            </a:r>
            <a:endParaRPr lang="ja-JP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suru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①  </a:t>
            </a:r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出身地・福井県敦賀市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日本海・敦賀湾に面した嶺南最大のまち。2024年には北陸新幹線がつながりました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4 / 14</a:t>
            </a:r>
            <a:endParaRPr lang="ja-JP" sz="1000"/>
          </a:p>
        </p:txBody>
      </p:sp>
      <p:sp>
        <p:nvSpPr>
          <p:cNvPr id="11" name="KPI box 0"/>
          <p:cNvSpPr/>
          <p:nvPr/>
        </p:nvSpPr>
        <p:spPr>
          <a:xfrm>
            <a:off x="548640" y="1874520"/>
            <a:ext cx="1737360" cy="11887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2" name="KPI bar 0"/>
          <p:cNvSpPr/>
          <p:nvPr/>
        </p:nvSpPr>
        <p:spPr>
          <a:xfrm>
            <a:off x="548640" y="1874520"/>
            <a:ext cx="54864" cy="118872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3" name="KPI num 0"/>
          <p:cNvSpPr/>
          <p:nvPr/>
        </p:nvSpPr>
        <p:spPr>
          <a:xfrm>
            <a:off x="685800" y="196596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約6万人</a:t>
            </a:r>
            <a:endParaRPr lang="ja-JP" sz="2600"/>
          </a:p>
        </p:txBody>
      </p:sp>
      <p:sp>
        <p:nvSpPr>
          <p:cNvPr id="14" name="KPI label 0"/>
          <p:cNvSpPr/>
          <p:nvPr/>
        </p:nvSpPr>
        <p:spPr>
          <a:xfrm>
            <a:off x="685800" y="25786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人口（嶺南地方で最多）</a:t>
            </a:r>
            <a:endParaRPr lang="ja-JP" sz="1200"/>
          </a:p>
        </p:txBody>
      </p:sp>
      <p:sp>
        <p:nvSpPr>
          <p:cNvPr id="15" name="KPI box 1"/>
          <p:cNvSpPr/>
          <p:nvPr/>
        </p:nvSpPr>
        <p:spPr>
          <a:xfrm>
            <a:off x="2423160" y="1874520"/>
            <a:ext cx="1737360" cy="11887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6" name="KPI bar 1"/>
          <p:cNvSpPr/>
          <p:nvPr/>
        </p:nvSpPr>
        <p:spPr>
          <a:xfrm>
            <a:off x="2423160" y="1874520"/>
            <a:ext cx="54864" cy="118872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7" name="KPI num 1"/>
          <p:cNvSpPr/>
          <p:nvPr/>
        </p:nvSpPr>
        <p:spPr>
          <a:xfrm>
            <a:off x="2560320" y="196596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敦賀湾</a:t>
            </a:r>
            <a:endParaRPr lang="ja-JP" sz="2600"/>
          </a:p>
        </p:txBody>
      </p:sp>
      <p:sp>
        <p:nvSpPr>
          <p:cNvPr id="18" name="KPI label 1"/>
          <p:cNvSpPr/>
          <p:nvPr/>
        </p:nvSpPr>
        <p:spPr>
          <a:xfrm>
            <a:off x="2560320" y="25786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日本海に面した港町</a:t>
            </a:r>
            <a:endParaRPr lang="ja-JP" sz="1200"/>
          </a:p>
        </p:txBody>
      </p:sp>
      <p:sp>
        <p:nvSpPr>
          <p:cNvPr id="19" name="KPI box 2"/>
          <p:cNvSpPr/>
          <p:nvPr/>
        </p:nvSpPr>
        <p:spPr>
          <a:xfrm>
            <a:off x="4297680" y="1874520"/>
            <a:ext cx="1737360" cy="11887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0" name="KPI bar 2"/>
          <p:cNvSpPr/>
          <p:nvPr/>
        </p:nvSpPr>
        <p:spPr>
          <a:xfrm>
            <a:off x="4297680" y="1874520"/>
            <a:ext cx="54864" cy="118872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1" name="KPI num 2"/>
          <p:cNvSpPr/>
          <p:nvPr/>
        </p:nvSpPr>
        <p:spPr>
          <a:xfrm>
            <a:off x="4434840" y="196596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2024.3</a:t>
            </a:r>
            <a:endParaRPr lang="ja-JP" sz="2600"/>
          </a:p>
        </p:txBody>
      </p:sp>
      <p:sp>
        <p:nvSpPr>
          <p:cNvPr id="22" name="KPI label 2"/>
          <p:cNvSpPr/>
          <p:nvPr/>
        </p:nvSpPr>
        <p:spPr>
          <a:xfrm>
            <a:off x="4434840" y="25786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北陸新幹線 敦賀開業</a:t>
            </a:r>
            <a:endParaRPr lang="ja-JP" sz="1200"/>
          </a:p>
        </p:txBody>
      </p:sp>
      <p:sp>
        <p:nvSpPr>
          <p:cNvPr id="23" name="Point dot 0"/>
          <p:cNvSpPr/>
          <p:nvPr/>
        </p:nvSpPr>
        <p:spPr>
          <a:xfrm>
            <a:off x="548640" y="3364992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4" name="Point head 0"/>
          <p:cNvSpPr/>
          <p:nvPr/>
        </p:nvSpPr>
        <p:spPr>
          <a:xfrm>
            <a:off x="822960" y="3291840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日本海・敦賀湾に面するまち</a:t>
            </a:r>
            <a:endParaRPr lang="ja-JP" sz="1500"/>
          </a:p>
        </p:txBody>
      </p:sp>
      <p:sp>
        <p:nvSpPr>
          <p:cNvPr id="25" name="Point sub 0"/>
          <p:cNvSpPr/>
          <p:nvPr/>
        </p:nvSpPr>
        <p:spPr>
          <a:xfrm>
            <a:off x="822960" y="3621024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福井県嶺南地方にあり、嶺南で人口が最も多い市</a:t>
            </a:r>
            <a:endParaRPr lang="ja-JP" sz="1250"/>
          </a:p>
        </p:txBody>
      </p:sp>
      <p:sp>
        <p:nvSpPr>
          <p:cNvPr id="26" name="Point rule 0"/>
          <p:cNvSpPr/>
          <p:nvPr/>
        </p:nvSpPr>
        <p:spPr>
          <a:xfrm>
            <a:off x="822960" y="3986784"/>
            <a:ext cx="5212080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7" name="Point dot 1"/>
          <p:cNvSpPr/>
          <p:nvPr/>
        </p:nvSpPr>
        <p:spPr>
          <a:xfrm>
            <a:off x="548640" y="4114800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8" name="Point head 1"/>
          <p:cNvSpPr/>
          <p:nvPr/>
        </p:nvSpPr>
        <p:spPr>
          <a:xfrm>
            <a:off x="822960" y="4041648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人口 59,913人</a:t>
            </a:r>
            <a:endParaRPr lang="ja-JP" sz="1500"/>
          </a:p>
        </p:txBody>
      </p:sp>
      <p:sp>
        <p:nvSpPr>
          <p:cNvPr id="29" name="Point sub 1"/>
          <p:cNvSpPr/>
          <p:nvPr/>
        </p:nvSpPr>
        <p:spPr>
          <a:xfrm>
            <a:off x="822960" y="4370832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推計人口（2026年9月1日）。おおよそ6万人のまち</a:t>
            </a:r>
            <a:endParaRPr lang="ja-JP" sz="1250"/>
          </a:p>
        </p:txBody>
      </p:sp>
      <p:sp>
        <p:nvSpPr>
          <p:cNvPr id="30" name="Point rule 1"/>
          <p:cNvSpPr/>
          <p:nvPr/>
        </p:nvSpPr>
        <p:spPr>
          <a:xfrm>
            <a:off x="822960" y="4736592"/>
            <a:ext cx="5212080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1" name="Point dot 2"/>
          <p:cNvSpPr/>
          <p:nvPr/>
        </p:nvSpPr>
        <p:spPr>
          <a:xfrm>
            <a:off x="548640" y="4864608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2" name="Point head 2"/>
          <p:cNvSpPr/>
          <p:nvPr/>
        </p:nvSpPr>
        <p:spPr>
          <a:xfrm>
            <a:off x="822960" y="4791456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気比の松原（けひのまつばら）</a:t>
            </a:r>
            <a:endParaRPr lang="ja-JP" sz="1500"/>
          </a:p>
        </p:txBody>
      </p:sp>
      <p:sp>
        <p:nvSpPr>
          <p:cNvPr id="33" name="Point sub 2"/>
          <p:cNvSpPr/>
          <p:nvPr/>
        </p:nvSpPr>
        <p:spPr>
          <a:xfrm>
            <a:off x="822960" y="5120640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敦賀湾に臨む松原。日本三大松原の一つで、国の名勝</a:t>
            </a:r>
            <a:endParaRPr lang="ja-JP" sz="1250"/>
          </a:p>
        </p:txBody>
      </p:sp>
      <p:sp>
        <p:nvSpPr>
          <p:cNvPr id="34" name="Point rule 2"/>
          <p:cNvSpPr/>
          <p:nvPr/>
        </p:nvSpPr>
        <p:spPr>
          <a:xfrm>
            <a:off x="822960" y="5486400"/>
            <a:ext cx="5212080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5" name="Point dot 3"/>
          <p:cNvSpPr/>
          <p:nvPr/>
        </p:nvSpPr>
        <p:spPr>
          <a:xfrm>
            <a:off x="548640" y="5614416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6" name="Point head 3"/>
          <p:cNvSpPr/>
          <p:nvPr/>
        </p:nvSpPr>
        <p:spPr>
          <a:xfrm>
            <a:off x="822960" y="5541264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北陸新幹線 敦賀開業</a:t>
            </a:r>
            <a:endParaRPr lang="ja-JP" sz="1500"/>
          </a:p>
        </p:txBody>
      </p:sp>
      <p:sp>
        <p:nvSpPr>
          <p:cNvPr id="37" name="Point sub 3"/>
          <p:cNvSpPr/>
          <p:nvPr/>
        </p:nvSpPr>
        <p:spPr>
          <a:xfrm>
            <a:off x="822960" y="5870448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2024年3月16日、金沢–敦賀間が延伸開業。敦賀駅が終着駅</a:t>
            </a:r>
            <a:endParaRPr lang="ja-JP" sz="1250"/>
          </a:p>
        </p:txBody>
      </p:sp>
      <p:pic>
        <p:nvPicPr>
          <p:cNvPr id="38" name="Photo kehi_matsubara_user.jpg" descr="気比の松原と日本海"/>
          <p:cNvPicPr>
            <a:picLocks noChangeAspect="1"/>
          </p:cNvPicPr>
          <p:nvPr/>
        </p:nvPicPr>
        <p:blipFill>
          <a:blip r:embed="rIdG2Hero2"/>
          <a:srcRect l="106" t="0" r="106" b="0"/>
          <a:stretch>
            <a:fillRect/>
          </a:stretch>
        </p:blipFill>
        <p:spPr>
          <a:xfrm>
            <a:off x="6309360" y="1874520"/>
            <a:ext cx="5333695" cy="3566160"/>
          </a:xfrm>
          <a:prstGeom prst="rect">
            <a:avLst/>
          </a:prstGeom>
        </p:spPr>
      </p:pic>
      <p:sp>
        <p:nvSpPr>
          <p:cNvPr id="39" name="Photo label"/>
          <p:cNvSpPr/>
          <p:nvPr/>
        </p:nvSpPr>
        <p:spPr>
          <a:xfrm>
            <a:off x="6309360" y="5029200"/>
            <a:ext cx="265176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気比の松原と日本海</a:t>
            </a:r>
            <a:endParaRPr lang="ja-JP" sz="1300"/>
          </a:p>
        </p:txBody>
      </p:sp>
      <p:sp>
        <p:nvSpPr>
          <p:cNvPr id="40" name="Credit"/>
          <p:cNvSpPr/>
          <p:nvPr/>
        </p:nvSpPr>
        <p:spPr>
          <a:xfrm>
            <a:off x="6309360" y="5486400"/>
            <a:ext cx="5333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写真：気比の松原と日本海｜出典：敦賀うまいもん（tsuruga-umaimon.com）</a:t>
            </a:r>
            <a:endParaRPr lang="ja-JP" sz="900"/>
          </a:p>
        </p:txBody>
      </p:sp>
      <p:sp>
        <p:nvSpPr>
          <p:cNvPr id="41" name="Source note"/>
          <p:cNvSpPr/>
          <p:nvPr/>
        </p:nvSpPr>
        <p:spPr>
          <a:xfrm>
            <a:off x="6309360" y="5943600"/>
            <a:ext cx="5333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ja-JP" altLang="en-US" sz="9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出典：Wikipedia「敦賀市」（2026年10月13日参照）</a:t>
            </a:r>
            <a:endParaRPr lang="ja-JP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vy panel"/>
          <p:cNvSpPr/>
          <p:nvPr/>
        </p:nvSpPr>
        <p:spPr>
          <a:xfrm>
            <a:off x="0" y="0"/>
            <a:ext cx="432785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Orange edge"/>
          <p:cNvSpPr/>
          <p:nvPr/>
        </p:nvSpPr>
        <p:spPr>
          <a:xfrm>
            <a:off x="4327855" y="0"/>
            <a:ext cx="73152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5" name="Top line"/>
          <p:cNvSpPr/>
          <p:nvPr/>
        </p:nvSpPr>
        <p:spPr>
          <a:xfrm>
            <a:off x="4401007" y="0"/>
            <a:ext cx="7790688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6" name="Kyusei 4"/>
          <p:cNvSpPr/>
          <p:nvPr/>
        </p:nvSpPr>
        <p:spPr>
          <a:xfrm>
            <a:off x="947776" y="2011680"/>
            <a:ext cx="731520" cy="7315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4</a:t>
            </a:r>
            <a:endParaRPr lang="ja-JP" sz="2200"/>
          </a:p>
        </p:txBody>
      </p:sp>
      <p:sp>
        <p:nvSpPr>
          <p:cNvPr id="7" name="Kyusei 9"/>
          <p:cNvSpPr/>
          <p:nvPr/>
        </p:nvSpPr>
        <p:spPr>
          <a:xfrm>
            <a:off x="1798168" y="2011680"/>
            <a:ext cx="731520" cy="7315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9</a:t>
            </a:r>
            <a:endParaRPr lang="ja-JP" sz="2200"/>
          </a:p>
        </p:txBody>
      </p:sp>
      <p:sp>
        <p:nvSpPr>
          <p:cNvPr id="8" name="Kyusei 2"/>
          <p:cNvSpPr/>
          <p:nvPr/>
        </p:nvSpPr>
        <p:spPr>
          <a:xfrm>
            <a:off x="2648560" y="2011680"/>
            <a:ext cx="731520" cy="7315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  <a:endParaRPr lang="ja-JP" sz="2200"/>
          </a:p>
        </p:txBody>
      </p:sp>
      <p:sp>
        <p:nvSpPr>
          <p:cNvPr id="9" name="Kyusei 3"/>
          <p:cNvSpPr/>
          <p:nvPr/>
        </p:nvSpPr>
        <p:spPr>
          <a:xfrm>
            <a:off x="947776" y="2862072"/>
            <a:ext cx="731520" cy="7315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  <a:endParaRPr lang="ja-JP" sz="2200"/>
          </a:p>
        </p:txBody>
      </p:sp>
      <p:sp>
        <p:nvSpPr>
          <p:cNvPr id="10" name="Kyusei 5"/>
          <p:cNvSpPr/>
          <p:nvPr/>
        </p:nvSpPr>
        <p:spPr>
          <a:xfrm>
            <a:off x="1798168" y="2862072"/>
            <a:ext cx="731520" cy="7315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5</a:t>
            </a:r>
            <a:endParaRPr lang="ja-JP" sz="2200"/>
          </a:p>
        </p:txBody>
      </p:sp>
      <p:sp>
        <p:nvSpPr>
          <p:cNvPr id="11" name="Kyusei 7"/>
          <p:cNvSpPr/>
          <p:nvPr/>
        </p:nvSpPr>
        <p:spPr>
          <a:xfrm>
            <a:off x="2648560" y="2862072"/>
            <a:ext cx="731520" cy="7315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7</a:t>
            </a:r>
            <a:endParaRPr lang="ja-JP" sz="2200"/>
          </a:p>
        </p:txBody>
      </p:sp>
      <p:sp>
        <p:nvSpPr>
          <p:cNvPr id="12" name="Kyusei 8"/>
          <p:cNvSpPr/>
          <p:nvPr/>
        </p:nvSpPr>
        <p:spPr>
          <a:xfrm>
            <a:off x="947776" y="3712464"/>
            <a:ext cx="731520" cy="7315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8</a:t>
            </a:r>
            <a:endParaRPr lang="ja-JP" sz="2200"/>
          </a:p>
        </p:txBody>
      </p:sp>
      <p:sp>
        <p:nvSpPr>
          <p:cNvPr id="13" name="Kyusei 1"/>
          <p:cNvSpPr/>
          <p:nvPr/>
        </p:nvSpPr>
        <p:spPr>
          <a:xfrm>
            <a:off x="1798168" y="3712464"/>
            <a:ext cx="731520" cy="7315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  <a:endParaRPr lang="ja-JP" sz="2200"/>
          </a:p>
        </p:txBody>
      </p:sp>
      <p:sp>
        <p:nvSpPr>
          <p:cNvPr id="14" name="Kyusei 6"/>
          <p:cNvSpPr/>
          <p:nvPr/>
        </p:nvSpPr>
        <p:spPr>
          <a:xfrm>
            <a:off x="2648560" y="3712464"/>
            <a:ext cx="731520" cy="7315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6</a:t>
            </a:r>
            <a:endParaRPr lang="ja-JP" sz="2200"/>
          </a:p>
        </p:txBody>
      </p:sp>
      <p:sp>
        <p:nvSpPr>
          <p:cNvPr id="15" name="Kicker bar"/>
          <p:cNvSpPr/>
          <p:nvPr/>
        </p:nvSpPr>
        <p:spPr>
          <a:xfrm>
            <a:off x="5120640" y="1965960"/>
            <a:ext cx="82296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6" name="Thanks"/>
          <p:cNvSpPr/>
          <p:nvPr/>
        </p:nvSpPr>
        <p:spPr>
          <a:xfrm>
            <a:off x="5120640" y="2240280"/>
            <a:ext cx="658368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ご清聴</a:t>
            </a:r>
            <a:endParaRPr lang="ja-JP" sz="4800"/>
          </a:p>
          <a:p>
            <a:pPr algn="l">
              <a:lnSpc>
                <a:spcPct val="110000"/>
              </a:lnSpc>
            </a:pPr>
            <a:r>
              <a:rPr lang="ja-JP" altLang="en-US" sz="4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ありがとうございました</a:t>
            </a:r>
            <a:endParaRPr lang="ja-JP" sz="4800"/>
          </a:p>
        </p:txBody>
      </p:sp>
      <p:sp>
        <p:nvSpPr>
          <p:cNvPr id="17" name="Closing rule"/>
          <p:cNvSpPr/>
          <p:nvPr/>
        </p:nvSpPr>
        <p:spPr>
          <a:xfrm>
            <a:off x="5120640" y="4343400"/>
            <a:ext cx="6035040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Closing name"/>
          <p:cNvSpPr/>
          <p:nvPr/>
        </p:nvSpPr>
        <p:spPr>
          <a:xfrm>
            <a:off x="5120640" y="448056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石橋 真</a:t>
            </a:r>
            <a:r>
              <a:rPr lang="ja-JP" altLang="en-US" sz="14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　｜　最近のあれこれ</a:t>
            </a:r>
            <a:endParaRPr lang="ja-JP" sz="2200"/>
          </a:p>
        </p:txBody>
      </p:sp>
      <p:sp>
        <p:nvSpPr>
          <p:cNvPr id="19" name="Footer rule"/>
          <p:cNvSpPr/>
          <p:nvPr/>
        </p:nvSpPr>
        <p:spPr>
          <a:xfrm>
            <a:off x="5120640" y="6355080"/>
            <a:ext cx="6522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0" name="Footer"/>
          <p:cNvSpPr/>
          <p:nvPr/>
        </p:nvSpPr>
        <p:spPr>
          <a:xfrm>
            <a:off x="5120640" y="6400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21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13 / 14</a:t>
            </a:r>
            <a:endParaRPr lang="ja-JP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ud Palet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②  </a:t>
            </a:r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Cloud Palette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引越しの方位とタイミングを決める ― 九星気学・方位・暦をWebで扱う個人開発サイト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10 / 14</a:t>
            </a:r>
            <a:endParaRPr lang="ja-JP" sz="1000"/>
          </a:p>
        </p:txBody>
      </p:sp>
      <p:sp>
        <p:nvSpPr>
          <p:cNvPr id="11" name="Brand"/>
          <p:cNvSpPr/>
          <p:nvPr/>
        </p:nvSpPr>
        <p:spPr>
          <a:xfrm>
            <a:off x="548640" y="1783080"/>
            <a:ext cx="41605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3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Cloud Palette</a:t>
            </a:r>
            <a:endParaRPr lang="ja-JP" sz="3200"/>
          </a:p>
        </p:txBody>
      </p:sp>
      <p:sp>
        <p:nvSpPr>
          <p:cNvPr id="12" name="URL"/>
          <p:cNvSpPr/>
          <p:nvPr/>
        </p:nvSpPr>
        <p:spPr>
          <a:xfrm>
            <a:off x="548640" y="237744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altLang="ja-JP" sz="1500" b="1" u="sng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  <a:hlinkClick r:id="rIdCPLink"/>
              </a:rPr>
              <a:t>https://cloud-palette.com/</a:t>
            </a:r>
            <a:endParaRPr lang="ja-JP" sz="1500"/>
          </a:p>
        </p:txBody>
      </p:sp>
      <p:sp>
        <p:nvSpPr>
          <p:cNvPr id="13" name="Feat head"/>
          <p:cNvSpPr/>
          <p:nvPr/>
        </p:nvSpPr>
        <p:spPr>
          <a:xfrm>
            <a:off x="548640" y="2880360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主な機能</a:t>
            </a:r>
            <a:endParaRPr lang="ja-JP" sz="1400"/>
          </a:p>
        </p:txBody>
      </p:sp>
      <p:sp>
        <p:nvSpPr>
          <p:cNvPr id="14" name="Feat box 0"/>
          <p:cNvSpPr/>
          <p:nvPr/>
        </p:nvSpPr>
        <p:spPr>
          <a:xfrm>
            <a:off x="548640" y="3246120"/>
            <a:ext cx="4160520" cy="475488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5" name="Feat mark 0"/>
          <p:cNvSpPr/>
          <p:nvPr/>
        </p:nvSpPr>
        <p:spPr>
          <a:xfrm>
            <a:off x="548640" y="3246120"/>
            <a:ext cx="73152" cy="47548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6" name="Feat text 0"/>
          <p:cNvSpPr/>
          <p:nvPr/>
        </p:nvSpPr>
        <p:spPr>
          <a:xfrm>
            <a:off x="777240" y="324612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方位で街を探す</a:t>
            </a:r>
            <a:endParaRPr lang="ja-JP" sz="1500"/>
          </a:p>
        </p:txBody>
      </p:sp>
      <p:sp>
        <p:nvSpPr>
          <p:cNvPr id="17" name="Feat box 1"/>
          <p:cNvSpPr/>
          <p:nvPr/>
        </p:nvSpPr>
        <p:spPr>
          <a:xfrm>
            <a:off x="548640" y="3794760"/>
            <a:ext cx="4160520" cy="475488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8" name="Feat mark 1"/>
          <p:cNvSpPr/>
          <p:nvPr/>
        </p:nvSpPr>
        <p:spPr>
          <a:xfrm>
            <a:off x="548640" y="3794760"/>
            <a:ext cx="73152" cy="47548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9" name="Feat text 1"/>
          <p:cNvSpPr/>
          <p:nvPr/>
        </p:nvSpPr>
        <p:spPr>
          <a:xfrm>
            <a:off x="777240" y="379476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引越し先を試算</a:t>
            </a:r>
            <a:endParaRPr lang="ja-JP" sz="1500"/>
          </a:p>
        </p:txBody>
      </p:sp>
      <p:sp>
        <p:nvSpPr>
          <p:cNvPr id="20" name="Feat box 2"/>
          <p:cNvSpPr/>
          <p:nvPr/>
        </p:nvSpPr>
        <p:spPr>
          <a:xfrm>
            <a:off x="548640" y="4343400"/>
            <a:ext cx="4160520" cy="475488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1" name="Feat mark 2"/>
          <p:cNvSpPr/>
          <p:nvPr/>
        </p:nvSpPr>
        <p:spPr>
          <a:xfrm>
            <a:off x="548640" y="4343400"/>
            <a:ext cx="73152" cy="47548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2" name="Feat text 2"/>
          <p:cNvSpPr/>
          <p:nvPr/>
        </p:nvSpPr>
        <p:spPr>
          <a:xfrm>
            <a:off x="777240" y="434340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本命星と吉方位</a:t>
            </a:r>
            <a:endParaRPr lang="ja-JP" sz="1500"/>
          </a:p>
        </p:txBody>
      </p:sp>
      <p:sp>
        <p:nvSpPr>
          <p:cNvPr id="23" name="Feat box 3"/>
          <p:cNvSpPr/>
          <p:nvPr/>
        </p:nvSpPr>
        <p:spPr>
          <a:xfrm>
            <a:off x="548640" y="4892040"/>
            <a:ext cx="4160520" cy="475488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4" name="Feat mark 3"/>
          <p:cNvSpPr/>
          <p:nvPr/>
        </p:nvSpPr>
        <p:spPr>
          <a:xfrm>
            <a:off x="548640" y="4892040"/>
            <a:ext cx="73152" cy="475488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5" name="Feat text 3"/>
          <p:cNvSpPr/>
          <p:nvPr/>
        </p:nvSpPr>
        <p:spPr>
          <a:xfrm>
            <a:off x="777240" y="489204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風水（八宅）</a:t>
            </a:r>
            <a:endParaRPr lang="ja-JP" sz="1500"/>
          </a:p>
        </p:txBody>
      </p:sp>
      <p:sp>
        <p:nvSpPr>
          <p:cNvPr id="26" name="Tech label"/>
          <p:cNvSpPr/>
          <p:nvPr/>
        </p:nvSpPr>
        <p:spPr>
          <a:xfrm>
            <a:off x="548640" y="5532120"/>
            <a:ext cx="822960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技術</a:t>
            </a:r>
            <a:endParaRPr lang="ja-JP" sz="1200"/>
          </a:p>
        </p:txBody>
      </p:sp>
      <p:sp>
        <p:nvSpPr>
          <p:cNvPr id="27" name="Tech text"/>
          <p:cNvSpPr/>
          <p:nvPr/>
        </p:nvSpPr>
        <p:spPr>
          <a:xfrm>
            <a:off x="1463040" y="5532120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2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Next.js・React・TypeScript・</a:t>
            </a:r>
            <a:endParaRPr lang="ja-JP" sz="1200"/>
          </a:p>
          <a:p>
            <a:pPr algn="l">
              <a:lnSpc>
                <a:spcPct val="100000"/>
              </a:lnSpc>
            </a:pPr>
            <a:r>
              <a:rPr lang="ja-JP" altLang="en-US" sz="12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Supabase・Vercel・Google Cloud</a:t>
            </a:r>
            <a:endParaRPr lang="ja-JP" sz="1200"/>
          </a:p>
        </p:txBody>
      </p:sp>
      <p:pic>
        <p:nvPicPr>
          <p:cNvPr id="28" name="Photo cp_top.png" descr="Cloud Palette トップ画面"/>
          <p:cNvPicPr>
            <a:picLocks noChangeAspect="1"/>
          </p:cNvPicPr>
          <p:nvPr/>
        </p:nvPicPr>
        <p:blipFill>
          <a:blip r:embed="rIdCPTop"/>
          <a:srcRect l="0" t="0" r="0" b="0"/>
          <a:stretch>
            <a:fillRect/>
          </a:stretch>
        </p:blipFill>
        <p:spPr>
          <a:xfrm>
            <a:off x="4983480" y="1874520"/>
            <a:ext cx="4480560" cy="280035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29" name="Photo cp_feature1.png" descr="Cloud Palette 機能画面1"/>
          <p:cNvPicPr>
            <a:picLocks noChangeAspect="1"/>
          </p:cNvPicPr>
          <p:nvPr/>
        </p:nvPicPr>
        <p:blipFill>
          <a:blip r:embed="rIdCPF1"/>
          <a:srcRect l="0" t="0" r="0" b="0"/>
          <a:stretch>
            <a:fillRect/>
          </a:stretch>
        </p:blipFill>
        <p:spPr>
          <a:xfrm>
            <a:off x="9601200" y="1874520"/>
            <a:ext cx="2041855" cy="1276159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30" name="Photo cp_feature2.png" descr="Cloud Palette 機能画面2"/>
          <p:cNvPicPr>
            <a:picLocks noChangeAspect="1"/>
          </p:cNvPicPr>
          <p:nvPr/>
        </p:nvPicPr>
        <p:blipFill>
          <a:blip r:embed="rIdCPF2"/>
          <a:srcRect l="0" t="0" r="0" b="0"/>
          <a:stretch>
            <a:fillRect/>
          </a:stretch>
        </p:blipFill>
        <p:spPr>
          <a:xfrm>
            <a:off x="9601200" y="3287839"/>
            <a:ext cx="2041855" cy="1276159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31" name="Shot credit"/>
          <p:cNvSpPr/>
          <p:nvPr/>
        </p:nvSpPr>
        <p:spPr>
          <a:xfrm>
            <a:off x="4983480" y="4720590"/>
            <a:ext cx="665957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rtlCol="0">
            <a:noAutofit/>
          </a:bodyPr>
          <a:lstStyle/>
          <a:p>
            <a:pPr algn="l"/>
            <a:r>
              <a:rPr lang="ja-JP" altLang="en-US" sz="9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画面：自作サイト（cloud-palette.com）</a:t>
            </a:r>
            <a:endParaRPr lang="ja-JP" sz="900"/>
          </a:p>
        </p:txBody>
      </p:sp>
      <p:sp>
        <p:nvSpPr>
          <p:cNvPr id="32" name="Tags heading"/>
          <p:cNvSpPr/>
          <p:nvPr/>
        </p:nvSpPr>
        <p:spPr>
          <a:xfrm>
            <a:off x="4983480" y="50749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最近の追加</a:t>
            </a:r>
            <a:endParaRPr lang="ja-JP" sz="1300"/>
          </a:p>
        </p:txBody>
      </p:sp>
      <p:sp>
        <p:nvSpPr>
          <p:cNvPr id="33" name="Tag box 0"/>
          <p:cNvSpPr/>
          <p:nvPr/>
        </p:nvSpPr>
        <p:spPr>
          <a:xfrm>
            <a:off x="4983480" y="5486400"/>
            <a:ext cx="3261208" cy="68580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</p:sp>
      <p:sp>
        <p:nvSpPr>
          <p:cNvPr id="34" name="Tag badge 0"/>
          <p:cNvSpPr/>
          <p:nvPr/>
        </p:nvSpPr>
        <p:spPr>
          <a:xfrm>
            <a:off x="5166360" y="5669280"/>
            <a:ext cx="731520" cy="3200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NEW</a:t>
            </a:r>
            <a:endParaRPr lang="ja-JP" sz="1100"/>
          </a:p>
        </p:txBody>
      </p:sp>
      <p:sp>
        <p:nvSpPr>
          <p:cNvPr id="35" name="Tag text 0"/>
          <p:cNvSpPr/>
          <p:nvPr/>
        </p:nvSpPr>
        <p:spPr>
          <a:xfrm>
            <a:off x="6035040" y="5486400"/>
            <a:ext cx="211820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MCPサーバー</a:t>
            </a:r>
            <a:endParaRPr lang="ja-JP" sz="1600"/>
          </a:p>
        </p:txBody>
      </p:sp>
      <p:sp>
        <p:nvSpPr>
          <p:cNvPr id="36" name="Tag box 1"/>
          <p:cNvSpPr/>
          <p:nvPr/>
        </p:nvSpPr>
        <p:spPr>
          <a:xfrm>
            <a:off x="8381848" y="5486400"/>
            <a:ext cx="3261208" cy="68580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</p:sp>
      <p:sp>
        <p:nvSpPr>
          <p:cNvPr id="37" name="Tag badge 1"/>
          <p:cNvSpPr/>
          <p:nvPr/>
        </p:nvSpPr>
        <p:spPr>
          <a:xfrm>
            <a:off x="8564728" y="5669280"/>
            <a:ext cx="731520" cy="3200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NEW</a:t>
            </a:r>
            <a:endParaRPr lang="ja-JP" sz="1100"/>
          </a:p>
        </p:txBody>
      </p:sp>
      <p:sp>
        <p:nvSpPr>
          <p:cNvPr id="38" name="Tag text 1"/>
          <p:cNvSpPr/>
          <p:nvPr/>
        </p:nvSpPr>
        <p:spPr>
          <a:xfrm>
            <a:off x="9433408" y="5486400"/>
            <a:ext cx="211820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ニュース</a:t>
            </a:r>
            <a:endParaRPr lang="ja-JP"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 us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②  </a:t>
            </a:r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Grok Botの使い方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用途ごとにボットを使い分けています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8 / 14</a:t>
            </a:r>
            <a:endParaRPr lang="ja-JP" sz="1000"/>
          </a:p>
        </p:txBody>
      </p:sp>
      <p:sp>
        <p:nvSpPr>
          <p:cNvPr id="11" name="Bot tile 0"/>
          <p:cNvSpPr/>
          <p:nvPr/>
        </p:nvSpPr>
        <p:spPr>
          <a:xfrm>
            <a:off x="548640" y="1874520"/>
            <a:ext cx="1565910" cy="21031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2" name="Bot bar 0"/>
          <p:cNvSpPr/>
          <p:nvPr/>
        </p:nvSpPr>
        <p:spPr>
          <a:xfrm>
            <a:off x="548640" y="1874520"/>
            <a:ext cx="156591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3" name="Bot icon 0"/>
          <p:cNvSpPr/>
          <p:nvPr/>
        </p:nvSpPr>
        <p:spPr>
          <a:xfrm>
            <a:off x="1011555" y="228600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Bot</a:t>
            </a:r>
            <a:endParaRPr lang="ja-JP" sz="1200"/>
          </a:p>
        </p:txBody>
      </p:sp>
      <p:sp>
        <p:nvSpPr>
          <p:cNvPr id="14" name="Bot name 0"/>
          <p:cNvSpPr/>
          <p:nvPr/>
        </p:nvSpPr>
        <p:spPr>
          <a:xfrm>
            <a:off x="594360" y="3063240"/>
            <a:ext cx="14744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SEO</a:t>
            </a:r>
            <a:endParaRPr lang="ja-JP" sz="1600"/>
          </a:p>
        </p:txBody>
      </p:sp>
      <p:sp>
        <p:nvSpPr>
          <p:cNvPr id="15" name="Bot cap 0"/>
          <p:cNvSpPr/>
          <p:nvPr/>
        </p:nvSpPr>
        <p:spPr>
          <a:xfrm>
            <a:off x="594360" y="36301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ボット</a:t>
            </a:r>
            <a:endParaRPr lang="ja-JP" sz="1100"/>
          </a:p>
        </p:txBody>
      </p:sp>
      <p:sp>
        <p:nvSpPr>
          <p:cNvPr id="16" name="Bot tile 1"/>
          <p:cNvSpPr/>
          <p:nvPr/>
        </p:nvSpPr>
        <p:spPr>
          <a:xfrm>
            <a:off x="2251710" y="1874520"/>
            <a:ext cx="1565910" cy="21031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7" name="Bot bar 1"/>
          <p:cNvSpPr/>
          <p:nvPr/>
        </p:nvSpPr>
        <p:spPr>
          <a:xfrm>
            <a:off x="2251710" y="1874520"/>
            <a:ext cx="156591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8" name="Bot icon 1"/>
          <p:cNvSpPr/>
          <p:nvPr/>
        </p:nvSpPr>
        <p:spPr>
          <a:xfrm>
            <a:off x="2714625" y="228600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Bot</a:t>
            </a:r>
            <a:endParaRPr lang="ja-JP" sz="1200"/>
          </a:p>
        </p:txBody>
      </p:sp>
      <p:sp>
        <p:nvSpPr>
          <p:cNvPr id="19" name="Bot name 1"/>
          <p:cNvSpPr/>
          <p:nvPr/>
        </p:nvSpPr>
        <p:spPr>
          <a:xfrm>
            <a:off x="2297430" y="3063240"/>
            <a:ext cx="14744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X投稿</a:t>
            </a:r>
            <a:endParaRPr lang="ja-JP" sz="1600"/>
          </a:p>
        </p:txBody>
      </p:sp>
      <p:sp>
        <p:nvSpPr>
          <p:cNvPr id="20" name="Bot cap 1"/>
          <p:cNvSpPr/>
          <p:nvPr/>
        </p:nvSpPr>
        <p:spPr>
          <a:xfrm>
            <a:off x="2297430" y="36301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ボット</a:t>
            </a:r>
            <a:endParaRPr lang="ja-JP" sz="1100"/>
          </a:p>
        </p:txBody>
      </p:sp>
      <p:sp>
        <p:nvSpPr>
          <p:cNvPr id="21" name="Bot tile 2"/>
          <p:cNvSpPr/>
          <p:nvPr/>
        </p:nvSpPr>
        <p:spPr>
          <a:xfrm>
            <a:off x="3954780" y="1874520"/>
            <a:ext cx="1565910" cy="21031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2" name="Bot bar 2"/>
          <p:cNvSpPr/>
          <p:nvPr/>
        </p:nvSpPr>
        <p:spPr>
          <a:xfrm>
            <a:off x="3954780" y="1874520"/>
            <a:ext cx="156591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3" name="Bot icon 2"/>
          <p:cNvSpPr/>
          <p:nvPr/>
        </p:nvSpPr>
        <p:spPr>
          <a:xfrm>
            <a:off x="4417695" y="228600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Bot</a:t>
            </a:r>
            <a:endParaRPr lang="ja-JP" sz="1200"/>
          </a:p>
        </p:txBody>
      </p:sp>
      <p:sp>
        <p:nvSpPr>
          <p:cNvPr id="24" name="Bot name 2"/>
          <p:cNvSpPr/>
          <p:nvPr/>
        </p:nvSpPr>
        <p:spPr>
          <a:xfrm>
            <a:off x="4000500" y="3063240"/>
            <a:ext cx="14744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YouTube</a:t>
            </a:r>
            <a:endParaRPr lang="ja-JP" sz="1600"/>
          </a:p>
        </p:txBody>
      </p:sp>
      <p:sp>
        <p:nvSpPr>
          <p:cNvPr id="25" name="Bot cap 2"/>
          <p:cNvSpPr/>
          <p:nvPr/>
        </p:nvSpPr>
        <p:spPr>
          <a:xfrm>
            <a:off x="4000500" y="36301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ボット</a:t>
            </a:r>
            <a:endParaRPr lang="ja-JP" sz="1100"/>
          </a:p>
        </p:txBody>
      </p:sp>
      <p:sp>
        <p:nvSpPr>
          <p:cNvPr id="26" name="Bot tile 3"/>
          <p:cNvSpPr/>
          <p:nvPr/>
        </p:nvSpPr>
        <p:spPr>
          <a:xfrm>
            <a:off x="5657850" y="1874520"/>
            <a:ext cx="1565910" cy="21031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7" name="Bot bar 3"/>
          <p:cNvSpPr/>
          <p:nvPr/>
        </p:nvSpPr>
        <p:spPr>
          <a:xfrm>
            <a:off x="5657850" y="1874520"/>
            <a:ext cx="156591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8" name="Bot icon 3"/>
          <p:cNvSpPr/>
          <p:nvPr/>
        </p:nvSpPr>
        <p:spPr>
          <a:xfrm>
            <a:off x="6120765" y="228600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Bot</a:t>
            </a:r>
            <a:endParaRPr lang="ja-JP" sz="1200"/>
          </a:p>
        </p:txBody>
      </p:sp>
      <p:sp>
        <p:nvSpPr>
          <p:cNvPr id="29" name="Bot name 3"/>
          <p:cNvSpPr/>
          <p:nvPr/>
        </p:nvSpPr>
        <p:spPr>
          <a:xfrm>
            <a:off x="5703570" y="3063240"/>
            <a:ext cx="14744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検索</a:t>
            </a:r>
            <a:endParaRPr lang="ja-JP" sz="1600"/>
          </a:p>
        </p:txBody>
      </p:sp>
      <p:sp>
        <p:nvSpPr>
          <p:cNvPr id="30" name="Bot cap 3"/>
          <p:cNvSpPr/>
          <p:nvPr/>
        </p:nvSpPr>
        <p:spPr>
          <a:xfrm>
            <a:off x="5703570" y="36301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ボット</a:t>
            </a:r>
            <a:endParaRPr lang="ja-JP" sz="1100"/>
          </a:p>
        </p:txBody>
      </p:sp>
      <p:sp>
        <p:nvSpPr>
          <p:cNvPr id="31" name="Bot tile 4"/>
          <p:cNvSpPr/>
          <p:nvPr/>
        </p:nvSpPr>
        <p:spPr>
          <a:xfrm>
            <a:off x="548640" y="4114800"/>
            <a:ext cx="2133600" cy="21031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32" name="Bot bar 4"/>
          <p:cNvSpPr/>
          <p:nvPr/>
        </p:nvSpPr>
        <p:spPr>
          <a:xfrm>
            <a:off x="548640" y="4114800"/>
            <a:ext cx="213360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33" name="Bot icon 4"/>
          <p:cNvSpPr/>
          <p:nvPr/>
        </p:nvSpPr>
        <p:spPr>
          <a:xfrm>
            <a:off x="1295400" y="452628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Bot</a:t>
            </a:r>
            <a:endParaRPr lang="ja-JP" sz="1200"/>
          </a:p>
        </p:txBody>
      </p:sp>
      <p:sp>
        <p:nvSpPr>
          <p:cNvPr id="34" name="Bot name 4"/>
          <p:cNvSpPr/>
          <p:nvPr/>
        </p:nvSpPr>
        <p:spPr>
          <a:xfrm>
            <a:off x="594360" y="5303520"/>
            <a:ext cx="204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物件情報</a:t>
            </a:r>
            <a:endParaRPr lang="ja-JP" sz="1600"/>
          </a:p>
        </p:txBody>
      </p:sp>
      <p:sp>
        <p:nvSpPr>
          <p:cNvPr id="35" name="Bot cap 4"/>
          <p:cNvSpPr/>
          <p:nvPr/>
        </p:nvSpPr>
        <p:spPr>
          <a:xfrm>
            <a:off x="594360" y="5870448"/>
            <a:ext cx="204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ボット</a:t>
            </a:r>
            <a:endParaRPr lang="ja-JP" sz="1100"/>
          </a:p>
        </p:txBody>
      </p:sp>
      <p:sp>
        <p:nvSpPr>
          <p:cNvPr id="36" name="Bot tile 5"/>
          <p:cNvSpPr/>
          <p:nvPr/>
        </p:nvSpPr>
        <p:spPr>
          <a:xfrm>
            <a:off x="2819400" y="4114800"/>
            <a:ext cx="2133600" cy="210312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37" name="Bot bar 5"/>
          <p:cNvSpPr/>
          <p:nvPr/>
        </p:nvSpPr>
        <p:spPr>
          <a:xfrm>
            <a:off x="2819400" y="4114800"/>
            <a:ext cx="213360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38" name="Bot icon 5"/>
          <p:cNvSpPr/>
          <p:nvPr/>
        </p:nvSpPr>
        <p:spPr>
          <a:xfrm>
            <a:off x="3566160" y="452628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Bot</a:t>
            </a:r>
            <a:endParaRPr lang="ja-JP" sz="1200"/>
          </a:p>
        </p:txBody>
      </p:sp>
      <p:sp>
        <p:nvSpPr>
          <p:cNvPr id="39" name="Bot name 5"/>
          <p:cNvSpPr/>
          <p:nvPr/>
        </p:nvSpPr>
        <p:spPr>
          <a:xfrm>
            <a:off x="2865120" y="5303520"/>
            <a:ext cx="204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Second Brain</a:t>
            </a:r>
            <a:endParaRPr lang="ja-JP" sz="1600"/>
          </a:p>
        </p:txBody>
      </p:sp>
      <p:sp>
        <p:nvSpPr>
          <p:cNvPr id="40" name="Bot cap 5"/>
          <p:cNvSpPr/>
          <p:nvPr/>
        </p:nvSpPr>
        <p:spPr>
          <a:xfrm>
            <a:off x="2865120" y="5870448"/>
            <a:ext cx="204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ボット</a:t>
            </a:r>
            <a:endParaRPr lang="ja-JP" sz="1100"/>
          </a:p>
        </p:txBody>
      </p:sp>
      <p:sp>
        <p:nvSpPr>
          <p:cNvPr id="41" name="Bot tile 6"/>
          <p:cNvSpPr/>
          <p:nvPr/>
        </p:nvSpPr>
        <p:spPr>
          <a:xfrm>
            <a:off x="5090160" y="4114800"/>
            <a:ext cx="2133600" cy="210312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2" name="Bot bar 6"/>
          <p:cNvSpPr/>
          <p:nvPr/>
        </p:nvSpPr>
        <p:spPr>
          <a:xfrm>
            <a:off x="5090160" y="4114800"/>
            <a:ext cx="213360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43" name="Bot icon 6"/>
          <p:cNvSpPr/>
          <p:nvPr/>
        </p:nvSpPr>
        <p:spPr>
          <a:xfrm>
            <a:off x="5836920" y="452628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Bot</a:t>
            </a:r>
            <a:endParaRPr lang="ja-JP" sz="1200"/>
          </a:p>
        </p:txBody>
      </p:sp>
      <p:sp>
        <p:nvSpPr>
          <p:cNvPr id="44" name="Bot name 6"/>
          <p:cNvSpPr/>
          <p:nvPr/>
        </p:nvSpPr>
        <p:spPr>
          <a:xfrm>
            <a:off x="5135880" y="5303520"/>
            <a:ext cx="204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スライド作成</a:t>
            </a:r>
            <a:endParaRPr lang="ja-JP" sz="1600"/>
          </a:p>
        </p:txBody>
      </p:sp>
      <p:sp>
        <p:nvSpPr>
          <p:cNvPr id="45" name="Bot cap 6"/>
          <p:cNvSpPr/>
          <p:nvPr/>
        </p:nvSpPr>
        <p:spPr>
          <a:xfrm>
            <a:off x="5135880" y="5870448"/>
            <a:ext cx="204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ボット</a:t>
            </a:r>
            <a:endParaRPr lang="ja-JP" sz="1100"/>
          </a:p>
        </p:txBody>
      </p:sp>
      <p:pic>
        <p:nvPicPr>
          <p:cNvPr id="46" name="Photo illust_bot_slides.jpg" descr="スライドを作るボットのイラスト"/>
          <p:cNvPicPr>
            <a:picLocks noChangeAspect="1"/>
          </p:cNvPicPr>
          <p:nvPr/>
        </p:nvPicPr>
        <p:blipFill>
          <a:blip r:embed="rIdG3Slides"/>
          <a:srcRect l="0" t="0" r="0" b="0"/>
          <a:stretch>
            <a:fillRect/>
          </a:stretch>
        </p:blipFill>
        <p:spPr>
          <a:xfrm>
            <a:off x="7498080" y="1874520"/>
            <a:ext cx="4144975" cy="2331549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47" name="Slides box"/>
          <p:cNvSpPr/>
          <p:nvPr/>
        </p:nvSpPr>
        <p:spPr>
          <a:xfrm>
            <a:off x="7498080" y="4388949"/>
            <a:ext cx="4144975" cy="1828971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8" name="Slides lead"/>
          <p:cNvSpPr/>
          <p:nvPr/>
        </p:nvSpPr>
        <p:spPr>
          <a:xfrm>
            <a:off x="7726680" y="4526109"/>
            <a:ext cx="36877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今日のこのスライドも</a:t>
            </a:r>
            <a:endParaRPr lang="ja-JP" sz="1400"/>
          </a:p>
        </p:txBody>
      </p:sp>
      <p:sp>
        <p:nvSpPr>
          <p:cNvPr id="49" name="Slides big"/>
          <p:cNvSpPr/>
          <p:nvPr/>
        </p:nvSpPr>
        <p:spPr>
          <a:xfrm>
            <a:off x="7726680" y="4891869"/>
            <a:ext cx="36877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2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Grok Botに作ってもらった</a:t>
            </a:r>
            <a:endParaRPr lang="ja-JP" sz="2200"/>
          </a:p>
        </p:txBody>
      </p:sp>
      <p:sp>
        <p:nvSpPr>
          <p:cNvPr id="50" name="Slides rule"/>
          <p:cNvSpPr/>
          <p:nvPr/>
        </p:nvSpPr>
        <p:spPr>
          <a:xfrm>
            <a:off x="7726680" y="5531949"/>
            <a:ext cx="3687775" cy="914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51" name="Slides chip 0"/>
          <p:cNvSpPr/>
          <p:nvPr/>
        </p:nvSpPr>
        <p:spPr>
          <a:xfrm>
            <a:off x="7726680" y="5687397"/>
            <a:ext cx="853364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構成</a:t>
            </a:r>
            <a:endParaRPr lang="ja-JP" sz="1200"/>
          </a:p>
        </p:txBody>
      </p:sp>
      <p:sp>
        <p:nvSpPr>
          <p:cNvPr id="52" name="Slides chip 1"/>
          <p:cNvSpPr/>
          <p:nvPr/>
        </p:nvSpPr>
        <p:spPr>
          <a:xfrm>
            <a:off x="8671484" y="5687397"/>
            <a:ext cx="853364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写真集め</a:t>
            </a:r>
            <a:endParaRPr lang="ja-JP" sz="1200"/>
          </a:p>
        </p:txBody>
      </p:sp>
      <p:sp>
        <p:nvSpPr>
          <p:cNvPr id="53" name="Slides chip 2"/>
          <p:cNvSpPr/>
          <p:nvPr/>
        </p:nvSpPr>
        <p:spPr>
          <a:xfrm>
            <a:off x="9616288" y="5687397"/>
            <a:ext cx="853364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イラスト</a:t>
            </a:r>
            <a:endParaRPr lang="ja-JP" sz="1200"/>
          </a:p>
        </p:txBody>
      </p:sp>
      <p:sp>
        <p:nvSpPr>
          <p:cNvPr id="54" name="Slides chip 3"/>
          <p:cNvSpPr/>
          <p:nvPr/>
        </p:nvSpPr>
        <p:spPr>
          <a:xfrm>
            <a:off x="10561091" y="5687397"/>
            <a:ext cx="853364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デザイン</a:t>
            </a:r>
            <a:endParaRPr lang="ja-JP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これからやりたいこと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自動化と低予算運営でサービスを育て、発信も続けていきます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12 / 14</a:t>
            </a:r>
            <a:endParaRPr lang="ja-JP" sz="1000"/>
          </a:p>
        </p:txBody>
      </p:sp>
      <p:pic>
        <p:nvPicPr>
          <p:cNvPr id="11" name="Illust roadmap" descr="ロードマップのイラスト"/>
          <p:cNvPicPr>
            <a:picLocks noChangeAspect="1"/>
          </p:cNvPicPr>
          <p:nvPr/>
        </p:nvPicPr>
        <p:blipFill>
          <a:blip r:embed="rIdG4Img3"/>
          <a:stretch>
            <a:fillRect/>
          </a:stretch>
        </p:blipFill>
        <p:spPr>
          <a:xfrm>
            <a:off x="548640" y="1874520"/>
            <a:ext cx="4206240" cy="236601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12" name="Rail box"/>
          <p:cNvSpPr/>
          <p:nvPr/>
        </p:nvSpPr>
        <p:spPr>
          <a:xfrm>
            <a:off x="548640" y="4469130"/>
            <a:ext cx="4206240" cy="1767078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13" name="Rail line"/>
          <p:cNvSpPr/>
          <p:nvPr/>
        </p:nvSpPr>
        <p:spPr>
          <a:xfrm>
            <a:off x="1097280" y="5154930"/>
            <a:ext cx="3108960" cy="45720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4" name="Rail dot 0"/>
          <p:cNvSpPr/>
          <p:nvPr/>
        </p:nvSpPr>
        <p:spPr>
          <a:xfrm>
            <a:off x="914400" y="4944618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  <a:endParaRPr lang="ja-JP" sz="1400"/>
          </a:p>
        </p:txBody>
      </p:sp>
      <p:sp>
        <p:nvSpPr>
          <p:cNvPr id="15" name="Rail dot 1"/>
          <p:cNvSpPr/>
          <p:nvPr/>
        </p:nvSpPr>
        <p:spPr>
          <a:xfrm>
            <a:off x="1920240" y="4944618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  <a:endParaRPr lang="ja-JP" sz="1400"/>
          </a:p>
        </p:txBody>
      </p:sp>
      <p:sp>
        <p:nvSpPr>
          <p:cNvPr id="16" name="Rail dot 2"/>
          <p:cNvSpPr/>
          <p:nvPr/>
        </p:nvSpPr>
        <p:spPr>
          <a:xfrm>
            <a:off x="2926080" y="4944618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  <a:endParaRPr lang="ja-JP" sz="1400"/>
          </a:p>
        </p:txBody>
      </p:sp>
      <p:sp>
        <p:nvSpPr>
          <p:cNvPr id="17" name="Rail dot 3"/>
          <p:cNvSpPr/>
          <p:nvPr/>
        </p:nvSpPr>
        <p:spPr>
          <a:xfrm>
            <a:off x="3931920" y="4944618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4</a:t>
            </a:r>
            <a:endParaRPr lang="ja-JP" sz="1400"/>
          </a:p>
        </p:txBody>
      </p:sp>
      <p:sp>
        <p:nvSpPr>
          <p:cNvPr id="18" name="Rail cap"/>
          <p:cNvSpPr/>
          <p:nvPr/>
        </p:nvSpPr>
        <p:spPr>
          <a:xfrm>
            <a:off x="548640" y="556641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ひとつずつ、少しずつ</a:t>
            </a:r>
            <a:endParaRPr lang="ja-JP" sz="1400"/>
          </a:p>
        </p:txBody>
      </p:sp>
      <p:sp>
        <p:nvSpPr>
          <p:cNvPr id="19" name="Plan card 01"/>
          <p:cNvSpPr/>
          <p:nvPr/>
        </p:nvSpPr>
        <p:spPr>
          <a:xfrm>
            <a:off x="5029200" y="1874520"/>
            <a:ext cx="31926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</p:sp>
      <p:sp>
        <p:nvSpPr>
          <p:cNvPr id="20" name="Plan bar 01"/>
          <p:cNvSpPr/>
          <p:nvPr/>
        </p:nvSpPr>
        <p:spPr>
          <a:xfrm>
            <a:off x="5029200" y="1874520"/>
            <a:ext cx="3192628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21" name="Plan num 01"/>
          <p:cNvSpPr/>
          <p:nvPr/>
        </p:nvSpPr>
        <p:spPr>
          <a:xfrm>
            <a:off x="5212080" y="205740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01</a:t>
            </a:r>
            <a:endParaRPr lang="ja-JP" sz="2600"/>
          </a:p>
        </p:txBody>
      </p:sp>
      <p:sp>
        <p:nvSpPr>
          <p:cNvPr id="22" name="Plan title 01"/>
          <p:cNvSpPr/>
          <p:nvPr/>
        </p:nvSpPr>
        <p:spPr>
          <a:xfrm>
            <a:off x="5897880" y="2057400"/>
            <a:ext cx="22325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5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方位判定の完全自動化</a:t>
            </a:r>
            <a:endParaRPr lang="ja-JP" sz="1450"/>
          </a:p>
        </p:txBody>
      </p:sp>
      <p:sp>
        <p:nvSpPr>
          <p:cNvPr id="23" name="Plan rule 01"/>
          <p:cNvSpPr/>
          <p:nvPr/>
        </p:nvSpPr>
        <p:spPr>
          <a:xfrm>
            <a:off x="5212080" y="2651760"/>
            <a:ext cx="2826868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4" name="Flow 座標"/>
          <p:cNvSpPr/>
          <p:nvPr/>
        </p:nvSpPr>
        <p:spPr>
          <a:xfrm>
            <a:off x="5212080" y="2788920"/>
            <a:ext cx="777240" cy="4114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座標</a:t>
            </a:r>
            <a:endParaRPr lang="ja-JP" sz="1300"/>
          </a:p>
        </p:txBody>
      </p:sp>
      <p:sp>
        <p:nvSpPr>
          <p:cNvPr id="25" name="Flow arrow 0"/>
          <p:cNvSpPr/>
          <p:nvPr/>
        </p:nvSpPr>
        <p:spPr>
          <a:xfrm>
            <a:off x="6016752" y="2880360"/>
            <a:ext cx="173736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26" name="Flow 方位"/>
          <p:cNvSpPr/>
          <p:nvPr/>
        </p:nvSpPr>
        <p:spPr>
          <a:xfrm>
            <a:off x="6217920" y="2788920"/>
            <a:ext cx="777240" cy="4114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方位</a:t>
            </a:r>
            <a:endParaRPr lang="ja-JP" sz="1300"/>
          </a:p>
        </p:txBody>
      </p:sp>
      <p:sp>
        <p:nvSpPr>
          <p:cNvPr id="27" name="Flow arrow 1"/>
          <p:cNvSpPr/>
          <p:nvPr/>
        </p:nvSpPr>
        <p:spPr>
          <a:xfrm>
            <a:off x="7022592" y="2880360"/>
            <a:ext cx="173736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28" name="Flow 吉凶"/>
          <p:cNvSpPr/>
          <p:nvPr/>
        </p:nvSpPr>
        <p:spPr>
          <a:xfrm>
            <a:off x="7223760" y="2788920"/>
            <a:ext cx="777240" cy="41148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吉凶</a:t>
            </a:r>
            <a:endParaRPr lang="ja-JP" sz="1300"/>
          </a:p>
        </p:txBody>
      </p:sp>
      <p:sp>
        <p:nvSpPr>
          <p:cNvPr id="29" name="Plan body 01"/>
          <p:cNvSpPr/>
          <p:nvPr/>
        </p:nvSpPr>
        <p:spPr>
          <a:xfrm>
            <a:off x="5212080" y="3337560"/>
            <a:ext cx="282686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・判定を手作業なしで回す</a:t>
            </a:r>
            <a:endParaRPr lang="ja-JP" sz="1250"/>
          </a:p>
        </p:txBody>
      </p:sp>
      <p:sp>
        <p:nvSpPr>
          <p:cNvPr id="30" name="Plan card 02"/>
          <p:cNvSpPr/>
          <p:nvPr/>
        </p:nvSpPr>
        <p:spPr>
          <a:xfrm>
            <a:off x="8450428" y="1874520"/>
            <a:ext cx="31926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</p:sp>
      <p:sp>
        <p:nvSpPr>
          <p:cNvPr id="31" name="Plan bar 02"/>
          <p:cNvSpPr/>
          <p:nvPr/>
        </p:nvSpPr>
        <p:spPr>
          <a:xfrm>
            <a:off x="8450428" y="1874520"/>
            <a:ext cx="3192628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2" name="Plan num 02"/>
          <p:cNvSpPr/>
          <p:nvPr/>
        </p:nvSpPr>
        <p:spPr>
          <a:xfrm>
            <a:off x="8633308" y="205740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02</a:t>
            </a:r>
            <a:endParaRPr lang="ja-JP" sz="2600"/>
          </a:p>
        </p:txBody>
      </p:sp>
      <p:sp>
        <p:nvSpPr>
          <p:cNvPr id="33" name="Plan title 02"/>
          <p:cNvSpPr/>
          <p:nvPr/>
        </p:nvSpPr>
        <p:spPr>
          <a:xfrm>
            <a:off x="9319108" y="2057400"/>
            <a:ext cx="22325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5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低予算でサイト運営</a:t>
            </a:r>
            <a:endParaRPr lang="ja-JP" sz="1450"/>
          </a:p>
        </p:txBody>
      </p:sp>
      <p:sp>
        <p:nvSpPr>
          <p:cNvPr id="34" name="Plan rule 02"/>
          <p:cNvSpPr/>
          <p:nvPr/>
        </p:nvSpPr>
        <p:spPr>
          <a:xfrm>
            <a:off x="8633308" y="2651760"/>
            <a:ext cx="2826868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5" name="Plan body 02"/>
          <p:cNvSpPr/>
          <p:nvPr/>
        </p:nvSpPr>
        <p:spPr>
          <a:xfrm>
            <a:off x="8633308" y="2788920"/>
            <a:ext cx="2826868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・月1,000円程度で運営を続ける</a:t>
            </a:r>
            <a:endParaRPr lang="ja-JP" sz="1250"/>
          </a:p>
        </p:txBody>
      </p:sp>
      <p:sp>
        <p:nvSpPr>
          <p:cNvPr id="36" name="Plan card 03"/>
          <p:cNvSpPr/>
          <p:nvPr/>
        </p:nvSpPr>
        <p:spPr>
          <a:xfrm>
            <a:off x="5029200" y="4133088"/>
            <a:ext cx="31926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</p:sp>
      <p:sp>
        <p:nvSpPr>
          <p:cNvPr id="37" name="Plan bar 03"/>
          <p:cNvSpPr/>
          <p:nvPr/>
        </p:nvSpPr>
        <p:spPr>
          <a:xfrm>
            <a:off x="5029200" y="4133088"/>
            <a:ext cx="3192628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8" name="Plan num 03"/>
          <p:cNvSpPr/>
          <p:nvPr/>
        </p:nvSpPr>
        <p:spPr>
          <a:xfrm>
            <a:off x="5212080" y="43159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03</a:t>
            </a:r>
            <a:endParaRPr lang="ja-JP" sz="2600"/>
          </a:p>
        </p:txBody>
      </p:sp>
      <p:sp>
        <p:nvSpPr>
          <p:cNvPr id="39" name="Plan title 03"/>
          <p:cNvSpPr/>
          <p:nvPr/>
        </p:nvSpPr>
        <p:spPr>
          <a:xfrm>
            <a:off x="5897880" y="4315968"/>
            <a:ext cx="22325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5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Cloud Paletteを育てる</a:t>
            </a:r>
            <a:endParaRPr lang="ja-JP" sz="1450"/>
          </a:p>
        </p:txBody>
      </p:sp>
      <p:sp>
        <p:nvSpPr>
          <p:cNvPr id="40" name="Plan rule 03"/>
          <p:cNvSpPr/>
          <p:nvPr/>
        </p:nvSpPr>
        <p:spPr>
          <a:xfrm>
            <a:off x="5212080" y="4910328"/>
            <a:ext cx="2826868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1" name="Plan body 03"/>
          <p:cNvSpPr/>
          <p:nvPr/>
        </p:nvSpPr>
        <p:spPr>
          <a:xfrm>
            <a:off x="5212080" y="5047488"/>
            <a:ext cx="2826868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・SEOを強化する</a:t>
            </a:r>
            <a:endParaRPr lang="ja-JP" sz="1250"/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・ニュースページを充実させる</a:t>
            </a:r>
            <a:endParaRPr lang="ja-JP" sz="1250"/>
          </a:p>
        </p:txBody>
      </p:sp>
      <p:sp>
        <p:nvSpPr>
          <p:cNvPr id="42" name="Plan card 04"/>
          <p:cNvSpPr/>
          <p:nvPr/>
        </p:nvSpPr>
        <p:spPr>
          <a:xfrm>
            <a:off x="8450428" y="4133088"/>
            <a:ext cx="31926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</p:sp>
      <p:sp>
        <p:nvSpPr>
          <p:cNvPr id="43" name="Plan bar 04"/>
          <p:cNvSpPr/>
          <p:nvPr/>
        </p:nvSpPr>
        <p:spPr>
          <a:xfrm>
            <a:off x="8450428" y="4133088"/>
            <a:ext cx="3192628" cy="54864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4" name="Plan num 04"/>
          <p:cNvSpPr/>
          <p:nvPr/>
        </p:nvSpPr>
        <p:spPr>
          <a:xfrm>
            <a:off x="8633308" y="431596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6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04</a:t>
            </a:r>
            <a:endParaRPr lang="ja-JP" sz="2600"/>
          </a:p>
        </p:txBody>
      </p:sp>
      <p:sp>
        <p:nvSpPr>
          <p:cNvPr id="45" name="Plan title 04"/>
          <p:cNvSpPr/>
          <p:nvPr/>
        </p:nvSpPr>
        <p:spPr>
          <a:xfrm>
            <a:off x="9319108" y="4315968"/>
            <a:ext cx="22325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5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Xでの発信を続ける</a:t>
            </a:r>
            <a:endParaRPr lang="ja-JP" sz="1450"/>
          </a:p>
        </p:txBody>
      </p:sp>
      <p:sp>
        <p:nvSpPr>
          <p:cNvPr id="46" name="Plan rule 04"/>
          <p:cNvSpPr/>
          <p:nvPr/>
        </p:nvSpPr>
        <p:spPr>
          <a:xfrm>
            <a:off x="8633308" y="4910328"/>
            <a:ext cx="2826868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7" name="Plan body 04"/>
          <p:cNvSpPr/>
          <p:nvPr/>
        </p:nvSpPr>
        <p:spPr>
          <a:xfrm>
            <a:off x="8633308" y="5047488"/>
            <a:ext cx="2826868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ja-JP" altLang="en-US" sz="12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・発信をコツコツ続ける</a:t>
            </a:r>
            <a:endParaRPr lang="ja-JP" sz="12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di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写真クレジット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この資料で使った写真と画面の出典です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14 / 14</a:t>
            </a:r>
            <a:endParaRPr lang="ja-JP" sz="1000"/>
          </a:p>
        </p:txBody>
      </p:sp>
      <p:sp>
        <p:nvSpPr>
          <p:cNvPr id="11" name="Head スライド"/>
          <p:cNvSpPr/>
          <p:nvPr/>
        </p:nvSpPr>
        <p:spPr>
          <a:xfrm>
            <a:off x="548640" y="1828800"/>
            <a:ext cx="914400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</p:spPr>
        <p:txBody>
          <a:bodyPr wrap="square" lIns="109728" tIns="0" rIns="109728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スライド</a:t>
            </a:r>
            <a:endParaRPr lang="ja-JP" sz="1300"/>
          </a:p>
        </p:txBody>
      </p:sp>
      <p:sp>
        <p:nvSpPr>
          <p:cNvPr id="12" name="Head 写真・画面"/>
          <p:cNvSpPr/>
          <p:nvPr/>
        </p:nvSpPr>
        <p:spPr>
          <a:xfrm>
            <a:off x="1463040" y="1828800"/>
            <a:ext cx="2651760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</p:spPr>
        <p:txBody>
          <a:bodyPr wrap="square" lIns="109728" tIns="0" rIns="109728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写真・画面</a:t>
            </a:r>
            <a:endParaRPr lang="ja-JP" sz="1300"/>
          </a:p>
        </p:txBody>
      </p:sp>
      <p:sp>
        <p:nvSpPr>
          <p:cNvPr id="13" name="Head 作者・提供元"/>
          <p:cNvSpPr/>
          <p:nvPr/>
        </p:nvSpPr>
        <p:spPr>
          <a:xfrm>
            <a:off x="4114800" y="1828800"/>
            <a:ext cx="1828800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</p:spPr>
        <p:txBody>
          <a:bodyPr wrap="square" lIns="109728" tIns="0" rIns="109728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作者・提供元</a:t>
            </a:r>
            <a:endParaRPr lang="ja-JP" sz="1300"/>
          </a:p>
        </p:txBody>
      </p:sp>
      <p:sp>
        <p:nvSpPr>
          <p:cNvPr id="14" name="Head ライセンス"/>
          <p:cNvSpPr/>
          <p:nvPr/>
        </p:nvSpPr>
        <p:spPr>
          <a:xfrm>
            <a:off x="5943600" y="1828800"/>
            <a:ext cx="1600200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</p:spPr>
        <p:txBody>
          <a:bodyPr wrap="square" lIns="109728" tIns="0" rIns="109728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ライセンス</a:t>
            </a:r>
            <a:endParaRPr lang="ja-JP" sz="1300"/>
          </a:p>
        </p:txBody>
      </p:sp>
      <p:sp>
        <p:nvSpPr>
          <p:cNvPr id="15" name="Head 出典URL"/>
          <p:cNvSpPr/>
          <p:nvPr/>
        </p:nvSpPr>
        <p:spPr>
          <a:xfrm>
            <a:off x="7543800" y="1828800"/>
            <a:ext cx="4099255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</p:spPr>
        <p:txBody>
          <a:bodyPr wrap="square" lIns="109728" tIns="0" rIns="109728" bIns="0" anchor="ctr" rtlCol="0">
            <a:noAutofit/>
          </a:bodyPr>
          <a:lstStyle/>
          <a:p>
            <a:pPr algn="l"/>
            <a:r>
              <a:rPr lang="ja-JP" altLang="en-US" sz="13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出典URL</a:t>
            </a:r>
            <a:endParaRPr lang="ja-JP" sz="1300"/>
          </a:p>
        </p:txBody>
      </p:sp>
      <p:sp>
        <p:nvSpPr>
          <p:cNvPr id="16" name="Cell 0-0"/>
          <p:cNvSpPr/>
          <p:nvPr/>
        </p:nvSpPr>
        <p:spPr>
          <a:xfrm>
            <a:off x="548640" y="2240280"/>
            <a:ext cx="9144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300" b="0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4</a:t>
            </a:r>
            <a:endParaRPr lang="ja-JP" sz="1300"/>
          </a:p>
        </p:txBody>
      </p:sp>
      <p:sp>
        <p:nvSpPr>
          <p:cNvPr id="17" name="Cell 0-1"/>
          <p:cNvSpPr/>
          <p:nvPr/>
        </p:nvSpPr>
        <p:spPr>
          <a:xfrm>
            <a:off x="1463040" y="2240280"/>
            <a:ext cx="265176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気比の松原と日本海</a:t>
            </a:r>
            <a:endParaRPr lang="ja-JP" sz="1300"/>
          </a:p>
        </p:txBody>
      </p:sp>
      <p:sp>
        <p:nvSpPr>
          <p:cNvPr id="18" name="Cell 0-2"/>
          <p:cNvSpPr/>
          <p:nvPr/>
        </p:nvSpPr>
        <p:spPr>
          <a:xfrm>
            <a:off x="4114800" y="2240280"/>
            <a:ext cx="18288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敦賀うまいもん</a:t>
            </a:r>
            <a:endParaRPr lang="ja-JP" sz="1300"/>
          </a:p>
        </p:txBody>
      </p:sp>
      <p:sp>
        <p:nvSpPr>
          <p:cNvPr id="19" name="Cell 0-3"/>
          <p:cNvSpPr/>
          <p:nvPr/>
        </p:nvSpPr>
        <p:spPr>
          <a:xfrm>
            <a:off x="5943600" y="2240280"/>
            <a:ext cx="16002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記載なし</a:t>
            </a:r>
            <a:endParaRPr lang="ja-JP" sz="1300"/>
          </a:p>
        </p:txBody>
      </p:sp>
      <p:sp>
        <p:nvSpPr>
          <p:cNvPr id="20" name="Cell 0-4"/>
          <p:cNvSpPr/>
          <p:nvPr/>
        </p:nvSpPr>
        <p:spPr>
          <a:xfrm>
            <a:off x="7543800" y="2240280"/>
            <a:ext cx="4099255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http://tsuruga-umaimon.com/</a:t>
            </a:r>
            <a:endParaRPr lang="ja-JP" sz="950"/>
          </a:p>
        </p:txBody>
      </p:sp>
      <p:sp>
        <p:nvSpPr>
          <p:cNvPr id="21" name="Cell 1-0"/>
          <p:cNvSpPr/>
          <p:nvPr/>
        </p:nvSpPr>
        <p:spPr>
          <a:xfrm>
            <a:off x="548640" y="2862072"/>
            <a:ext cx="914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300" b="0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5</a:t>
            </a:r>
            <a:endParaRPr lang="ja-JP" sz="1300"/>
          </a:p>
        </p:txBody>
      </p:sp>
      <p:sp>
        <p:nvSpPr>
          <p:cNvPr id="22" name="Cell 1-1"/>
          <p:cNvSpPr/>
          <p:nvPr/>
        </p:nvSpPr>
        <p:spPr>
          <a:xfrm>
            <a:off x="1463040" y="2862072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立石岬と日本原電 敦賀発電所</a:t>
            </a:r>
            <a:endParaRPr lang="ja-JP" sz="1300"/>
          </a:p>
        </p:txBody>
      </p:sp>
      <p:sp>
        <p:nvSpPr>
          <p:cNvPr id="23" name="Cell 1-2"/>
          <p:cNvSpPr/>
          <p:nvPr/>
        </p:nvSpPr>
        <p:spPr>
          <a:xfrm>
            <a:off x="4114800" y="286207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Alpsdake</a:t>
            </a:r>
            <a:endParaRPr lang="ja-JP" sz="1300"/>
          </a:p>
        </p:txBody>
      </p:sp>
      <p:sp>
        <p:nvSpPr>
          <p:cNvPr id="24" name="Cell 1-3"/>
          <p:cNvSpPr/>
          <p:nvPr/>
        </p:nvSpPr>
        <p:spPr>
          <a:xfrm>
            <a:off x="5943600" y="2862072"/>
            <a:ext cx="1600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CC BY-SA 4.0</a:t>
            </a:r>
            <a:endParaRPr lang="ja-JP" sz="1300"/>
          </a:p>
        </p:txBody>
      </p:sp>
      <p:sp>
        <p:nvSpPr>
          <p:cNvPr id="25" name="Cell 1-4"/>
          <p:cNvSpPr/>
          <p:nvPr/>
        </p:nvSpPr>
        <p:spPr>
          <a:xfrm>
            <a:off x="7543800" y="2862072"/>
            <a:ext cx="409925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https://commons.wikimedia.org/wiki/File:Tateishi_cape_and_Tsuruga_Nuclear_Power_Plant.jpg</a:t>
            </a:r>
            <a:endParaRPr lang="ja-JP" sz="950"/>
          </a:p>
        </p:txBody>
      </p:sp>
      <p:sp>
        <p:nvSpPr>
          <p:cNvPr id="26" name="Cell 2-0"/>
          <p:cNvSpPr/>
          <p:nvPr/>
        </p:nvSpPr>
        <p:spPr>
          <a:xfrm>
            <a:off x="548640" y="3483864"/>
            <a:ext cx="9144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300" b="0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6</a:t>
            </a:r>
            <a:endParaRPr lang="ja-JP" sz="1300"/>
          </a:p>
        </p:txBody>
      </p:sp>
      <p:sp>
        <p:nvSpPr>
          <p:cNvPr id="27" name="Cell 2-1"/>
          <p:cNvSpPr/>
          <p:nvPr/>
        </p:nvSpPr>
        <p:spPr>
          <a:xfrm>
            <a:off x="1463040" y="3483864"/>
            <a:ext cx="265176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敦賀赤レンガ倉庫</a:t>
            </a:r>
            <a:endParaRPr lang="ja-JP" sz="1300"/>
          </a:p>
        </p:txBody>
      </p:sp>
      <p:sp>
        <p:nvSpPr>
          <p:cNvPr id="28" name="Cell 2-2"/>
          <p:cNvSpPr/>
          <p:nvPr/>
        </p:nvSpPr>
        <p:spPr>
          <a:xfrm>
            <a:off x="4114800" y="3483864"/>
            <a:ext cx="18288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Asturio Cantabrio</a:t>
            </a:r>
            <a:endParaRPr lang="ja-JP" sz="1300"/>
          </a:p>
        </p:txBody>
      </p:sp>
      <p:sp>
        <p:nvSpPr>
          <p:cNvPr id="29" name="Cell 2-3"/>
          <p:cNvSpPr/>
          <p:nvPr/>
        </p:nvSpPr>
        <p:spPr>
          <a:xfrm>
            <a:off x="5943600" y="3483864"/>
            <a:ext cx="16002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CC BY-SA 4.0</a:t>
            </a:r>
            <a:endParaRPr lang="ja-JP" sz="1300"/>
          </a:p>
        </p:txBody>
      </p:sp>
      <p:sp>
        <p:nvSpPr>
          <p:cNvPr id="30" name="Cell 2-4"/>
          <p:cNvSpPr/>
          <p:nvPr/>
        </p:nvSpPr>
        <p:spPr>
          <a:xfrm>
            <a:off x="7543800" y="3483864"/>
            <a:ext cx="4099255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https://commons.wikimedia.org/wiki/File:Tsuruga_Red_Brick_Warehouce_ac_(1).jpg</a:t>
            </a:r>
            <a:endParaRPr lang="ja-JP" sz="950"/>
          </a:p>
        </p:txBody>
      </p:sp>
      <p:sp>
        <p:nvSpPr>
          <p:cNvPr id="31" name="Cell 3-0"/>
          <p:cNvSpPr/>
          <p:nvPr/>
        </p:nvSpPr>
        <p:spPr>
          <a:xfrm>
            <a:off x="548640" y="4105656"/>
            <a:ext cx="914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300" b="0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6</a:t>
            </a:r>
            <a:endParaRPr lang="ja-JP" sz="1300"/>
          </a:p>
        </p:txBody>
      </p:sp>
      <p:sp>
        <p:nvSpPr>
          <p:cNvPr id="32" name="Cell 3-1"/>
          <p:cNvSpPr/>
          <p:nvPr/>
        </p:nvSpPr>
        <p:spPr>
          <a:xfrm>
            <a:off x="1463040" y="4105656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敦賀駅 北陸新幹線ホーム</a:t>
            </a:r>
            <a:endParaRPr lang="ja-JP" sz="1300"/>
          </a:p>
        </p:txBody>
      </p:sp>
      <p:sp>
        <p:nvSpPr>
          <p:cNvPr id="33" name="Cell 3-2"/>
          <p:cNvSpPr/>
          <p:nvPr/>
        </p:nvSpPr>
        <p:spPr>
          <a:xfrm>
            <a:off x="4114800" y="4105656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Suikotei</a:t>
            </a:r>
            <a:endParaRPr lang="ja-JP" sz="1300"/>
          </a:p>
        </p:txBody>
      </p:sp>
      <p:sp>
        <p:nvSpPr>
          <p:cNvPr id="34" name="Cell 3-3"/>
          <p:cNvSpPr/>
          <p:nvPr/>
        </p:nvSpPr>
        <p:spPr>
          <a:xfrm>
            <a:off x="5943600" y="4105656"/>
            <a:ext cx="1600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CC BY 4.0</a:t>
            </a:r>
            <a:endParaRPr lang="ja-JP" sz="1300"/>
          </a:p>
        </p:txBody>
      </p:sp>
      <p:sp>
        <p:nvSpPr>
          <p:cNvPr id="35" name="Cell 3-4"/>
          <p:cNvSpPr/>
          <p:nvPr/>
        </p:nvSpPr>
        <p:spPr>
          <a:xfrm>
            <a:off x="7543800" y="4105656"/>
            <a:ext cx="409925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https://commons.wikimedia.org/wiki/File:Tsuruga_Station_Hokuriku_Shinkansen_Platform_01.jpg</a:t>
            </a:r>
            <a:endParaRPr lang="ja-JP" sz="950"/>
          </a:p>
        </p:txBody>
      </p:sp>
      <p:sp>
        <p:nvSpPr>
          <p:cNvPr id="36" name="Cell 4-0"/>
          <p:cNvSpPr/>
          <p:nvPr/>
        </p:nvSpPr>
        <p:spPr>
          <a:xfrm>
            <a:off x="548640" y="4727448"/>
            <a:ext cx="9144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300" b="0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10</a:t>
            </a:r>
            <a:endParaRPr lang="ja-JP" sz="1300"/>
          </a:p>
        </p:txBody>
      </p:sp>
      <p:sp>
        <p:nvSpPr>
          <p:cNvPr id="37" name="Cell 4-1"/>
          <p:cNvSpPr/>
          <p:nvPr/>
        </p:nvSpPr>
        <p:spPr>
          <a:xfrm>
            <a:off x="1463040" y="4727448"/>
            <a:ext cx="265176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Cloud Palette の画面</a:t>
            </a:r>
            <a:endParaRPr lang="ja-JP" sz="1300"/>
          </a:p>
        </p:txBody>
      </p:sp>
      <p:sp>
        <p:nvSpPr>
          <p:cNvPr id="38" name="Cell 4-2"/>
          <p:cNvSpPr/>
          <p:nvPr/>
        </p:nvSpPr>
        <p:spPr>
          <a:xfrm>
            <a:off x="4114800" y="4727448"/>
            <a:ext cx="18288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自作サイト</a:t>
            </a:r>
            <a:endParaRPr lang="ja-JP" sz="1300"/>
          </a:p>
        </p:txBody>
      </p:sp>
      <p:sp>
        <p:nvSpPr>
          <p:cNvPr id="39" name="Cell 4-3"/>
          <p:cNvSpPr/>
          <p:nvPr/>
        </p:nvSpPr>
        <p:spPr>
          <a:xfrm>
            <a:off x="5943600" y="4727448"/>
            <a:ext cx="1600200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130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—</a:t>
            </a:r>
            <a:endParaRPr lang="ja-JP" sz="1300"/>
          </a:p>
        </p:txBody>
      </p:sp>
      <p:sp>
        <p:nvSpPr>
          <p:cNvPr id="40" name="Cell 4-4"/>
          <p:cNvSpPr/>
          <p:nvPr/>
        </p:nvSpPr>
        <p:spPr>
          <a:xfrm>
            <a:off x="7543800" y="4727448"/>
            <a:ext cx="4099255" cy="621792"/>
          </a:xfrm>
          <a:prstGeom prst="rect">
            <a:avLst/>
          </a:prstGeom>
          <a:solidFill>
            <a:srgbClr val="F3F5F8"/>
          </a:solidFill>
          <a:ln w="12700">
            <a:solidFill>
              <a:srgbClr val="D0D7E2"/>
            </a:solidFill>
          </a:ln>
        </p:spPr>
        <p:txBody>
          <a:bodyPr wrap="square" lIns="109728" tIns="36576" rIns="109728" bIns="36576" anchor="ctr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altLang="en-US" sz="950" b="0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https://cloud-palette.com/</a:t>
            </a:r>
            <a:endParaRPr lang="ja-JP" sz="950"/>
          </a:p>
        </p:txBody>
      </p:sp>
      <p:sp>
        <p:nvSpPr>
          <p:cNvPr id="41" name="Credit note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※ Wikimedia Commons の写真は、各ライセンス（CC BY / CC BY-SA）の条件に従って使用しています。</a:t>
            </a:r>
            <a:endParaRPr lang="ja-JP" sz="1100"/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※ スライド4の写真は敦賀うまいもん（tsuruga-umaimon.com）のものです。出典元にライセンスの記載はありません。</a:t>
            </a:r>
            <a:endParaRPr lang="ja-JP" sz="1100"/>
          </a:p>
          <a:p>
            <a:pPr algn="l">
              <a:lnSpc>
                <a:spcPct val="100000"/>
              </a:lnSpc>
            </a:pPr>
            <a:r>
              <a:rPr lang="ja-JP" altLang="en-US" sz="11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※ イラスト：AIで生成</a:t>
            </a:r>
            <a:endParaRPr lang="ja-JP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k B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28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②  </a:t>
            </a:r>
            <a:r>
              <a:rPr lang="ja-JP" altLang="en-US" sz="28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Grok Botってなに？</a:t>
            </a:r>
            <a:endParaRPr lang="ja-JP" sz="2800"/>
          </a:p>
        </p:txBody>
      </p:sp>
      <p:sp>
        <p:nvSpPr>
          <p:cNvPr id="5" name="Accent line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6" name="Key bar"/>
          <p:cNvSpPr/>
          <p:nvPr/>
        </p:nvSpPr>
        <p:spPr>
          <a:xfrm>
            <a:off x="548640" y="1115568"/>
            <a:ext cx="73152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7" name="Key message"/>
          <p:cNvSpPr/>
          <p:nvPr/>
        </p:nvSpPr>
        <p:spPr>
          <a:xfrm>
            <a:off x="731520" y="1069848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チャットで頼むと、調べ物・資料づくり・定期チェックなどを代わりにやってくれるAIアシスタント</a:t>
            </a:r>
            <a:endParaRPr lang="ja-JP" sz="1800"/>
          </a:p>
        </p:txBody>
      </p:sp>
      <p:sp>
        <p:nvSpPr>
          <p:cNvPr id="8" name="Footer rule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" name="Footer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石橋 真｜最近のあれこれ</a:t>
            </a:r>
            <a:endParaRPr lang="ja-JP" sz="1000"/>
          </a:p>
        </p:txBody>
      </p:sp>
      <p:sp>
        <p:nvSpPr>
          <p:cNvPr id="10" name="Page number"/>
          <p:cNvSpPr/>
          <p:nvPr/>
        </p:nvSpPr>
        <p:spPr>
          <a:xfrm>
            <a:off x="9814255" y="6400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ja-JP" altLang="en-US" sz="1000" b="0" dirty="0">
                <a:solidFill>
                  <a:srgbClr val="666666"/>
                </a:solidFill>
                <a:latin typeface="BIZ UDPGothic"/>
                <a:ea typeface="BIZ UDPGothic"/>
                <a:cs typeface="BIZ UDPGothic"/>
              </a:rPr>
              <a:t>7 / 14</a:t>
            </a:r>
            <a:endParaRPr lang="ja-JP" sz="1000"/>
          </a:p>
        </p:txBody>
      </p:sp>
      <p:sp>
        <p:nvSpPr>
          <p:cNvPr id="11" name="Can head"/>
          <p:cNvSpPr/>
          <p:nvPr/>
        </p:nvSpPr>
        <p:spPr>
          <a:xfrm>
            <a:off x="548640" y="187452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頼めること（たとえば）</a:t>
            </a:r>
            <a:endParaRPr lang="ja-JP" sz="1400"/>
          </a:p>
        </p:txBody>
      </p:sp>
      <p:sp>
        <p:nvSpPr>
          <p:cNvPr id="12" name="Can tile 0"/>
          <p:cNvSpPr/>
          <p:nvPr/>
        </p:nvSpPr>
        <p:spPr>
          <a:xfrm>
            <a:off x="548640" y="2286000"/>
            <a:ext cx="173736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3" name="Can bar 0"/>
          <p:cNvSpPr/>
          <p:nvPr/>
        </p:nvSpPr>
        <p:spPr>
          <a:xfrm>
            <a:off x="548640" y="2286000"/>
            <a:ext cx="173736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4" name="Can text 0"/>
          <p:cNvSpPr/>
          <p:nvPr/>
        </p:nvSpPr>
        <p:spPr>
          <a:xfrm>
            <a:off x="548640" y="2340864"/>
            <a:ext cx="1737360" cy="950976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20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調べ物</a:t>
            </a:r>
            <a:endParaRPr lang="ja-JP" sz="2000"/>
          </a:p>
        </p:txBody>
      </p:sp>
      <p:sp>
        <p:nvSpPr>
          <p:cNvPr id="15" name="Can tile 1"/>
          <p:cNvSpPr/>
          <p:nvPr/>
        </p:nvSpPr>
        <p:spPr>
          <a:xfrm>
            <a:off x="2423160" y="2286000"/>
            <a:ext cx="173736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6" name="Can bar 1"/>
          <p:cNvSpPr/>
          <p:nvPr/>
        </p:nvSpPr>
        <p:spPr>
          <a:xfrm>
            <a:off x="2423160" y="2286000"/>
            <a:ext cx="173736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17" name="Can text 1"/>
          <p:cNvSpPr/>
          <p:nvPr/>
        </p:nvSpPr>
        <p:spPr>
          <a:xfrm>
            <a:off x="2423160" y="2340864"/>
            <a:ext cx="1737360" cy="950976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20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資料づくり</a:t>
            </a:r>
            <a:endParaRPr lang="ja-JP" sz="2000"/>
          </a:p>
        </p:txBody>
      </p:sp>
      <p:sp>
        <p:nvSpPr>
          <p:cNvPr id="18" name="Can tile 2"/>
          <p:cNvSpPr/>
          <p:nvPr/>
        </p:nvSpPr>
        <p:spPr>
          <a:xfrm>
            <a:off x="4297680" y="2286000"/>
            <a:ext cx="1737360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19" name="Can bar 2"/>
          <p:cNvSpPr/>
          <p:nvPr/>
        </p:nvSpPr>
        <p:spPr>
          <a:xfrm>
            <a:off x="4297680" y="2286000"/>
            <a:ext cx="173736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0" name="Can text 2"/>
          <p:cNvSpPr/>
          <p:nvPr/>
        </p:nvSpPr>
        <p:spPr>
          <a:xfrm>
            <a:off x="4297680" y="2340864"/>
            <a:ext cx="1737360" cy="950976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/>
            <a:r>
              <a:rPr lang="ja-JP" altLang="en-US" sz="20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定期チェック</a:t>
            </a:r>
            <a:endParaRPr lang="ja-JP" sz="2000"/>
          </a:p>
        </p:txBody>
      </p:sp>
      <p:sp>
        <p:nvSpPr>
          <p:cNvPr id="21" name="Feat head"/>
          <p:cNvSpPr/>
          <p:nvPr/>
        </p:nvSpPr>
        <p:spPr>
          <a:xfrm>
            <a:off x="548640" y="352044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ここがポイント</a:t>
            </a:r>
            <a:endParaRPr lang="ja-JP" sz="1400"/>
          </a:p>
        </p:txBody>
      </p:sp>
      <p:sp>
        <p:nvSpPr>
          <p:cNvPr id="22" name="Feat box 0"/>
          <p:cNvSpPr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3" name="Feat bar 0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4" name="Feat text 0"/>
          <p:cNvSpPr/>
          <p:nvPr/>
        </p:nvSpPr>
        <p:spPr>
          <a:xfrm>
            <a:off x="777240" y="393192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チャットで頼むだけで、作業を進めてくれる</a:t>
            </a:r>
            <a:endParaRPr lang="ja-JP" sz="1500"/>
          </a:p>
        </p:txBody>
      </p:sp>
      <p:sp>
        <p:nvSpPr>
          <p:cNvPr id="25" name="Feat box 1"/>
          <p:cNvSpPr/>
          <p:nvPr/>
        </p:nvSpPr>
        <p:spPr>
          <a:xfrm>
            <a:off x="548640" y="4681728"/>
            <a:ext cx="5486400" cy="64008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6" name="Feat bar 1"/>
          <p:cNvSpPr/>
          <p:nvPr/>
        </p:nvSpPr>
        <p:spPr>
          <a:xfrm>
            <a:off x="548640" y="4681728"/>
            <a:ext cx="54864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27" name="Feat text 1"/>
          <p:cNvSpPr/>
          <p:nvPr/>
        </p:nvSpPr>
        <p:spPr>
          <a:xfrm>
            <a:off x="777240" y="4681728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自分専用のコンピューターとブラウザを持っている</a:t>
            </a:r>
            <a:endParaRPr lang="ja-JP" sz="1500"/>
          </a:p>
        </p:txBody>
      </p:sp>
      <p:sp>
        <p:nvSpPr>
          <p:cNvPr id="28" name="Feat box 2"/>
          <p:cNvSpPr/>
          <p:nvPr/>
        </p:nvSpPr>
        <p:spPr>
          <a:xfrm>
            <a:off x="548640" y="5431536"/>
            <a:ext cx="5486400" cy="64008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29" name="Feat bar 2"/>
          <p:cNvSpPr/>
          <p:nvPr/>
        </p:nvSpPr>
        <p:spPr>
          <a:xfrm>
            <a:off x="548640" y="5431536"/>
            <a:ext cx="54864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30" name="Feat text 2"/>
          <p:cNvSpPr/>
          <p:nvPr/>
        </p:nvSpPr>
        <p:spPr>
          <a:xfrm>
            <a:off x="777240" y="5431536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500" b="1" dirty="0">
                <a:solidFill>
                  <a:srgbClr val="222222"/>
                </a:solidFill>
                <a:latin typeface="BIZ UDPGothic"/>
                <a:ea typeface="BIZ UDPGothic"/>
                <a:cs typeface="BIZ UDPGothic"/>
              </a:rPr>
              <a:t>GmailやGitHubなどともつながる</a:t>
            </a:r>
            <a:endParaRPr lang="ja-JP" sz="1500"/>
          </a:p>
        </p:txBody>
      </p:sp>
      <p:pic>
        <p:nvPicPr>
          <p:cNvPr id="31" name="Photo illust_grokbot.jpg" descr="Grok Botのイラスト"/>
          <p:cNvPicPr>
            <a:picLocks noChangeAspect="1"/>
          </p:cNvPicPr>
          <p:nvPr/>
        </p:nvPicPr>
        <p:blipFill>
          <a:blip r:embed="rIdG3Bot"/>
          <a:srcRect l="0" t="0" r="0" b="0"/>
          <a:stretch>
            <a:fillRect/>
          </a:stretch>
        </p:blipFill>
        <p:spPr>
          <a:xfrm>
            <a:off x="6309360" y="1874520"/>
            <a:ext cx="5333695" cy="3000204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32" name="KPI box"/>
          <p:cNvSpPr/>
          <p:nvPr/>
        </p:nvSpPr>
        <p:spPr>
          <a:xfrm>
            <a:off x="6309360" y="5057604"/>
            <a:ext cx="5333695" cy="1123740"/>
          </a:xfrm>
          <a:prstGeom prst="rect">
            <a:avLst/>
          </a:prstGeom>
          <a:solidFill>
            <a:srgbClr val="F3F5F8"/>
          </a:solidFill>
          <a:ln>
            <a:noFill/>
          </a:ln>
        </p:spPr>
      </p:sp>
      <p:sp>
        <p:nvSpPr>
          <p:cNvPr id="33" name="KPI bar"/>
          <p:cNvSpPr/>
          <p:nvPr/>
        </p:nvSpPr>
        <p:spPr>
          <a:xfrm>
            <a:off x="6309360" y="5057604"/>
            <a:ext cx="73152" cy="112374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34" name="KPI num"/>
          <p:cNvSpPr/>
          <p:nvPr/>
        </p:nvSpPr>
        <p:spPr>
          <a:xfrm>
            <a:off x="6583680" y="5057604"/>
            <a:ext cx="2926080" cy="1123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3000" b="1" dirty="0">
                <a:solidFill>
                  <a:srgbClr val="F28C28"/>
                </a:solidFill>
                <a:latin typeface="BIZ UDPGothic"/>
                <a:ea typeface="BIZ UDPGothic"/>
                <a:cs typeface="BIZ UDPGothic"/>
              </a:rPr>
              <a:t>2026年9月</a:t>
            </a:r>
            <a:endParaRPr lang="ja-JP" sz="3000"/>
          </a:p>
        </p:txBody>
      </p:sp>
      <p:sp>
        <p:nvSpPr>
          <p:cNvPr id="35" name="KPI label"/>
          <p:cNvSpPr/>
          <p:nvPr/>
        </p:nvSpPr>
        <p:spPr>
          <a:xfrm>
            <a:off x="9509760" y="5057604"/>
            <a:ext cx="2041855" cy="1123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600" b="1" dirty="0">
                <a:solidFill>
                  <a:srgbClr val="1F3A5F"/>
                </a:solidFill>
                <a:latin typeface="BIZ UDPGothic"/>
                <a:ea typeface="BIZ UDPGothic"/>
                <a:cs typeface="BIZ UDPGothic"/>
              </a:rPr>
              <a:t>から使い始めました</a:t>
            </a:r>
            <a:endParaRPr lang="ja-JP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A5F"/>
      </a:dk2>
      <a:lt2>
        <a:srgbClr val="E7E6E6"/>
      </a:lt2>
      <a:accent1>
        <a:srgbClr val="1F3A5F"/>
      </a:accent1>
      <a:accent2>
        <a:srgbClr val="F28C28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最近のあれこれ</dc:title>
  <dc:subject>最近のあれこれ</dc:subject>
  <dc:creator>石橋 真</dc:creator>
  <cp:lastModifiedBy>石橋 真</cp:lastModifiedBy>
  <cp:revision>1</cp:revision>
  <dcterms:created xsi:type="dcterms:W3CDTF">2026-10-12T19:55:00Z</dcterms:created>
  <dcterms:modified xsi:type="dcterms:W3CDTF">2026-10-12T19:55:00Z</dcterms:modified>
</cp:coreProperties>
</file>